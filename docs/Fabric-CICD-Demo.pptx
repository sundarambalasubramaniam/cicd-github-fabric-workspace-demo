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customer name on screen. Set the tone:
"Good morning AHSA team — thanks for the time. Over the next hour we are going to walk through how AHSA can ship changes to Microsoft Fabric the same way you ship code: through GitHub pull requests, with reviews and approvals."
Frame the story: today AHSA's analytics work probably lives in workspace UIs, with limited review and limited rollback. By the end of this session, you will have seen exactly what 'CI/CD for Fabric' looks like for AHSA — a change that starts as a notebook edit, gets reviewed in a PR, auto-deploys to Test, and promotes to Prod with a manual approval the other engineer signs off.
Audience check: this is built for AHSA's 2-engineer data team — small enough that 4-eyes review really matters, large enough that workspace collisions hurt.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AHSA story directly. Four reasons this matters here:
1. No drift — today, anyone with access to AHSA's Fabric workspaces can change Test or Prod directly. After this, higher environments only change through a reviewed PR. The workspace stops being a place where 'someone fixed it last Tuesday and we don't know what'.
2. 4-eyes review — AHSA has 2 engineers. The risk of one person shipping a bad change without a second pair of eyes is real. Branch protection + CODEOWNERS forces the other AHSA engineer to review every change.
3. No secrets — GitHub OIDC + an Entra federated credential. There is literally no client secret stored anywhere in AHSA's repo. If the repo leaks tomorrow, no credential leaks.
4. Reversible — every change is a Git commit. Rolling back AHSA's Prod is just 'git revert' — the pipeline re-runs and restores the previous state. No midnight click-ops.
Frame this as: 'we are bringing the same software-engineering hygiene AHSA already uses for application code to your data and analytics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AHSA target state. Three workspaces, one capacity. The key insight is the middle column — only Dev is Git-connected.
ahsa-fabric-dev is where AHSA engineers work. They edit notebooks and pipelines in the Fabric UI, and the workspace itself commits those changes to the dev branch. So 'save in Fabric' = 'commit to AHSA's GitHub'.
ahsa-fabric-test and ahsa-fabric-prod are NOT Git-connected. They are updated by code — a GitHub Actions workflow that runs the fabric-cicd library. This is deliberate: if Test or Prod were Git-connected too, anyone at AHSA could 'Update from Git' and bypass the review gate. Code-deployed environments cannot be changed except through a merged PR.
Auth: a single AHSA Service Principal acts as Workspace Admin on Test and Prod. GitHub Actions assumes that SP via OIDC. No secrets stored.
Capacity: all three AHSA workspaces share one F-SKU capacity to keep cost predictable.
This is the recommended Fabric pattern, not something we invented for AHSA — we are aligning AHSA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left to right — it is the path every AHSA change takes, from idea to Prod.
feature/* → the AHSA engineer's working branch. Optionally tied to a private dev workspace.
dev → the merge target for features. Backed by ahsa-fabric-dev. PR review gate #1 — the other AHSA engineer signs off.
test → merging dev → test triggers the Test deployment workflow into ahsa-fabric-test. Automatic, no human approval needed because it is non-prod.
main → merging test → main triggers the Prod deployment workflow into ahsa-fabric-prod, which pauses for a manual approval from the OTHER AHSA engineer (4-eyes).
Branches are gated by branch protection rules; merges require passing checks and a CODEOWNERS review. Nothing skips the pipeline.
Key phrase to drop: 'for AHSA, the branch is the source of truth for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that should reassure AHSA's security team. There are no client secrets anywhere in this system.
How it works in three steps:
1. When an AHSA workflow runs, GitHub mints a short-lived OIDC token that describes exactly which repo, branch, and environment is running.
2. AHSA's Entra tenant is configured to TRUST tokens that match a specific 'subject' — for example, 'a workflow running in the AHSA repo, in the prod environment'. That trust is the federated credential.
3. If the subject matches, Entra issues an Azure access token for sp-ahsa-fabric-cicd. That SP is Workspace Admin on AHSA's Test and Prod workspaces, so the workflow can call Fabric APIs.
On the right are the three federated subjects we configure for AHSA — one per branch/environment. The only things stored in AHSA's GitHub are non-secret variables: tenant id, client id, capacity id, workspace ids.
If someone clones AHSA's repo tomorrow, they get nothing usable. That is the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tour of what is in AHSA's repo so the demo flow makes sense.
workspace/ — every Fabric item (notebooks, pipelines, lakehouses, semantic models, reports) is a folder. This is the format Fabric Git integration produces. AHSA does not author this layout by hand.
workspace/parameter.yml — the most important file for AHSA. It says 'in Test, this connection id is X; in Prod, it is Y'. fabric-cicd reads it and rebinds environment-specific values during deployment. This is how one branch deploys cleanly to all of AHSA's environments.
.github/workflows/ — three pipelines: pr-validate (runs on every AHSA PR), deploy-test (runs on merge to test), deploy-prod (runs on merge to main, with approval).
CODEOWNERS — one line that says 'the other AHSA engineer must review'. Tiny file, huge effect.
deploy.py — a thin wrapper around fabric_cicd. The important flag is unpublish_orphaned_items=True, which deletes items from the target workspace if AHSA deleted them in Git. Without that, AHSA's environments slowly accumulate ghosts.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we will spend the next 55 minutes with AHSA. Time-box each phase — it is easy to overrun on the inner loops.
Phase 0–1: orientation. Show AHSA's existing setup so people see this is real, not slideware.
Phase 2–3: the inner loop. Two approaches because team-size matters. Approach A is shared Dev; Approach B is per-developer workspace. We will show AHSA both so the team can pick.
Phase 4–5: the headline moment for AHSA. Merge a PR, watch GitHub Actions deploy to Test, then watch the Prod approval gate the other engineer must clear.
Phase 6: the part most demos skip. Show what happens when AHSA breaks something, and how to recover. Engineers care about this more than the happy path.
Phase 7: 12-item checklist for AHSA to take away. That is the slide they will photograph.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ways AHSA can organize the Dev workspace, and the right answer depends on team activity.
Approach A — shared Dev workspace: both AHSA engineers work in the same ahsa-fabric-dev. They use feature branches in Git, but they share the workspace UI. Cheaper and simpler. The risk: if both edit the same notebook at the same time, the second 'Update from Git' will conflict.
Approach B — per-developer workspace: each AHSA engineer gets their own workspace, Git-connected to their own feature branch. No collisions. But AHSA pays for extra workspaces, and you need automation to spin them up.
Recommendation for AHSA today: start with A while only one engineer is actively building. Switch to B the first time you hit a painful conflict — that signal is unmistakable.
Important: this choice is purely about the inner loop. AHSA's Test and Prod look identical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actually happens when AHSA merges a PR.
Dev → Test: the deploy-test workflow starts. It exchanges a GitHub OIDC token for an Azure token, then calls fabric-cicd. fabric-cicd walks workspace/, applies parameter.yml rebinds for AHSA's Test environment, and publishes every item to ahsa-fabric-test. Anything AHSA deleted from Git is also deleted in the workspace (orphan cleanup). Finally a smoke test runs the Sales notebook to confirm Test is healthy. No human in the loop.
Test → Prod: same workflow, but the job is bound to the GitHub 'prod' Environment, which has a required reviewer. The pipeline pauses; the OTHER AHSA engineer (not the one who opened the PR) approves; then it runs. After success it tags the commit so AHSA has a release marker.
That manual approval is AHSA's 4-eyes gate. It is the only thing standing between a merged PR and Prod, and it cannot be bypassed without admin intervention.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scenarios for AHSA — both should feel boring, which is the whole point.
A — Prevention: an AHSA engineer pushes a broken notebook. pr-validate runs on the PR, fails, and branch protection blocks the merge. The bad change never leaves the feature branch. The cost of an AHSA mistake is a red check, not a Prod incident.
B — Recovery: a bad change DID make it to AHSA's Prod. To roll back, AHSA does not click anything in Fabric. The engineer reverts the merge commit on main with 'git revert', pushes, and the same deploy-prod workflow runs again — with the previous state — and restores ahsa-fabric-prod. Approval gate still applies, audit trail is preserved.
The caveat is honest and important for AHSA: code rolls back cleanly, data does not. If AHSA's change ran a destructive migration, reverting the code restores the schema definition but not the data. For those cases AHSA writes a forward-fix migration. We will not promise more than the tool delivers.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photo slide for AHSA. Pause here.
If AHSA takes ONE thing away from today, it is the 12 items on this list. They are the difference between 'AHSA uses Git for Fabric' and 'AHSA has actual CI/CD for Fabric'.
Top half is the architecture pattern: only Dev is Git-connected, trunk-based branching, branch protection + CODEOWNERS + Environments, OIDC and no secrets, SP as Workspace Admin.
Bottom half is the operational hygiene AHSA should adopt: parameterize per env, prevent drift with orphan cleanup, keep code in Git but not data, pin and update fabric-cicd, smoke test after every deploy, and rollback by reverting the merge.
Walk through them in 60 seconds, then move to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Q&amp;A with AHSA. Be ready for these:
Q: Why not Git-connect AHSA's Test and Prod too? — Because that bypasses the review gate. Higher environments must only change via merged PRs.
Q: Why not the built-in Fabric deployment pipelines? — They are click-ops. No PR review, no branch protection, no required approvers, no audit trail AHSA can query in GitHub.
Q: How does AHSA handle long-running data migrations? — Out of scope for this tool. Use versioned pipeline activities for data; use this for code and schema definitions.
Q: What about secrets in connections? — Fabric stores them. AHSA only rebinds connection IDs via parameter.yml. No secret material lives in Git.
Q: Item types not fully supported (Eventhouse/KQL, Dataflow Gen2)? — Check the fabric-cicd support matrix at demo time. The pattern still works for AHSA; coverage keeps expanding.
Close with: 'AHSA, the next step is a 1-week pilot — we wire one of your existing workspaces into this pattern and you keep working as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0"/>
            <a:ext cx="12161520" cy="548640"/>
          </a:xfrm>
          <a:prstGeom prst="rect">
            <a:avLst/>
          </a:prstGeom>
          <a:solidFill>
            <a:srgbClr val="065A82"/>
          </a:solidFill>
          <a:ln w="12700">
            <a:solidFill>
              <a:srgbClr val="065A82"/>
            </a:solidFill>
            <a:prstDash val="solid"/>
          </a:ln>
        </p:spPr>
      </p:sp>
      <p:sp>
        <p:nvSpPr>
          <p:cNvPr id="3" name="Shape 1"/>
          <p:cNvSpPr/>
          <p:nvPr/>
        </p:nvSpPr>
        <p:spPr>
          <a:xfrm>
            <a:off x="0" y="6309360"/>
            <a:ext cx="12161520" cy="548640"/>
          </a:xfrm>
          <a:prstGeom prst="rect">
            <a:avLst/>
          </a:prstGeom>
          <a:solidFill>
            <a:srgbClr val="065A82"/>
          </a:solidFill>
          <a:ln w="12700">
            <a:solidFill>
              <a:srgbClr val="065A82"/>
            </a:solidFill>
            <a:prstDash val="solid"/>
          </a:ln>
        </p:spPr>
      </p:sp>
      <p:sp>
        <p:nvSpPr>
          <p:cNvPr id="4" name="Shape 2"/>
          <p:cNvSpPr/>
          <p:nvPr/>
        </p:nvSpPr>
        <p:spPr>
          <a:xfrm>
            <a:off x="548640" y="2743200"/>
            <a:ext cx="1371600" cy="73152"/>
          </a:xfrm>
          <a:prstGeom prst="rect">
            <a:avLst/>
          </a:prstGeom>
          <a:solidFill>
            <a:srgbClr val="F2A341"/>
          </a:solidFill>
          <a:ln w="12700">
            <a:solidFill>
              <a:srgbClr val="F2A341"/>
            </a:solidFill>
            <a:prstDash val="solid"/>
          </a:ln>
        </p:spPr>
      </p:sp>
      <p:sp>
        <p:nvSpPr>
          <p:cNvPr id="5" name="Text 3"/>
          <p:cNvSpPr/>
          <p:nvPr/>
        </p:nvSpPr>
        <p:spPr>
          <a:xfrm>
            <a:off x="548640" y="2011680"/>
            <a:ext cx="10972800" cy="548640"/>
          </a:xfrm>
          <a:prstGeom prst="rect">
            <a:avLst/>
          </a:prstGeom>
          <a:noFill/>
          <a:ln/>
        </p:spPr>
        <p:txBody>
          <a:bodyPr wrap="square" rtlCol="0" anchor="ctr"/>
          <a:lstStyle/>
          <a:p>
            <a:pPr indent="0" marL="0">
              <a:buNone/>
            </a:pPr>
            <a:r>
              <a:rPr lang="en-US" sz="1600" b="1" spc="600" kern="0" dirty="0">
                <a:solidFill>
                  <a:srgbClr val="F2A341"/>
                </a:solidFill>
                <a:latin typeface="Segoe UI" pitchFamily="34" charset="0"/>
                <a:ea typeface="Segoe UI" pitchFamily="34" charset="-122"/>
                <a:cs typeface="Segoe UI" pitchFamily="34" charset="-120"/>
              </a:rPr>
              <a:t>PREPARED FOR  ·  AHSA ENGINEERING</a:t>
            </a:r>
            <a:endParaRPr lang="en-US" sz="1600" dirty="0"/>
          </a:p>
        </p:txBody>
      </p:sp>
      <p:sp>
        <p:nvSpPr>
          <p:cNvPr id="6" name="Text 4"/>
          <p:cNvSpPr/>
          <p:nvPr/>
        </p:nvSpPr>
        <p:spPr>
          <a:xfrm>
            <a:off x="548640" y="2926080"/>
            <a:ext cx="10972800" cy="914400"/>
          </a:xfrm>
          <a:prstGeom prst="rect">
            <a:avLst/>
          </a:prstGeom>
          <a:noFill/>
          <a:ln/>
        </p:spPr>
        <p:txBody>
          <a:bodyPr wrap="square" rtlCol="0" anchor="ctr"/>
          <a:lstStyle/>
          <a:p>
            <a:pPr indent="0" marL="0">
              <a:buNone/>
            </a:pPr>
            <a:r>
              <a:rPr lang="en-US" sz="4400" b="1" dirty="0">
                <a:solidFill>
                  <a:srgbClr val="FFFFFF"/>
                </a:solidFill>
                <a:latin typeface="Segoe UI" pitchFamily="34" charset="0"/>
                <a:ea typeface="Segoe UI" pitchFamily="34" charset="-122"/>
                <a:cs typeface="Segoe UI" pitchFamily="34" charset="-120"/>
              </a:rPr>
              <a:t>Fabric CI/CD from GitHub</a:t>
            </a:r>
            <a:endParaRPr lang="en-US" sz="4400" dirty="0"/>
          </a:p>
        </p:txBody>
      </p:sp>
      <p:sp>
        <p:nvSpPr>
          <p:cNvPr id="7" name="Text 5"/>
          <p:cNvSpPr/>
          <p:nvPr/>
        </p:nvSpPr>
        <p:spPr>
          <a:xfrm>
            <a:off x="548640" y="3931920"/>
            <a:ext cx="10972800" cy="548640"/>
          </a:xfrm>
          <a:prstGeom prst="rect">
            <a:avLst/>
          </a:prstGeom>
          <a:noFill/>
          <a:ln/>
        </p:spPr>
        <p:txBody>
          <a:bodyPr wrap="square" rtlCol="0" anchor="ctr"/>
          <a:lstStyle/>
          <a:p>
            <a:pPr indent="0" marL="0">
              <a:buNone/>
            </a:pPr>
            <a:r>
              <a:rPr lang="en-US" sz="2200" i="1" dirty="0">
                <a:solidFill>
                  <a:srgbClr val="E8F1F5"/>
                </a:solidFill>
                <a:latin typeface="Segoe UI" pitchFamily="34" charset="0"/>
                <a:ea typeface="Segoe UI" pitchFamily="34" charset="-122"/>
                <a:cs typeface="Segoe UI" pitchFamily="34" charset="-120"/>
              </a:rPr>
              <a:t>A best-practice path to Dev / Test / Prod for the AHSA data team</a:t>
            </a:r>
            <a:endParaRPr lang="en-US" sz="2200" dirty="0"/>
          </a:p>
        </p:txBody>
      </p:sp>
      <p:sp>
        <p:nvSpPr>
          <p:cNvPr id="8" name="Text 6"/>
          <p:cNvSpPr/>
          <p:nvPr/>
        </p:nvSpPr>
        <p:spPr>
          <a:xfrm>
            <a:off x="548640" y="4754880"/>
            <a:ext cx="10972800" cy="457200"/>
          </a:xfrm>
          <a:prstGeom prst="rect">
            <a:avLst/>
          </a:prstGeom>
          <a:noFill/>
          <a:ln/>
        </p:spPr>
        <p:txBody>
          <a:bodyPr wrap="square" rtlCol="0" anchor="ctr"/>
          <a:lstStyle/>
          <a:p>
            <a:pPr indent="0" marL="0">
              <a:buNone/>
            </a:pPr>
            <a:r>
              <a:rPr lang="en-US" sz="1600" dirty="0">
                <a:solidFill>
                  <a:srgbClr val="E8F1F5"/>
                </a:solidFill>
                <a:latin typeface="Segoe UI" pitchFamily="34" charset="0"/>
                <a:ea typeface="Segoe UI" pitchFamily="34" charset="-122"/>
                <a:cs typeface="Segoe UI" pitchFamily="34" charset="-120"/>
              </a:rPr>
              <a:t>Microsoft Fabric  ·  GitHub Actions  ·  fabric-cicd  ·  OIDC workload identity</a:t>
            </a:r>
            <a:endParaRPr lang="en-US" sz="1600" dirty="0"/>
          </a:p>
        </p:txBody>
      </p:sp>
      <p:sp>
        <p:nvSpPr>
          <p:cNvPr id="9" name="Text 7"/>
          <p:cNvSpPr/>
          <p:nvPr/>
        </p:nvSpPr>
        <p:spPr>
          <a:xfrm>
            <a:off x="548640" y="5760720"/>
            <a:ext cx="10972800" cy="365760"/>
          </a:xfrm>
          <a:prstGeom prst="rect">
            <a:avLst/>
          </a:prstGeom>
          <a:noFill/>
          <a:ln/>
        </p:spPr>
        <p:txBody>
          <a:bodyPr wrap="square" rtlCol="0" anchor="ctr"/>
          <a:lstStyle/>
          <a:p>
            <a:pPr indent="0" marL="0">
              <a:buNone/>
            </a:pPr>
            <a:r>
              <a:rPr lang="en-US" sz="1400" dirty="0">
                <a:solidFill>
                  <a:srgbClr val="E8F1F5"/>
                </a:solidFill>
                <a:latin typeface="Segoe UI" pitchFamily="34" charset="0"/>
                <a:ea typeface="Segoe UI" pitchFamily="34" charset="-122"/>
                <a:cs typeface="Segoe UI" pitchFamily="34" charset="-120"/>
              </a:rPr>
              <a:t>60-minute walkthrough  ·  AHSA engineering team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537960"/>
          </a:xfrm>
          <a:prstGeom prst="rect">
            <a:avLst/>
          </a:prstGeom>
          <a:solidFill>
            <a:srgbClr val="F2A341"/>
          </a:solidFill>
          <a:ln w="12700">
            <a:solidFill>
              <a:srgbClr val="F2A341"/>
            </a:solidFill>
            <a:prstDash val="solid"/>
          </a:ln>
        </p:spPr>
      </p:sp>
      <p:sp>
        <p:nvSpPr>
          <p:cNvPr id="3" name="Text 1"/>
          <p:cNvSpPr/>
          <p:nvPr/>
        </p:nvSpPr>
        <p:spPr>
          <a:xfrm>
            <a:off x="548640" y="411480"/>
            <a:ext cx="10972800" cy="320040"/>
          </a:xfrm>
          <a:prstGeom prst="rect">
            <a:avLst/>
          </a:prstGeom>
          <a:noFill/>
          <a:ln/>
        </p:spPr>
        <p:txBody>
          <a:bodyPr wrap="square" rtlCol="0" anchor="ctr"/>
          <a:lstStyle/>
          <a:p>
            <a:pPr indent="0" marL="0">
              <a:buNone/>
            </a:pPr>
            <a:r>
              <a:rPr lang="en-US" sz="1100" b="1" spc="400" kern="0" dirty="0">
                <a:solidFill>
                  <a:srgbClr val="1C7293"/>
                </a:solidFill>
                <a:latin typeface="Segoe UI" pitchFamily="34" charset="0"/>
                <a:ea typeface="Segoe UI" pitchFamily="34" charset="-122"/>
                <a:cs typeface="Segoe UI" pitchFamily="34" charset="-120"/>
              </a:rPr>
              <a:t>THE PROBLEM AT AHSA TODAY</a:t>
            </a:r>
            <a:endParaRPr lang="en-US" sz="1100" dirty="0"/>
          </a:p>
        </p:txBody>
      </p:sp>
      <p:sp>
        <p:nvSpPr>
          <p:cNvPr id="4" name="Text 2"/>
          <p:cNvSpPr/>
          <p:nvPr/>
        </p:nvSpPr>
        <p:spPr>
          <a:xfrm>
            <a:off x="548640" y="731520"/>
            <a:ext cx="10972800" cy="822960"/>
          </a:xfrm>
          <a:prstGeom prst="rect">
            <a:avLst/>
          </a:prstGeom>
          <a:noFill/>
          <a:ln/>
        </p:spPr>
        <p:txBody>
          <a:bodyPr wrap="square" rtlCol="0" anchor="ctr"/>
          <a:lstStyle/>
          <a:p>
            <a:pPr indent="0" marL="0">
              <a:buNone/>
            </a:pPr>
            <a:r>
              <a:rPr lang="en-US" sz="3200" b="1" dirty="0">
                <a:solidFill>
                  <a:srgbClr val="21295C"/>
                </a:solidFill>
                <a:latin typeface="Segoe UI" pitchFamily="34" charset="0"/>
                <a:ea typeface="Segoe UI" pitchFamily="34" charset="-122"/>
                <a:cs typeface="Segoe UI" pitchFamily="34" charset="-120"/>
              </a:rPr>
              <a:t>Why CI/CD for Fabric — and why GitHub?</a:t>
            </a:r>
            <a:endParaRPr lang="en-US" sz="3200" dirty="0"/>
          </a:p>
        </p:txBody>
      </p:sp>
      <p:sp>
        <p:nvSpPr>
          <p:cNvPr id="5" name="Shape 3"/>
          <p:cNvSpPr/>
          <p:nvPr/>
        </p:nvSpPr>
        <p:spPr>
          <a:xfrm>
            <a:off x="548640" y="1600200"/>
            <a:ext cx="1097280" cy="0"/>
          </a:xfrm>
          <a:prstGeom prst="line">
            <a:avLst/>
          </a:prstGeom>
          <a:noFill/>
          <a:ln w="38100">
            <a:solidFill>
              <a:srgbClr val="F2A341"/>
            </a:solidFill>
            <a:prstDash val="solid"/>
          </a:ln>
        </p:spPr>
      </p:sp>
      <p:sp>
        <p:nvSpPr>
          <p:cNvPr id="6" name="Shape 4"/>
          <p:cNvSpPr/>
          <p:nvPr/>
        </p:nvSpPr>
        <p:spPr>
          <a:xfrm>
            <a:off x="548640" y="2011680"/>
            <a:ext cx="2697480" cy="3291840"/>
          </a:xfrm>
          <a:prstGeom prst="rect">
            <a:avLst/>
          </a:prstGeom>
          <a:solidFill>
            <a:srgbClr val="E8F1F5"/>
          </a:solidFill>
          <a:ln w="12700">
            <a:solidFill>
              <a:srgbClr val="E8F1F5"/>
            </a:solidFill>
            <a:prstDash val="solid"/>
          </a:ln>
          <a:effectLst>
            <a:outerShdw sx="100000" sy="100000" kx="0" ky="0" algn="bl" rotWithShape="0" blurRad="101600" dist="25400" dir="5400000">
              <a:srgbClr val="000000">
                <a:alpha val="8000"/>
              </a:srgbClr>
            </a:outerShdw>
          </a:effectLst>
        </p:spPr>
      </p:sp>
      <p:sp>
        <p:nvSpPr>
          <p:cNvPr id="7" name="Shape 5"/>
          <p:cNvSpPr/>
          <p:nvPr/>
        </p:nvSpPr>
        <p:spPr>
          <a:xfrm>
            <a:off x="548640" y="2011680"/>
            <a:ext cx="2697480" cy="164592"/>
          </a:xfrm>
          <a:prstGeom prst="rect">
            <a:avLst/>
          </a:prstGeom>
          <a:solidFill>
            <a:srgbClr val="F2A341"/>
          </a:solidFill>
          <a:ln w="12700">
            <a:solidFill>
              <a:srgbClr val="F2A341"/>
            </a:solidFill>
            <a:prstDash val="solid"/>
          </a:ln>
        </p:spPr>
      </p:sp>
      <p:sp>
        <p:nvSpPr>
          <p:cNvPr id="8" name="Text 6"/>
          <p:cNvSpPr/>
          <p:nvPr/>
        </p:nvSpPr>
        <p:spPr>
          <a:xfrm>
            <a:off x="777240" y="2331720"/>
            <a:ext cx="914400" cy="548640"/>
          </a:xfrm>
          <a:prstGeom prst="rect">
            <a:avLst/>
          </a:prstGeom>
          <a:noFill/>
          <a:ln/>
        </p:spPr>
        <p:txBody>
          <a:bodyPr wrap="square" rtlCol="0" anchor="ctr"/>
          <a:lstStyle/>
          <a:p>
            <a:pPr indent="0" marL="0">
              <a:buNone/>
            </a:pPr>
            <a:r>
              <a:rPr lang="en-US" sz="3600" b="1" dirty="0">
                <a:solidFill>
                  <a:srgbClr val="1C7293"/>
                </a:solidFill>
                <a:latin typeface="Segoe UI" pitchFamily="34" charset="0"/>
                <a:ea typeface="Segoe UI" pitchFamily="34" charset="-122"/>
                <a:cs typeface="Segoe UI" pitchFamily="34" charset="-120"/>
              </a:rPr>
              <a:t>01</a:t>
            </a:r>
            <a:endParaRPr lang="en-US" sz="3600" dirty="0"/>
          </a:p>
        </p:txBody>
      </p:sp>
      <p:sp>
        <p:nvSpPr>
          <p:cNvPr id="9" name="Text 7"/>
          <p:cNvSpPr/>
          <p:nvPr/>
        </p:nvSpPr>
        <p:spPr>
          <a:xfrm>
            <a:off x="777240" y="3017520"/>
            <a:ext cx="2240280" cy="640080"/>
          </a:xfrm>
          <a:prstGeom prst="rect">
            <a:avLst/>
          </a:prstGeom>
          <a:noFill/>
          <a:ln/>
        </p:spPr>
        <p:txBody>
          <a:bodyPr wrap="square" rtlCol="0" anchor="ctr"/>
          <a:lstStyle/>
          <a:p>
            <a:pPr indent="0" marL="0">
              <a:buNone/>
            </a:pPr>
            <a:r>
              <a:rPr lang="en-US" sz="2200" b="1" dirty="0">
                <a:solidFill>
                  <a:srgbClr val="21295C"/>
                </a:solidFill>
                <a:latin typeface="Segoe UI" pitchFamily="34" charset="0"/>
                <a:ea typeface="Segoe UI" pitchFamily="34" charset="-122"/>
                <a:cs typeface="Segoe UI" pitchFamily="34" charset="-120"/>
              </a:rPr>
              <a:t>No drift</a:t>
            </a:r>
            <a:endParaRPr lang="en-US" sz="2200" dirty="0"/>
          </a:p>
        </p:txBody>
      </p:sp>
      <p:sp>
        <p:nvSpPr>
          <p:cNvPr id="10" name="Text 8"/>
          <p:cNvSpPr/>
          <p:nvPr/>
        </p:nvSpPr>
        <p:spPr>
          <a:xfrm>
            <a:off x="777240" y="3703320"/>
            <a:ext cx="2240280" cy="1463040"/>
          </a:xfrm>
          <a:prstGeom prst="rect">
            <a:avLst/>
          </a:prstGeom>
          <a:noFill/>
          <a:ln/>
        </p:spPr>
        <p:txBody>
          <a:bodyPr wrap="square" rtlCol="0" anchor="ctr"/>
          <a:lstStyle/>
          <a:p>
            <a:pPr indent="0" marL="0">
              <a:buNone/>
            </a:pPr>
            <a:r>
              <a:rPr lang="en-US" sz="1300" dirty="0">
                <a:solidFill>
                  <a:srgbClr val="1A1A2E"/>
                </a:solidFill>
                <a:latin typeface="Segoe UI" pitchFamily="34" charset="0"/>
                <a:ea typeface="Segoe UI" pitchFamily="34" charset="-122"/>
                <a:cs typeface="Segoe UI" pitchFamily="34" charset="-120"/>
              </a:rPr>
              <a:t>Today AHSA's Test and Prod workspaces can be edited directly. From here on, they only change via reviewed PRs.</a:t>
            </a:r>
            <a:endParaRPr lang="en-US" sz="1300" dirty="0"/>
          </a:p>
        </p:txBody>
      </p:sp>
      <p:sp>
        <p:nvSpPr>
          <p:cNvPr id="11" name="Shape 9"/>
          <p:cNvSpPr/>
          <p:nvPr/>
        </p:nvSpPr>
        <p:spPr>
          <a:xfrm>
            <a:off x="3429000" y="2011680"/>
            <a:ext cx="2697480" cy="3291840"/>
          </a:xfrm>
          <a:prstGeom prst="rect">
            <a:avLst/>
          </a:prstGeom>
          <a:solidFill>
            <a:srgbClr val="E8F1F5"/>
          </a:solidFill>
          <a:ln w="12700">
            <a:solidFill>
              <a:srgbClr val="E8F1F5"/>
            </a:solidFill>
            <a:prstDash val="solid"/>
          </a:ln>
          <a:effectLst>
            <a:outerShdw sx="100000" sy="100000" kx="0" ky="0" algn="bl" rotWithShape="0" blurRad="101600" dist="25400" dir="5400000">
              <a:srgbClr val="000000">
                <a:alpha val="8000"/>
              </a:srgbClr>
            </a:outerShdw>
          </a:effectLst>
        </p:spPr>
      </p:sp>
      <p:sp>
        <p:nvSpPr>
          <p:cNvPr id="12" name="Shape 10"/>
          <p:cNvSpPr/>
          <p:nvPr/>
        </p:nvSpPr>
        <p:spPr>
          <a:xfrm>
            <a:off x="3429000" y="2011680"/>
            <a:ext cx="2697480" cy="164592"/>
          </a:xfrm>
          <a:prstGeom prst="rect">
            <a:avLst/>
          </a:prstGeom>
          <a:solidFill>
            <a:srgbClr val="F2A341"/>
          </a:solidFill>
          <a:ln w="12700">
            <a:solidFill>
              <a:srgbClr val="F2A341"/>
            </a:solidFill>
            <a:prstDash val="solid"/>
          </a:ln>
        </p:spPr>
      </p:sp>
      <p:sp>
        <p:nvSpPr>
          <p:cNvPr id="13" name="Text 11"/>
          <p:cNvSpPr/>
          <p:nvPr/>
        </p:nvSpPr>
        <p:spPr>
          <a:xfrm>
            <a:off x="3657600" y="2331720"/>
            <a:ext cx="914400" cy="548640"/>
          </a:xfrm>
          <a:prstGeom prst="rect">
            <a:avLst/>
          </a:prstGeom>
          <a:noFill/>
          <a:ln/>
        </p:spPr>
        <p:txBody>
          <a:bodyPr wrap="square" rtlCol="0" anchor="ctr"/>
          <a:lstStyle/>
          <a:p>
            <a:pPr indent="0" marL="0">
              <a:buNone/>
            </a:pPr>
            <a:r>
              <a:rPr lang="en-US" sz="3600" b="1" dirty="0">
                <a:solidFill>
                  <a:srgbClr val="1C7293"/>
                </a:solidFill>
                <a:latin typeface="Segoe UI" pitchFamily="34" charset="0"/>
                <a:ea typeface="Segoe UI" pitchFamily="34" charset="-122"/>
                <a:cs typeface="Segoe UI" pitchFamily="34" charset="-120"/>
              </a:rPr>
              <a:t>02</a:t>
            </a:r>
            <a:endParaRPr lang="en-US" sz="3600" dirty="0"/>
          </a:p>
        </p:txBody>
      </p:sp>
      <p:sp>
        <p:nvSpPr>
          <p:cNvPr id="14" name="Text 12"/>
          <p:cNvSpPr/>
          <p:nvPr/>
        </p:nvSpPr>
        <p:spPr>
          <a:xfrm>
            <a:off x="3657600" y="3017520"/>
            <a:ext cx="2240280" cy="640080"/>
          </a:xfrm>
          <a:prstGeom prst="rect">
            <a:avLst/>
          </a:prstGeom>
          <a:noFill/>
          <a:ln/>
        </p:spPr>
        <p:txBody>
          <a:bodyPr wrap="square" rtlCol="0" anchor="ctr"/>
          <a:lstStyle/>
          <a:p>
            <a:pPr indent="0" marL="0">
              <a:buNone/>
            </a:pPr>
            <a:r>
              <a:rPr lang="en-US" sz="2200" b="1" dirty="0">
                <a:solidFill>
                  <a:srgbClr val="21295C"/>
                </a:solidFill>
                <a:latin typeface="Segoe UI" pitchFamily="34" charset="0"/>
                <a:ea typeface="Segoe UI" pitchFamily="34" charset="-122"/>
                <a:cs typeface="Segoe UI" pitchFamily="34" charset="-120"/>
              </a:rPr>
              <a:t>4-eyes review</a:t>
            </a:r>
            <a:endParaRPr lang="en-US" sz="2200" dirty="0"/>
          </a:p>
        </p:txBody>
      </p:sp>
      <p:sp>
        <p:nvSpPr>
          <p:cNvPr id="15" name="Text 13"/>
          <p:cNvSpPr/>
          <p:nvPr/>
        </p:nvSpPr>
        <p:spPr>
          <a:xfrm>
            <a:off x="3657600" y="3703320"/>
            <a:ext cx="2240280" cy="1463040"/>
          </a:xfrm>
          <a:prstGeom prst="rect">
            <a:avLst/>
          </a:prstGeom>
          <a:noFill/>
          <a:ln/>
        </p:spPr>
        <p:txBody>
          <a:bodyPr wrap="square" rtlCol="0" anchor="ctr"/>
          <a:lstStyle/>
          <a:p>
            <a:pPr indent="0" marL="0">
              <a:buNone/>
            </a:pPr>
            <a:r>
              <a:rPr lang="en-US" sz="1300" dirty="0">
                <a:solidFill>
                  <a:srgbClr val="1A1A2E"/>
                </a:solidFill>
                <a:latin typeface="Segoe UI" pitchFamily="34" charset="0"/>
                <a:ea typeface="Segoe UI" pitchFamily="34" charset="-122"/>
                <a:cs typeface="Segoe UI" pitchFamily="34" charset="-120"/>
              </a:rPr>
              <a:t>With AHSA's 2-engineer team, mandatory peer review on every change is non-negotiable. CODEOWNERS enforces it.</a:t>
            </a:r>
            <a:endParaRPr lang="en-US" sz="1300" dirty="0"/>
          </a:p>
        </p:txBody>
      </p:sp>
      <p:sp>
        <p:nvSpPr>
          <p:cNvPr id="16" name="Shape 14"/>
          <p:cNvSpPr/>
          <p:nvPr/>
        </p:nvSpPr>
        <p:spPr>
          <a:xfrm>
            <a:off x="6309360" y="2011680"/>
            <a:ext cx="2697480" cy="3291840"/>
          </a:xfrm>
          <a:prstGeom prst="rect">
            <a:avLst/>
          </a:prstGeom>
          <a:solidFill>
            <a:srgbClr val="E8F1F5"/>
          </a:solidFill>
          <a:ln w="12700">
            <a:solidFill>
              <a:srgbClr val="E8F1F5"/>
            </a:solidFill>
            <a:prstDash val="solid"/>
          </a:ln>
          <a:effectLst>
            <a:outerShdw sx="100000" sy="100000" kx="0" ky="0" algn="bl" rotWithShape="0" blurRad="101600" dist="25400" dir="5400000">
              <a:srgbClr val="000000">
                <a:alpha val="8000"/>
              </a:srgbClr>
            </a:outerShdw>
          </a:effectLst>
        </p:spPr>
      </p:sp>
      <p:sp>
        <p:nvSpPr>
          <p:cNvPr id="17" name="Shape 15"/>
          <p:cNvSpPr/>
          <p:nvPr/>
        </p:nvSpPr>
        <p:spPr>
          <a:xfrm>
            <a:off x="6309360" y="2011680"/>
            <a:ext cx="2697480" cy="164592"/>
          </a:xfrm>
          <a:prstGeom prst="rect">
            <a:avLst/>
          </a:prstGeom>
          <a:solidFill>
            <a:srgbClr val="F2A341"/>
          </a:solidFill>
          <a:ln w="12700">
            <a:solidFill>
              <a:srgbClr val="F2A341"/>
            </a:solidFill>
            <a:prstDash val="solid"/>
          </a:ln>
        </p:spPr>
      </p:sp>
      <p:sp>
        <p:nvSpPr>
          <p:cNvPr id="18" name="Text 16"/>
          <p:cNvSpPr/>
          <p:nvPr/>
        </p:nvSpPr>
        <p:spPr>
          <a:xfrm>
            <a:off x="6537960" y="2331720"/>
            <a:ext cx="914400" cy="548640"/>
          </a:xfrm>
          <a:prstGeom prst="rect">
            <a:avLst/>
          </a:prstGeom>
          <a:noFill/>
          <a:ln/>
        </p:spPr>
        <p:txBody>
          <a:bodyPr wrap="square" rtlCol="0" anchor="ctr"/>
          <a:lstStyle/>
          <a:p>
            <a:pPr indent="0" marL="0">
              <a:buNone/>
            </a:pPr>
            <a:r>
              <a:rPr lang="en-US" sz="3600" b="1" dirty="0">
                <a:solidFill>
                  <a:srgbClr val="1C7293"/>
                </a:solidFill>
                <a:latin typeface="Segoe UI" pitchFamily="34" charset="0"/>
                <a:ea typeface="Segoe UI" pitchFamily="34" charset="-122"/>
                <a:cs typeface="Segoe UI" pitchFamily="34" charset="-120"/>
              </a:rPr>
              <a:t>03</a:t>
            </a:r>
            <a:endParaRPr lang="en-US" sz="3600" dirty="0"/>
          </a:p>
        </p:txBody>
      </p:sp>
      <p:sp>
        <p:nvSpPr>
          <p:cNvPr id="19" name="Text 17"/>
          <p:cNvSpPr/>
          <p:nvPr/>
        </p:nvSpPr>
        <p:spPr>
          <a:xfrm>
            <a:off x="6537960" y="3017520"/>
            <a:ext cx="2240280" cy="640080"/>
          </a:xfrm>
          <a:prstGeom prst="rect">
            <a:avLst/>
          </a:prstGeom>
          <a:noFill/>
          <a:ln/>
        </p:spPr>
        <p:txBody>
          <a:bodyPr wrap="square" rtlCol="0" anchor="ctr"/>
          <a:lstStyle/>
          <a:p>
            <a:pPr indent="0" marL="0">
              <a:buNone/>
            </a:pPr>
            <a:r>
              <a:rPr lang="en-US" sz="2200" b="1" dirty="0">
                <a:solidFill>
                  <a:srgbClr val="21295C"/>
                </a:solidFill>
                <a:latin typeface="Segoe UI" pitchFamily="34" charset="0"/>
                <a:ea typeface="Segoe UI" pitchFamily="34" charset="-122"/>
                <a:cs typeface="Segoe UI" pitchFamily="34" charset="-120"/>
              </a:rPr>
              <a:t>No secrets</a:t>
            </a:r>
            <a:endParaRPr lang="en-US" sz="2200" dirty="0"/>
          </a:p>
        </p:txBody>
      </p:sp>
      <p:sp>
        <p:nvSpPr>
          <p:cNvPr id="20" name="Text 18"/>
          <p:cNvSpPr/>
          <p:nvPr/>
        </p:nvSpPr>
        <p:spPr>
          <a:xfrm>
            <a:off x="6537960" y="3703320"/>
            <a:ext cx="2240280" cy="1463040"/>
          </a:xfrm>
          <a:prstGeom prst="rect">
            <a:avLst/>
          </a:prstGeom>
          <a:noFill/>
          <a:ln/>
        </p:spPr>
        <p:txBody>
          <a:bodyPr wrap="square" rtlCol="0" anchor="ctr"/>
          <a:lstStyle/>
          <a:p>
            <a:pPr indent="0" marL="0">
              <a:buNone/>
            </a:pPr>
            <a:r>
              <a:rPr lang="en-US" sz="1300" dirty="0">
                <a:solidFill>
                  <a:srgbClr val="1A1A2E"/>
                </a:solidFill>
                <a:latin typeface="Segoe UI" pitchFamily="34" charset="0"/>
                <a:ea typeface="Segoe UI" pitchFamily="34" charset="-122"/>
                <a:cs typeface="Segoe UI" pitchFamily="34" charset="-120"/>
              </a:rPr>
              <a:t>GitHub OIDC → Entra federated credential. Zero client secrets sitting in AHSA's repo or pipelines.</a:t>
            </a:r>
            <a:endParaRPr lang="en-US" sz="1300" dirty="0"/>
          </a:p>
        </p:txBody>
      </p:sp>
      <p:sp>
        <p:nvSpPr>
          <p:cNvPr id="21" name="Shape 19"/>
          <p:cNvSpPr/>
          <p:nvPr/>
        </p:nvSpPr>
        <p:spPr>
          <a:xfrm>
            <a:off x="9189720" y="2011680"/>
            <a:ext cx="2697480" cy="3291840"/>
          </a:xfrm>
          <a:prstGeom prst="rect">
            <a:avLst/>
          </a:prstGeom>
          <a:solidFill>
            <a:srgbClr val="E8F1F5"/>
          </a:solidFill>
          <a:ln w="12700">
            <a:solidFill>
              <a:srgbClr val="E8F1F5"/>
            </a:solidFill>
            <a:prstDash val="solid"/>
          </a:ln>
          <a:effectLst>
            <a:outerShdw sx="100000" sy="100000" kx="0" ky="0" algn="bl" rotWithShape="0" blurRad="101600" dist="25400" dir="5400000">
              <a:srgbClr val="000000">
                <a:alpha val="8000"/>
              </a:srgbClr>
            </a:outerShdw>
          </a:effectLst>
        </p:spPr>
      </p:sp>
      <p:sp>
        <p:nvSpPr>
          <p:cNvPr id="22" name="Shape 20"/>
          <p:cNvSpPr/>
          <p:nvPr/>
        </p:nvSpPr>
        <p:spPr>
          <a:xfrm>
            <a:off x="9189720" y="2011680"/>
            <a:ext cx="2697480" cy="164592"/>
          </a:xfrm>
          <a:prstGeom prst="rect">
            <a:avLst/>
          </a:prstGeom>
          <a:solidFill>
            <a:srgbClr val="F2A341"/>
          </a:solidFill>
          <a:ln w="12700">
            <a:solidFill>
              <a:srgbClr val="F2A341"/>
            </a:solidFill>
            <a:prstDash val="solid"/>
          </a:ln>
        </p:spPr>
      </p:sp>
      <p:sp>
        <p:nvSpPr>
          <p:cNvPr id="23" name="Text 21"/>
          <p:cNvSpPr/>
          <p:nvPr/>
        </p:nvSpPr>
        <p:spPr>
          <a:xfrm>
            <a:off x="9418320" y="2331720"/>
            <a:ext cx="914400" cy="548640"/>
          </a:xfrm>
          <a:prstGeom prst="rect">
            <a:avLst/>
          </a:prstGeom>
          <a:noFill/>
          <a:ln/>
        </p:spPr>
        <p:txBody>
          <a:bodyPr wrap="square" rtlCol="0" anchor="ctr"/>
          <a:lstStyle/>
          <a:p>
            <a:pPr indent="0" marL="0">
              <a:buNone/>
            </a:pPr>
            <a:r>
              <a:rPr lang="en-US" sz="3600" b="1" dirty="0">
                <a:solidFill>
                  <a:srgbClr val="1C7293"/>
                </a:solidFill>
                <a:latin typeface="Segoe UI" pitchFamily="34" charset="0"/>
                <a:ea typeface="Segoe UI" pitchFamily="34" charset="-122"/>
                <a:cs typeface="Segoe UI" pitchFamily="34" charset="-120"/>
              </a:rPr>
              <a:t>04</a:t>
            </a:r>
            <a:endParaRPr lang="en-US" sz="3600" dirty="0"/>
          </a:p>
        </p:txBody>
      </p:sp>
      <p:sp>
        <p:nvSpPr>
          <p:cNvPr id="24" name="Text 22"/>
          <p:cNvSpPr/>
          <p:nvPr/>
        </p:nvSpPr>
        <p:spPr>
          <a:xfrm>
            <a:off x="9418320" y="3017520"/>
            <a:ext cx="2240280" cy="640080"/>
          </a:xfrm>
          <a:prstGeom prst="rect">
            <a:avLst/>
          </a:prstGeom>
          <a:noFill/>
          <a:ln/>
        </p:spPr>
        <p:txBody>
          <a:bodyPr wrap="square" rtlCol="0" anchor="ctr"/>
          <a:lstStyle/>
          <a:p>
            <a:pPr indent="0" marL="0">
              <a:buNone/>
            </a:pPr>
            <a:r>
              <a:rPr lang="en-US" sz="2200" b="1" dirty="0">
                <a:solidFill>
                  <a:srgbClr val="21295C"/>
                </a:solidFill>
                <a:latin typeface="Segoe UI" pitchFamily="34" charset="0"/>
                <a:ea typeface="Segoe UI" pitchFamily="34" charset="-122"/>
                <a:cs typeface="Segoe UI" pitchFamily="34" charset="-120"/>
              </a:rPr>
              <a:t>Reversible</a:t>
            </a:r>
            <a:endParaRPr lang="en-US" sz="2200" dirty="0"/>
          </a:p>
        </p:txBody>
      </p:sp>
      <p:sp>
        <p:nvSpPr>
          <p:cNvPr id="25" name="Text 23"/>
          <p:cNvSpPr/>
          <p:nvPr/>
        </p:nvSpPr>
        <p:spPr>
          <a:xfrm>
            <a:off x="9418320" y="3703320"/>
            <a:ext cx="2240280" cy="1463040"/>
          </a:xfrm>
          <a:prstGeom prst="rect">
            <a:avLst/>
          </a:prstGeom>
          <a:noFill/>
          <a:ln/>
        </p:spPr>
        <p:txBody>
          <a:bodyPr wrap="square" rtlCol="0" anchor="ctr"/>
          <a:lstStyle/>
          <a:p>
            <a:pPr indent="0" marL="0">
              <a:buNone/>
            </a:pPr>
            <a:r>
              <a:rPr lang="en-US" sz="1300" dirty="0">
                <a:solidFill>
                  <a:srgbClr val="1A1A2E"/>
                </a:solidFill>
                <a:latin typeface="Segoe UI" pitchFamily="34" charset="0"/>
                <a:ea typeface="Segoe UI" pitchFamily="34" charset="-122"/>
                <a:cs typeface="Segoe UI" pitchFamily="34" charset="-120"/>
              </a:rPr>
              <a:t>Every AHSA change is a Git commit. Rollback = revert merge → the pipeline restores the previous state.</a:t>
            </a:r>
            <a:endParaRPr lang="en-US" sz="1300" dirty="0"/>
          </a:p>
        </p:txBody>
      </p:sp>
      <p:sp>
        <p:nvSpPr>
          <p:cNvPr id="27" name="Shape 24"/>
          <p:cNvSpPr/>
          <p:nvPr/>
        </p:nvSpPr>
        <p:spPr>
          <a:xfrm>
            <a:off x="0" y="6537960"/>
            <a:ext cx="12161520" cy="320040"/>
          </a:xfrm>
          <a:prstGeom prst="rect">
            <a:avLst/>
          </a:prstGeom>
          <a:solidFill>
            <a:srgbClr val="21295C"/>
          </a:solidFill>
          <a:ln w="12700">
            <a:solidFill>
              <a:srgbClr val="21295C"/>
            </a:solidFill>
            <a:prstDash val="solid"/>
          </a:ln>
        </p:spPr>
      </p:sp>
      <p:sp>
        <p:nvSpPr>
          <p:cNvPr id="28" name="Text 25"/>
          <p:cNvSpPr/>
          <p:nvPr/>
        </p:nvSpPr>
        <p:spPr>
          <a:xfrm>
            <a:off x="365760" y="6537960"/>
            <a:ext cx="7315200" cy="320040"/>
          </a:xfrm>
          <a:prstGeom prst="rect">
            <a:avLst/>
          </a:prstGeom>
          <a:noFill/>
          <a:ln/>
        </p:spPr>
        <p:txBody>
          <a:bodyPr wrap="square" rtlCol="0" anchor="ctr"/>
          <a:lstStyle/>
          <a:p>
            <a:pPr indent="0" marL="0">
              <a:buNone/>
            </a:pPr>
            <a:r>
              <a:rPr lang="en-US" sz="1000" dirty="0">
                <a:solidFill>
                  <a:srgbClr val="E8F1F5"/>
                </a:solidFill>
                <a:latin typeface="Segoe UI" pitchFamily="34" charset="0"/>
                <a:ea typeface="Segoe UI" pitchFamily="34" charset="-122"/>
                <a:cs typeface="Segoe UI" pitchFamily="34" charset="-120"/>
              </a:rPr>
              <a:t>Fabric CI/CD from GitHub  ·  Prepared for AHSA</a:t>
            </a:r>
            <a:endParaRPr lang="en-US" sz="1000" dirty="0"/>
          </a:p>
        </p:txBody>
      </p:sp>
      <p:sp>
        <p:nvSpPr>
          <p:cNvPr id="29" name="Text 26"/>
          <p:cNvSpPr/>
          <p:nvPr/>
        </p:nvSpPr>
        <p:spPr>
          <a:xfrm>
            <a:off x="11430000" y="6537960"/>
            <a:ext cx="365760" cy="320040"/>
          </a:xfrm>
          <a:prstGeom prst="rect">
            <a:avLst/>
          </a:prstGeom>
          <a:noFill/>
          <a:ln/>
        </p:spPr>
        <p:txBody>
          <a:bodyPr wrap="square" rtlCol="0" anchor="ctr"/>
          <a:lstStyle/>
          <a:p>
            <a:pPr algn="r" indent="0" marL="0">
              <a:buNone/>
            </a:pPr>
            <a:r>
              <a:rPr lang="en-US" sz="1000" dirty="0">
                <a:solidFill>
                  <a:srgbClr val="E8F1F5"/>
                </a:solidFill>
                <a:latin typeface="Segoe UI" pitchFamily="34" charset="0"/>
                <a:ea typeface="Segoe UI" pitchFamily="34" charset="-122"/>
                <a:cs typeface="Segoe U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537960"/>
          </a:xfrm>
          <a:prstGeom prst="rect">
            <a:avLst/>
          </a:prstGeom>
          <a:solidFill>
            <a:srgbClr val="F2A341"/>
          </a:solidFill>
          <a:ln w="12700">
            <a:solidFill>
              <a:srgbClr val="F2A341"/>
            </a:solidFill>
            <a:prstDash val="solid"/>
          </a:ln>
        </p:spPr>
      </p:sp>
      <p:sp>
        <p:nvSpPr>
          <p:cNvPr id="3" name="Text 1"/>
          <p:cNvSpPr/>
          <p:nvPr/>
        </p:nvSpPr>
        <p:spPr>
          <a:xfrm>
            <a:off x="548640" y="411480"/>
            <a:ext cx="10972800" cy="320040"/>
          </a:xfrm>
          <a:prstGeom prst="rect">
            <a:avLst/>
          </a:prstGeom>
          <a:noFill/>
          <a:ln/>
        </p:spPr>
        <p:txBody>
          <a:bodyPr wrap="square" rtlCol="0" anchor="ctr"/>
          <a:lstStyle/>
          <a:p>
            <a:pPr indent="0" marL="0">
              <a:buNone/>
            </a:pPr>
            <a:r>
              <a:rPr lang="en-US" sz="1100" b="1" spc="400" kern="0" dirty="0">
                <a:solidFill>
                  <a:srgbClr val="1C7293"/>
                </a:solidFill>
                <a:latin typeface="Segoe UI" pitchFamily="34" charset="0"/>
                <a:ea typeface="Segoe UI" pitchFamily="34" charset="-122"/>
                <a:cs typeface="Segoe UI" pitchFamily="34" charset="-120"/>
              </a:rPr>
              <a:t>ARCHITECTURE FOR AHSA</a:t>
            </a:r>
            <a:endParaRPr lang="en-US" sz="1100" dirty="0"/>
          </a:p>
        </p:txBody>
      </p:sp>
      <p:sp>
        <p:nvSpPr>
          <p:cNvPr id="4" name="Text 2"/>
          <p:cNvSpPr/>
          <p:nvPr/>
        </p:nvSpPr>
        <p:spPr>
          <a:xfrm>
            <a:off x="548640" y="731520"/>
            <a:ext cx="10972800" cy="822960"/>
          </a:xfrm>
          <a:prstGeom prst="rect">
            <a:avLst/>
          </a:prstGeom>
          <a:noFill/>
          <a:ln/>
        </p:spPr>
        <p:txBody>
          <a:bodyPr wrap="square" rtlCol="0" anchor="ctr"/>
          <a:lstStyle/>
          <a:p>
            <a:pPr indent="0" marL="0">
              <a:buNone/>
            </a:pPr>
            <a:r>
              <a:rPr lang="en-US" sz="3200" b="1" dirty="0">
                <a:solidFill>
                  <a:srgbClr val="21295C"/>
                </a:solidFill>
                <a:latin typeface="Segoe UI" pitchFamily="34" charset="0"/>
                <a:ea typeface="Segoe UI" pitchFamily="34" charset="-122"/>
                <a:cs typeface="Segoe UI" pitchFamily="34" charset="-120"/>
              </a:rPr>
              <a:t>Three workspaces, one shared capacity</a:t>
            </a:r>
            <a:endParaRPr lang="en-US" sz="3200" dirty="0"/>
          </a:p>
        </p:txBody>
      </p:sp>
      <p:sp>
        <p:nvSpPr>
          <p:cNvPr id="5" name="Shape 3"/>
          <p:cNvSpPr/>
          <p:nvPr/>
        </p:nvSpPr>
        <p:spPr>
          <a:xfrm>
            <a:off x="548640" y="1600200"/>
            <a:ext cx="1097280" cy="0"/>
          </a:xfrm>
          <a:prstGeom prst="line">
            <a:avLst/>
          </a:prstGeom>
          <a:noFill/>
          <a:ln w="38100">
            <a:solidFill>
              <a:srgbClr val="F2A341"/>
            </a:solidFill>
            <a:prstDash val="solid"/>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914400"/>
        </p:xfrm>
        <a:graphic>
          <a:graphicData uri="http://schemas.openxmlformats.org/drawingml/2006/table">
            <a:tbl>
              <a:tblPr/>
              <a:tblGrid>
                <a:gridCol w="2468880"/>
                <a:gridCol w="2743200"/>
                <a:gridCol w="5852160"/>
              </a:tblGrid>
              <a:tr h="640080">
                <a:tc>
                  <a:txBody>
                    <a:bodyPr/>
                    <a:lstStyle/>
                    <a:p>
                      <a:pPr algn="l" indent="0" marL="0">
                        <a:buNone/>
                      </a:pPr>
                      <a:r>
                        <a:rPr lang="en-US" sz="1400" b="1" dirty="0">
                          <a:solidFill>
                            <a:srgbClr val="FFFFFF"/>
                          </a:solidFill>
                          <a:latin typeface="Segoe UI" pitchFamily="34" charset="0"/>
                          <a:ea typeface="Segoe UI" pitchFamily="34" charset="-122"/>
                          <a:cs typeface="Segoe UI" pitchFamily="34" charset="-120"/>
                        </a:rPr>
                        <a:t>Workspace</a:t>
                      </a:r>
                      <a:endParaRPr lang="en-US" sz="140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1295C"/>
                    </a:solidFill>
                  </a:tcPr>
                </a:tc>
                <a:tc>
                  <a:txBody>
                    <a:bodyPr/>
                    <a:lstStyle/>
                    <a:p>
                      <a:pPr algn="l" indent="0" marL="0">
                        <a:buNone/>
                      </a:pPr>
                      <a:r>
                        <a:rPr lang="en-US" sz="1400" b="1" dirty="0">
                          <a:solidFill>
                            <a:srgbClr val="FFFFFF"/>
                          </a:solidFill>
                          <a:latin typeface="Segoe UI" pitchFamily="34" charset="0"/>
                          <a:ea typeface="Segoe UI" pitchFamily="34" charset="-122"/>
                          <a:cs typeface="Segoe UI" pitchFamily="34" charset="-120"/>
                        </a:rPr>
                        <a:t>Git-connected?</a:t>
                      </a:r>
                      <a:endParaRPr lang="en-US" sz="140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1295C"/>
                    </a:solidFill>
                  </a:tcPr>
                </a:tc>
                <a:tc>
                  <a:txBody>
                    <a:bodyPr/>
                    <a:lstStyle/>
                    <a:p>
                      <a:pPr algn="l" indent="0" marL="0">
                        <a:buNone/>
                      </a:pPr>
                      <a:r>
                        <a:rPr lang="en-US" sz="1400" b="1" dirty="0">
                          <a:solidFill>
                            <a:srgbClr val="FFFFFF"/>
                          </a:solidFill>
                          <a:latin typeface="Segoe UI" pitchFamily="34" charset="0"/>
                          <a:ea typeface="Segoe UI" pitchFamily="34" charset="-122"/>
                          <a:cs typeface="Segoe UI" pitchFamily="34" charset="-120"/>
                        </a:rPr>
                        <a:t>Promotion mechanism</a:t>
                      </a:r>
                      <a:endParaRPr lang="en-US" sz="140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1295C"/>
                    </a:solidFill>
                  </a:tcPr>
                </a:tc>
              </a:tr>
              <a:tr h="640080">
                <a:tc>
                  <a:txBody>
                    <a:bodyPr/>
                    <a:lstStyle/>
                    <a:p>
                      <a:pPr algn="l" indent="0" marL="0">
                        <a:buNone/>
                      </a:pPr>
                      <a:r>
                        <a:rPr lang="en-US" sz="1300" b="1" dirty="0">
                          <a:solidFill>
                            <a:srgbClr val="1A1A2E"/>
                          </a:solidFill>
                          <a:latin typeface="Segoe UI" pitchFamily="34" charset="0"/>
                          <a:ea typeface="Segoe UI" pitchFamily="34" charset="-122"/>
                          <a:cs typeface="Segoe UI" pitchFamily="34" charset="-120"/>
                        </a:rPr>
                        <a:t>Dev  (ahsa-fabric-dev)</a:t>
                      </a:r>
                      <a:endParaRPr lang="en-US" sz="130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8F1F5"/>
                    </a:solidFill>
                  </a:tcPr>
                </a:tc>
                <a:tc>
                  <a:txBody>
                    <a:bodyPr/>
                    <a:lstStyle/>
                    <a:p>
                      <a:pPr algn="l" indent="0" marL="0">
                        <a:buNone/>
                      </a:pPr>
                      <a:r>
                        <a:rPr lang="en-US" sz="1300" dirty="0">
                          <a:solidFill>
                            <a:srgbClr val="1A1A2E"/>
                          </a:solidFill>
                          <a:latin typeface="Segoe UI" pitchFamily="34" charset="0"/>
                          <a:ea typeface="Segoe UI" pitchFamily="34" charset="-122"/>
                          <a:cs typeface="Segoe UI" pitchFamily="34" charset="-120"/>
                        </a:rPr>
                        <a:t>Yes — `dev` branch</a:t>
                      </a:r>
                      <a:endParaRPr lang="en-US" sz="130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8F1F5"/>
                    </a:solidFill>
                  </a:tcPr>
                </a:tc>
                <a:tc>
                  <a:txBody>
                    <a:bodyPr/>
                    <a:lstStyle/>
                    <a:p>
                      <a:pPr algn="l" indent="0" marL="0">
                        <a:buNone/>
                      </a:pPr>
                      <a:r>
                        <a:rPr lang="en-US" sz="1300" dirty="0">
                          <a:solidFill>
                            <a:srgbClr val="1A1A2E"/>
                          </a:solidFill>
                          <a:latin typeface="Segoe UI" pitchFamily="34" charset="0"/>
                          <a:ea typeface="Segoe UI" pitchFamily="34" charset="-122"/>
                          <a:cs typeface="Segoe UI" pitchFamily="34" charset="-120"/>
                        </a:rPr>
                        <a:t>AHSA devs commit / Update from Git in Fabric UI</a:t>
                      </a:r>
                      <a:endParaRPr lang="en-US" sz="130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8F1F5"/>
                    </a:solidFill>
                  </a:tcPr>
                </a:tc>
              </a:tr>
              <a:tr h="640080">
                <a:tc>
                  <a:txBody>
                    <a:bodyPr/>
                    <a:lstStyle/>
                    <a:p>
                      <a:pPr algn="l" indent="0" marL="0">
                        <a:buNone/>
                      </a:pPr>
                      <a:r>
                        <a:rPr lang="en-US" sz="1300" b="1" dirty="0">
                          <a:solidFill>
                            <a:srgbClr val="1A1A2E"/>
                          </a:solidFill>
                          <a:latin typeface="Segoe UI" pitchFamily="34" charset="0"/>
                          <a:ea typeface="Segoe UI" pitchFamily="34" charset="-122"/>
                          <a:cs typeface="Segoe UI" pitchFamily="34" charset="-120"/>
                        </a:rPr>
                        <a:t>Test (ahsa-fabric-test)</a:t>
                      </a:r>
                      <a:endParaRPr lang="en-US" sz="130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300" dirty="0">
                          <a:solidFill>
                            <a:srgbClr val="1A1A2E"/>
                          </a:solidFill>
                          <a:latin typeface="Segoe UI" pitchFamily="34" charset="0"/>
                          <a:ea typeface="Segoe UI" pitchFamily="34" charset="-122"/>
                          <a:cs typeface="Segoe UI" pitchFamily="34" charset="-120"/>
                        </a:rPr>
                        <a:t>No</a:t>
                      </a:r>
                      <a:endParaRPr lang="en-US" sz="130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300" dirty="0">
                          <a:solidFill>
                            <a:srgbClr val="1A1A2E"/>
                          </a:solidFill>
                          <a:latin typeface="Segoe UI" pitchFamily="34" charset="0"/>
                          <a:ea typeface="Segoe UI" pitchFamily="34" charset="-122"/>
                          <a:cs typeface="Segoe UI" pitchFamily="34" charset="-120"/>
                        </a:rPr>
                        <a:t>GitHub Actions runs fabric-cicd on merge to `test`</a:t>
                      </a:r>
                      <a:endParaRPr lang="en-US" sz="130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640080">
                <a:tc>
                  <a:txBody>
                    <a:bodyPr/>
                    <a:lstStyle/>
                    <a:p>
                      <a:pPr algn="l" indent="0" marL="0">
                        <a:buNone/>
                      </a:pPr>
                      <a:r>
                        <a:rPr lang="en-US" sz="1300" b="1" dirty="0">
                          <a:solidFill>
                            <a:srgbClr val="1A1A2E"/>
                          </a:solidFill>
                          <a:latin typeface="Segoe UI" pitchFamily="34" charset="0"/>
                          <a:ea typeface="Segoe UI" pitchFamily="34" charset="-122"/>
                          <a:cs typeface="Segoe UI" pitchFamily="34" charset="-120"/>
                        </a:rPr>
                        <a:t>Prod (ahsa-fabric-prod)</a:t>
                      </a:r>
                      <a:endParaRPr lang="en-US" sz="130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8F1F5"/>
                    </a:solidFill>
                  </a:tcPr>
                </a:tc>
                <a:tc>
                  <a:txBody>
                    <a:bodyPr/>
                    <a:lstStyle/>
                    <a:p>
                      <a:pPr algn="l" indent="0" marL="0">
                        <a:buNone/>
                      </a:pPr>
                      <a:r>
                        <a:rPr lang="en-US" sz="1300" dirty="0">
                          <a:solidFill>
                            <a:srgbClr val="1A1A2E"/>
                          </a:solidFill>
                          <a:latin typeface="Segoe UI" pitchFamily="34" charset="0"/>
                          <a:ea typeface="Segoe UI" pitchFamily="34" charset="-122"/>
                          <a:cs typeface="Segoe UI" pitchFamily="34" charset="-120"/>
                        </a:rPr>
                        <a:t>No</a:t>
                      </a:r>
                      <a:endParaRPr lang="en-US" sz="130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8F1F5"/>
                    </a:solidFill>
                  </a:tcPr>
                </a:tc>
                <a:tc>
                  <a:txBody>
                    <a:bodyPr/>
                    <a:lstStyle/>
                    <a:p>
                      <a:pPr algn="l" indent="0" marL="0">
                        <a:buNone/>
                      </a:pPr>
                      <a:r>
                        <a:rPr lang="en-US" sz="1300" dirty="0">
                          <a:solidFill>
                            <a:srgbClr val="1A1A2E"/>
                          </a:solidFill>
                          <a:latin typeface="Segoe UI" pitchFamily="34" charset="0"/>
                          <a:ea typeface="Segoe UI" pitchFamily="34" charset="-122"/>
                          <a:cs typeface="Segoe UI" pitchFamily="34" charset="-120"/>
                        </a:rPr>
                        <a:t>GitHub Actions on merge to `main` — gated by AHSA reviewer</a:t>
                      </a:r>
                      <a:endParaRPr lang="en-US" sz="1300" dirty="0">
                        <a:latin typeface="Segoe UI" charset="0"/>
                        <a:ea typeface="Segoe UI" charset="0"/>
                        <a:cs typeface="Segoe U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8F1F5"/>
                    </a:solidFill>
                  </a:tcPr>
                </a:tc>
              </a:tr>
            </a:tbl>
          </a:graphicData>
        </a:graphic>
      </p:graphicFrame>
      <p:sp>
        <p:nvSpPr>
          <p:cNvPr id="7" name="Shape 4"/>
          <p:cNvSpPr/>
          <p:nvPr/>
        </p:nvSpPr>
        <p:spPr>
          <a:xfrm>
            <a:off x="548640" y="5029200"/>
            <a:ext cx="3520440" cy="1280160"/>
          </a:xfrm>
          <a:prstGeom prst="rect">
            <a:avLst/>
          </a:prstGeom>
          <a:solidFill>
            <a:srgbClr val="FFFFFF"/>
          </a:solidFill>
          <a:ln w="12700">
            <a:solidFill>
              <a:srgbClr val="1C7293"/>
            </a:solidFill>
            <a:prstDash val="solid"/>
          </a:ln>
        </p:spPr>
      </p:sp>
      <p:sp>
        <p:nvSpPr>
          <p:cNvPr id="8" name="Shape 5"/>
          <p:cNvSpPr/>
          <p:nvPr/>
        </p:nvSpPr>
        <p:spPr>
          <a:xfrm>
            <a:off x="548640" y="5029200"/>
            <a:ext cx="109728" cy="1280160"/>
          </a:xfrm>
          <a:prstGeom prst="rect">
            <a:avLst/>
          </a:prstGeom>
          <a:solidFill>
            <a:srgbClr val="F2A341"/>
          </a:solidFill>
          <a:ln w="12700">
            <a:solidFill>
              <a:srgbClr val="F2A341"/>
            </a:solidFill>
            <a:prstDash val="solid"/>
          </a:ln>
        </p:spPr>
      </p:sp>
      <p:sp>
        <p:nvSpPr>
          <p:cNvPr id="9" name="Text 6"/>
          <p:cNvSpPr/>
          <p:nvPr/>
        </p:nvSpPr>
        <p:spPr>
          <a:xfrm>
            <a:off x="777240" y="5120640"/>
            <a:ext cx="3200400" cy="365760"/>
          </a:xfrm>
          <a:prstGeom prst="rect">
            <a:avLst/>
          </a:prstGeom>
          <a:noFill/>
          <a:ln/>
        </p:spPr>
        <p:txBody>
          <a:bodyPr wrap="square" rtlCol="0" anchor="ctr"/>
          <a:lstStyle/>
          <a:p>
            <a:pPr indent="0" marL="0">
              <a:buNone/>
            </a:pPr>
            <a:r>
              <a:rPr lang="en-US" sz="1400" b="1" dirty="0">
                <a:solidFill>
                  <a:srgbClr val="21295C"/>
                </a:solidFill>
                <a:latin typeface="Segoe UI" pitchFamily="34" charset="0"/>
                <a:ea typeface="Segoe UI" pitchFamily="34" charset="-122"/>
                <a:cs typeface="Segoe UI" pitchFamily="34" charset="-120"/>
              </a:rPr>
              <a:t>Auth</a:t>
            </a:r>
            <a:endParaRPr lang="en-US" sz="1400" dirty="0"/>
          </a:p>
        </p:txBody>
      </p:sp>
      <p:sp>
        <p:nvSpPr>
          <p:cNvPr id="10" name="Text 7"/>
          <p:cNvSpPr/>
          <p:nvPr/>
        </p:nvSpPr>
        <p:spPr>
          <a:xfrm>
            <a:off x="777240" y="5486400"/>
            <a:ext cx="3200400" cy="777240"/>
          </a:xfrm>
          <a:prstGeom prst="rect">
            <a:avLst/>
          </a:prstGeom>
          <a:noFill/>
          <a:ln/>
        </p:spPr>
        <p:txBody>
          <a:bodyPr wrap="square" rtlCol="0" anchor="ctr"/>
          <a:lstStyle/>
          <a:p>
            <a:pPr indent="0" marL="0">
              <a:buNone/>
            </a:pPr>
            <a:r>
              <a:rPr lang="en-US" sz="1100" dirty="0">
                <a:solidFill>
                  <a:srgbClr val="1A1A2E"/>
                </a:solidFill>
                <a:latin typeface="Segoe UI" pitchFamily="34" charset="0"/>
                <a:ea typeface="Segoe UI" pitchFamily="34" charset="-122"/>
                <a:cs typeface="Segoe UI" pitchFamily="34" charset="-120"/>
              </a:rPr>
              <a:t>AHSA's GitHub repo → OIDC → Entra SP (Workspace Admin on Test + Prod)</a:t>
            </a:r>
            <a:endParaRPr lang="en-US" sz="1100" dirty="0"/>
          </a:p>
        </p:txBody>
      </p:sp>
      <p:sp>
        <p:nvSpPr>
          <p:cNvPr id="11" name="Shape 8"/>
          <p:cNvSpPr/>
          <p:nvPr/>
        </p:nvSpPr>
        <p:spPr>
          <a:xfrm>
            <a:off x="4251960" y="5029200"/>
            <a:ext cx="3520440" cy="1280160"/>
          </a:xfrm>
          <a:prstGeom prst="rect">
            <a:avLst/>
          </a:prstGeom>
          <a:solidFill>
            <a:srgbClr val="FFFFFF"/>
          </a:solidFill>
          <a:ln w="12700">
            <a:solidFill>
              <a:srgbClr val="1C7293"/>
            </a:solidFill>
            <a:prstDash val="solid"/>
          </a:ln>
        </p:spPr>
      </p:sp>
      <p:sp>
        <p:nvSpPr>
          <p:cNvPr id="12" name="Shape 9"/>
          <p:cNvSpPr/>
          <p:nvPr/>
        </p:nvSpPr>
        <p:spPr>
          <a:xfrm>
            <a:off x="4251960" y="5029200"/>
            <a:ext cx="109728" cy="1280160"/>
          </a:xfrm>
          <a:prstGeom prst="rect">
            <a:avLst/>
          </a:prstGeom>
          <a:solidFill>
            <a:srgbClr val="F2A341"/>
          </a:solidFill>
          <a:ln w="12700">
            <a:solidFill>
              <a:srgbClr val="F2A341"/>
            </a:solidFill>
            <a:prstDash val="solid"/>
          </a:ln>
        </p:spPr>
      </p:sp>
      <p:sp>
        <p:nvSpPr>
          <p:cNvPr id="13" name="Text 10"/>
          <p:cNvSpPr/>
          <p:nvPr/>
        </p:nvSpPr>
        <p:spPr>
          <a:xfrm>
            <a:off x="4480560" y="5120640"/>
            <a:ext cx="3200400" cy="365760"/>
          </a:xfrm>
          <a:prstGeom prst="rect">
            <a:avLst/>
          </a:prstGeom>
          <a:noFill/>
          <a:ln/>
        </p:spPr>
        <p:txBody>
          <a:bodyPr wrap="square" rtlCol="0" anchor="ctr"/>
          <a:lstStyle/>
          <a:p>
            <a:pPr indent="0" marL="0">
              <a:buNone/>
            </a:pPr>
            <a:r>
              <a:rPr lang="en-US" sz="1400" b="1" dirty="0">
                <a:solidFill>
                  <a:srgbClr val="21295C"/>
                </a:solidFill>
                <a:latin typeface="Segoe UI" pitchFamily="34" charset="0"/>
                <a:ea typeface="Segoe UI" pitchFamily="34" charset="-122"/>
                <a:cs typeface="Segoe UI" pitchFamily="34" charset="-120"/>
              </a:rPr>
              <a:t>Capacity</a:t>
            </a:r>
            <a:endParaRPr lang="en-US" sz="1400" dirty="0"/>
          </a:p>
        </p:txBody>
      </p:sp>
      <p:sp>
        <p:nvSpPr>
          <p:cNvPr id="14" name="Text 11"/>
          <p:cNvSpPr/>
          <p:nvPr/>
        </p:nvSpPr>
        <p:spPr>
          <a:xfrm>
            <a:off x="4480560" y="5486400"/>
            <a:ext cx="3200400" cy="777240"/>
          </a:xfrm>
          <a:prstGeom prst="rect">
            <a:avLst/>
          </a:prstGeom>
          <a:noFill/>
          <a:ln/>
        </p:spPr>
        <p:txBody>
          <a:bodyPr wrap="square" rtlCol="0" anchor="ctr"/>
          <a:lstStyle/>
          <a:p>
            <a:pPr indent="0" marL="0">
              <a:buNone/>
            </a:pPr>
            <a:r>
              <a:rPr lang="en-US" sz="1100" dirty="0">
                <a:solidFill>
                  <a:srgbClr val="1A1A2E"/>
                </a:solidFill>
                <a:latin typeface="Segoe UI" pitchFamily="34" charset="0"/>
                <a:ea typeface="Segoe UI" pitchFamily="34" charset="-122"/>
                <a:cs typeface="Segoe UI" pitchFamily="34" charset="-120"/>
              </a:rPr>
              <a:t>One shared F-SKU capacity for all 3 AHSA workspaces — simple cost story</a:t>
            </a:r>
            <a:endParaRPr lang="en-US" sz="1100" dirty="0"/>
          </a:p>
        </p:txBody>
      </p:sp>
      <p:sp>
        <p:nvSpPr>
          <p:cNvPr id="15" name="Shape 12"/>
          <p:cNvSpPr/>
          <p:nvPr/>
        </p:nvSpPr>
        <p:spPr>
          <a:xfrm>
            <a:off x="7955280" y="5029200"/>
            <a:ext cx="3520440" cy="1280160"/>
          </a:xfrm>
          <a:prstGeom prst="rect">
            <a:avLst/>
          </a:prstGeom>
          <a:solidFill>
            <a:srgbClr val="FFFFFF"/>
          </a:solidFill>
          <a:ln w="12700">
            <a:solidFill>
              <a:srgbClr val="1C7293"/>
            </a:solidFill>
            <a:prstDash val="solid"/>
          </a:ln>
        </p:spPr>
      </p:sp>
      <p:sp>
        <p:nvSpPr>
          <p:cNvPr id="16" name="Shape 13"/>
          <p:cNvSpPr/>
          <p:nvPr/>
        </p:nvSpPr>
        <p:spPr>
          <a:xfrm>
            <a:off x="7955280" y="5029200"/>
            <a:ext cx="109728" cy="1280160"/>
          </a:xfrm>
          <a:prstGeom prst="rect">
            <a:avLst/>
          </a:prstGeom>
          <a:solidFill>
            <a:srgbClr val="F2A341"/>
          </a:solidFill>
          <a:ln w="12700">
            <a:solidFill>
              <a:srgbClr val="F2A341"/>
            </a:solidFill>
            <a:prstDash val="solid"/>
          </a:ln>
        </p:spPr>
      </p:sp>
      <p:sp>
        <p:nvSpPr>
          <p:cNvPr id="17" name="Text 14"/>
          <p:cNvSpPr/>
          <p:nvPr/>
        </p:nvSpPr>
        <p:spPr>
          <a:xfrm>
            <a:off x="8183880" y="5120640"/>
            <a:ext cx="3200400" cy="365760"/>
          </a:xfrm>
          <a:prstGeom prst="rect">
            <a:avLst/>
          </a:prstGeom>
          <a:noFill/>
          <a:ln/>
        </p:spPr>
        <p:txBody>
          <a:bodyPr wrap="square" rtlCol="0" anchor="ctr"/>
          <a:lstStyle/>
          <a:p>
            <a:pPr indent="0" marL="0">
              <a:buNone/>
            </a:pPr>
            <a:r>
              <a:rPr lang="en-US" sz="1400" b="1" dirty="0">
                <a:solidFill>
                  <a:srgbClr val="21295C"/>
                </a:solidFill>
                <a:latin typeface="Segoe UI" pitchFamily="34" charset="0"/>
                <a:ea typeface="Segoe UI" pitchFamily="34" charset="-122"/>
                <a:cs typeface="Segoe UI" pitchFamily="34" charset="-120"/>
              </a:rPr>
              <a:t>Per-dev isolation</a:t>
            </a:r>
            <a:endParaRPr lang="en-US" sz="1400" dirty="0"/>
          </a:p>
        </p:txBody>
      </p:sp>
      <p:sp>
        <p:nvSpPr>
          <p:cNvPr id="18" name="Text 15"/>
          <p:cNvSpPr/>
          <p:nvPr/>
        </p:nvSpPr>
        <p:spPr>
          <a:xfrm>
            <a:off x="8183880" y="5486400"/>
            <a:ext cx="3200400" cy="777240"/>
          </a:xfrm>
          <a:prstGeom prst="rect">
            <a:avLst/>
          </a:prstGeom>
          <a:noFill/>
          <a:ln/>
        </p:spPr>
        <p:txBody>
          <a:bodyPr wrap="square" rtlCol="0" anchor="ctr"/>
          <a:lstStyle/>
          <a:p>
            <a:pPr indent="0" marL="0">
              <a:buNone/>
            </a:pPr>
            <a:r>
              <a:rPr lang="en-US" sz="1100" dirty="0">
                <a:solidFill>
                  <a:srgbClr val="1A1A2E"/>
                </a:solidFill>
                <a:latin typeface="Segoe UI" pitchFamily="34" charset="0"/>
                <a:ea typeface="Segoe UI" pitchFamily="34" charset="-122"/>
                <a:cs typeface="Segoe UI" pitchFamily="34" charset="-120"/>
              </a:rPr>
              <a:t>Optional: each AHSA engineer gets a private feature workspace</a:t>
            </a:r>
            <a:endParaRPr lang="en-US" sz="1100" dirty="0"/>
          </a:p>
        </p:txBody>
      </p:sp>
      <p:sp>
        <p:nvSpPr>
          <p:cNvPr id="20" name="Shape 16"/>
          <p:cNvSpPr/>
          <p:nvPr/>
        </p:nvSpPr>
        <p:spPr>
          <a:xfrm>
            <a:off x="0" y="6537960"/>
            <a:ext cx="12161520" cy="320040"/>
          </a:xfrm>
          <a:prstGeom prst="rect">
            <a:avLst/>
          </a:prstGeom>
          <a:solidFill>
            <a:srgbClr val="21295C"/>
          </a:solidFill>
          <a:ln w="12700">
            <a:solidFill>
              <a:srgbClr val="21295C"/>
            </a:solidFill>
            <a:prstDash val="solid"/>
          </a:ln>
        </p:spPr>
      </p:sp>
      <p:sp>
        <p:nvSpPr>
          <p:cNvPr id="21" name="Text 17"/>
          <p:cNvSpPr/>
          <p:nvPr/>
        </p:nvSpPr>
        <p:spPr>
          <a:xfrm>
            <a:off x="365760" y="6537960"/>
            <a:ext cx="7315200" cy="320040"/>
          </a:xfrm>
          <a:prstGeom prst="rect">
            <a:avLst/>
          </a:prstGeom>
          <a:noFill/>
          <a:ln/>
        </p:spPr>
        <p:txBody>
          <a:bodyPr wrap="square" rtlCol="0" anchor="ctr"/>
          <a:lstStyle/>
          <a:p>
            <a:pPr indent="0" marL="0">
              <a:buNone/>
            </a:pPr>
            <a:r>
              <a:rPr lang="en-US" sz="1000" dirty="0">
                <a:solidFill>
                  <a:srgbClr val="E8F1F5"/>
                </a:solidFill>
                <a:latin typeface="Segoe UI" pitchFamily="34" charset="0"/>
                <a:ea typeface="Segoe UI" pitchFamily="34" charset="-122"/>
                <a:cs typeface="Segoe UI" pitchFamily="34" charset="-120"/>
              </a:rPr>
              <a:t>Fabric CI/CD from GitHub  ·  Prepared for AHSA</a:t>
            </a:r>
            <a:endParaRPr lang="en-US" sz="1000" dirty="0"/>
          </a:p>
        </p:txBody>
      </p:sp>
      <p:sp>
        <p:nvSpPr>
          <p:cNvPr id="22" name="Text 18"/>
          <p:cNvSpPr/>
          <p:nvPr/>
        </p:nvSpPr>
        <p:spPr>
          <a:xfrm>
            <a:off x="11430000" y="6537960"/>
            <a:ext cx="365760" cy="320040"/>
          </a:xfrm>
          <a:prstGeom prst="rect">
            <a:avLst/>
          </a:prstGeom>
          <a:noFill/>
          <a:ln/>
        </p:spPr>
        <p:txBody>
          <a:bodyPr wrap="square" rtlCol="0" anchor="ctr"/>
          <a:lstStyle/>
          <a:p>
            <a:pPr algn="r" indent="0" marL="0">
              <a:buNone/>
            </a:pPr>
            <a:r>
              <a:rPr lang="en-US" sz="1000" dirty="0">
                <a:solidFill>
                  <a:srgbClr val="E8F1F5"/>
                </a:solidFill>
                <a:latin typeface="Segoe UI" pitchFamily="34" charset="0"/>
                <a:ea typeface="Segoe UI" pitchFamily="34" charset="-122"/>
                <a:cs typeface="Segoe U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537960"/>
          </a:xfrm>
          <a:prstGeom prst="rect">
            <a:avLst/>
          </a:prstGeom>
          <a:solidFill>
            <a:srgbClr val="F2A341"/>
          </a:solidFill>
          <a:ln w="12700">
            <a:solidFill>
              <a:srgbClr val="F2A341"/>
            </a:solidFill>
            <a:prstDash val="solid"/>
          </a:ln>
        </p:spPr>
      </p:sp>
      <p:sp>
        <p:nvSpPr>
          <p:cNvPr id="3" name="Text 1"/>
          <p:cNvSpPr/>
          <p:nvPr/>
        </p:nvSpPr>
        <p:spPr>
          <a:xfrm>
            <a:off x="548640" y="411480"/>
            <a:ext cx="10972800" cy="320040"/>
          </a:xfrm>
          <a:prstGeom prst="rect">
            <a:avLst/>
          </a:prstGeom>
          <a:noFill/>
          <a:ln/>
        </p:spPr>
        <p:txBody>
          <a:bodyPr wrap="square" rtlCol="0" anchor="ctr"/>
          <a:lstStyle/>
          <a:p>
            <a:pPr indent="0" marL="0">
              <a:buNone/>
            </a:pPr>
            <a:r>
              <a:rPr lang="en-US" sz="1100" b="1" spc="400" kern="0" dirty="0">
                <a:solidFill>
                  <a:srgbClr val="1C7293"/>
                </a:solidFill>
                <a:latin typeface="Segoe UI" pitchFamily="34" charset="0"/>
                <a:ea typeface="Segoe UI" pitchFamily="34" charset="-122"/>
                <a:cs typeface="Segoe UI" pitchFamily="34" charset="-120"/>
              </a:rPr>
              <a:t>PROMOTION FLOW</a:t>
            </a:r>
            <a:endParaRPr lang="en-US" sz="1100" dirty="0"/>
          </a:p>
        </p:txBody>
      </p:sp>
      <p:sp>
        <p:nvSpPr>
          <p:cNvPr id="4" name="Text 2"/>
          <p:cNvSpPr/>
          <p:nvPr/>
        </p:nvSpPr>
        <p:spPr>
          <a:xfrm>
            <a:off x="548640" y="731520"/>
            <a:ext cx="10972800" cy="822960"/>
          </a:xfrm>
          <a:prstGeom prst="rect">
            <a:avLst/>
          </a:prstGeom>
          <a:noFill/>
          <a:ln/>
        </p:spPr>
        <p:txBody>
          <a:bodyPr wrap="square" rtlCol="0" anchor="ctr"/>
          <a:lstStyle/>
          <a:p>
            <a:pPr indent="0" marL="0">
              <a:buNone/>
            </a:pPr>
            <a:r>
              <a:rPr lang="en-US" sz="3200" b="1" dirty="0">
                <a:solidFill>
                  <a:srgbClr val="21295C"/>
                </a:solidFill>
                <a:latin typeface="Segoe UI" pitchFamily="34" charset="0"/>
                <a:ea typeface="Segoe UI" pitchFamily="34" charset="-122"/>
                <a:cs typeface="Segoe UI" pitchFamily="34" charset="-120"/>
              </a:rPr>
              <a:t>How a change moves through AHSA's environments</a:t>
            </a:r>
            <a:endParaRPr lang="en-US" sz="3200" dirty="0"/>
          </a:p>
        </p:txBody>
      </p:sp>
      <p:sp>
        <p:nvSpPr>
          <p:cNvPr id="5" name="Shape 3"/>
          <p:cNvSpPr/>
          <p:nvPr/>
        </p:nvSpPr>
        <p:spPr>
          <a:xfrm>
            <a:off x="548640" y="1600200"/>
            <a:ext cx="1097280" cy="0"/>
          </a:xfrm>
          <a:prstGeom prst="line">
            <a:avLst/>
          </a:prstGeom>
          <a:noFill/>
          <a:ln w="38100">
            <a:solidFill>
              <a:srgbClr val="F2A341"/>
            </a:solidFill>
            <a:prstDash val="solid"/>
          </a:ln>
        </p:spPr>
      </p:sp>
      <p:sp>
        <p:nvSpPr>
          <p:cNvPr id="6" name="Shape 4"/>
          <p:cNvSpPr/>
          <p:nvPr/>
        </p:nvSpPr>
        <p:spPr>
          <a:xfrm>
            <a:off x="548640" y="2286000"/>
            <a:ext cx="2468880" cy="1463040"/>
          </a:xfrm>
          <a:prstGeom prst="roundRect">
            <a:avLst>
              <a:gd name="adj" fmla="val 5000"/>
            </a:avLst>
          </a:prstGeom>
          <a:solidFill>
            <a:srgbClr val="566573"/>
          </a:solidFill>
          <a:ln w="12700">
            <a:solidFill>
              <a:srgbClr val="566573"/>
            </a:solidFill>
            <a:prstDash val="solid"/>
          </a:ln>
          <a:effectLst>
            <a:outerShdw sx="100000" sy="100000" kx="0" ky="0" algn="bl" rotWithShape="0" blurRad="76200" dist="25400" dir="5400000">
              <a:srgbClr val="000000">
                <a:alpha val="15000"/>
              </a:srgbClr>
            </a:outerShdw>
          </a:effectLst>
        </p:spPr>
      </p:sp>
      <p:sp>
        <p:nvSpPr>
          <p:cNvPr id="7" name="Text 5"/>
          <p:cNvSpPr/>
          <p:nvPr/>
        </p:nvSpPr>
        <p:spPr>
          <a:xfrm>
            <a:off x="548640" y="2468880"/>
            <a:ext cx="2468880" cy="548640"/>
          </a:xfrm>
          <a:prstGeom prst="rect">
            <a:avLst/>
          </a:prstGeom>
          <a:noFill/>
          <a:ln/>
        </p:spPr>
        <p:txBody>
          <a:bodyPr wrap="square" rtlCol="0" anchor="ctr"/>
          <a:lstStyle/>
          <a:p>
            <a:pPr algn="ctr" indent="0" marL="0">
              <a:buNone/>
            </a:pPr>
            <a:r>
              <a:rPr lang="en-US" sz="2200" b="1" dirty="0">
                <a:solidFill>
                  <a:srgbClr val="FFFFFF"/>
                </a:solidFill>
                <a:latin typeface="Consolas" pitchFamily="34" charset="0"/>
                <a:ea typeface="Consolas" pitchFamily="34" charset="-122"/>
                <a:cs typeface="Consolas" pitchFamily="34" charset="-120"/>
              </a:rPr>
              <a:t>feature/*</a:t>
            </a:r>
            <a:endParaRPr lang="en-US" sz="2200" dirty="0"/>
          </a:p>
        </p:txBody>
      </p:sp>
      <p:sp>
        <p:nvSpPr>
          <p:cNvPr id="8" name="Text 6"/>
          <p:cNvSpPr/>
          <p:nvPr/>
        </p:nvSpPr>
        <p:spPr>
          <a:xfrm>
            <a:off x="548640" y="3063240"/>
            <a:ext cx="2468880" cy="365760"/>
          </a:xfrm>
          <a:prstGeom prst="rect">
            <a:avLst/>
          </a:prstGeom>
          <a:noFill/>
          <a:ln/>
        </p:spPr>
        <p:txBody>
          <a:bodyPr wrap="square" rtlCol="0" anchor="ctr"/>
          <a:lstStyle/>
          <a:p>
            <a:pPr algn="ctr" indent="0" marL="0">
              <a:buNone/>
            </a:pPr>
            <a:r>
              <a:rPr lang="en-US" sz="1200" i="1" dirty="0">
                <a:solidFill>
                  <a:srgbClr val="E8F1F5"/>
                </a:solidFill>
                <a:latin typeface="Segoe UI" pitchFamily="34" charset="0"/>
                <a:ea typeface="Segoe UI" pitchFamily="34" charset="-122"/>
                <a:cs typeface="Segoe UI" pitchFamily="34" charset="-120"/>
              </a:rPr>
              <a:t>AHSA dev branch</a:t>
            </a:r>
            <a:endParaRPr lang="en-US" sz="1200" dirty="0"/>
          </a:p>
        </p:txBody>
      </p:sp>
      <p:sp>
        <p:nvSpPr>
          <p:cNvPr id="9" name="Text 7"/>
          <p:cNvSpPr/>
          <p:nvPr/>
        </p:nvSpPr>
        <p:spPr>
          <a:xfrm>
            <a:off x="457200" y="3977640"/>
            <a:ext cx="2651760" cy="640080"/>
          </a:xfrm>
          <a:prstGeom prst="rect">
            <a:avLst/>
          </a:prstGeom>
          <a:noFill/>
          <a:ln/>
        </p:spPr>
        <p:txBody>
          <a:bodyPr wrap="square" rtlCol="0" anchor="ctr"/>
          <a:lstStyle/>
          <a:p>
            <a:pPr algn="ctr" indent="0" marL="0">
              <a:buNone/>
            </a:pPr>
            <a:r>
              <a:rPr lang="en-US" sz="1100" dirty="0">
                <a:solidFill>
                  <a:srgbClr val="1A1A2E"/>
                </a:solidFill>
                <a:latin typeface="Segoe UI" pitchFamily="34" charset="0"/>
                <a:ea typeface="Segoe UI" pitchFamily="34" charset="-122"/>
                <a:cs typeface="Segoe UI" pitchFamily="34" charset="-120"/>
              </a:rPr>
              <a:t>(per-dev workspace, optional)</a:t>
            </a:r>
            <a:endParaRPr lang="en-US" sz="1100" dirty="0"/>
          </a:p>
        </p:txBody>
      </p:sp>
      <p:sp>
        <p:nvSpPr>
          <p:cNvPr id="10" name="Shape 8"/>
          <p:cNvSpPr/>
          <p:nvPr/>
        </p:nvSpPr>
        <p:spPr>
          <a:xfrm rot="5400000">
            <a:off x="3063240" y="2880360"/>
            <a:ext cx="320040" cy="274320"/>
          </a:xfrm>
          <a:prstGeom prst="rtTriangle">
            <a:avLst/>
          </a:prstGeom>
          <a:solidFill>
            <a:srgbClr val="F2A341"/>
          </a:solidFill>
          <a:ln w="12700">
            <a:solidFill>
              <a:srgbClr val="F2A341"/>
            </a:solidFill>
            <a:prstDash val="solid"/>
          </a:ln>
        </p:spPr>
      </p:sp>
      <p:sp>
        <p:nvSpPr>
          <p:cNvPr id="11" name="Shape 9"/>
          <p:cNvSpPr/>
          <p:nvPr/>
        </p:nvSpPr>
        <p:spPr>
          <a:xfrm>
            <a:off x="3429000" y="2286000"/>
            <a:ext cx="2468880" cy="1463040"/>
          </a:xfrm>
          <a:prstGeom prst="roundRect">
            <a:avLst>
              <a:gd name="adj" fmla="val 5000"/>
            </a:avLst>
          </a:prstGeom>
          <a:solidFill>
            <a:srgbClr val="1C7293"/>
          </a:solidFill>
          <a:ln w="12700">
            <a:solidFill>
              <a:srgbClr val="1C7293"/>
            </a:solidFill>
            <a:prstDash val="solid"/>
          </a:ln>
          <a:effectLst>
            <a:outerShdw sx="100000" sy="100000" kx="0" ky="0" algn="bl" rotWithShape="0" blurRad="76200" dist="25400" dir="5400000">
              <a:srgbClr val="000000">
                <a:alpha val="15000"/>
              </a:srgbClr>
            </a:outerShdw>
          </a:effectLst>
        </p:spPr>
      </p:sp>
      <p:sp>
        <p:nvSpPr>
          <p:cNvPr id="12" name="Text 10"/>
          <p:cNvSpPr/>
          <p:nvPr/>
        </p:nvSpPr>
        <p:spPr>
          <a:xfrm>
            <a:off x="3429000" y="2468880"/>
            <a:ext cx="2468880" cy="548640"/>
          </a:xfrm>
          <a:prstGeom prst="rect">
            <a:avLst/>
          </a:prstGeom>
          <a:noFill/>
          <a:ln/>
        </p:spPr>
        <p:txBody>
          <a:bodyPr wrap="square" rtlCol="0" anchor="ctr"/>
          <a:lstStyle/>
          <a:p>
            <a:pPr algn="ctr" indent="0" marL="0">
              <a:buNone/>
            </a:pPr>
            <a:r>
              <a:rPr lang="en-US" sz="2200" b="1" dirty="0">
                <a:solidFill>
                  <a:srgbClr val="FFFFFF"/>
                </a:solidFill>
                <a:latin typeface="Consolas" pitchFamily="34" charset="0"/>
                <a:ea typeface="Consolas" pitchFamily="34" charset="-122"/>
                <a:cs typeface="Consolas" pitchFamily="34" charset="-120"/>
              </a:rPr>
              <a:t>dev</a:t>
            </a:r>
            <a:endParaRPr lang="en-US" sz="2200" dirty="0"/>
          </a:p>
        </p:txBody>
      </p:sp>
      <p:sp>
        <p:nvSpPr>
          <p:cNvPr id="13" name="Text 11"/>
          <p:cNvSpPr/>
          <p:nvPr/>
        </p:nvSpPr>
        <p:spPr>
          <a:xfrm>
            <a:off x="3429000" y="3063240"/>
            <a:ext cx="2468880" cy="365760"/>
          </a:xfrm>
          <a:prstGeom prst="rect">
            <a:avLst/>
          </a:prstGeom>
          <a:noFill/>
          <a:ln/>
        </p:spPr>
        <p:txBody>
          <a:bodyPr wrap="square" rtlCol="0" anchor="ctr"/>
          <a:lstStyle/>
          <a:p>
            <a:pPr algn="ctr" indent="0" marL="0">
              <a:buNone/>
            </a:pPr>
            <a:r>
              <a:rPr lang="en-US" sz="1200" i="1" dirty="0">
                <a:solidFill>
                  <a:srgbClr val="E8F1F5"/>
                </a:solidFill>
                <a:latin typeface="Segoe UI" pitchFamily="34" charset="0"/>
                <a:ea typeface="Segoe UI" pitchFamily="34" charset="-122"/>
                <a:cs typeface="Segoe UI" pitchFamily="34" charset="-120"/>
              </a:rPr>
              <a:t>PR + AHSA review</a:t>
            </a:r>
            <a:endParaRPr lang="en-US" sz="1200" dirty="0"/>
          </a:p>
        </p:txBody>
      </p:sp>
      <p:sp>
        <p:nvSpPr>
          <p:cNvPr id="14" name="Text 12"/>
          <p:cNvSpPr/>
          <p:nvPr/>
        </p:nvSpPr>
        <p:spPr>
          <a:xfrm>
            <a:off x="3337560" y="3977640"/>
            <a:ext cx="2651760" cy="640080"/>
          </a:xfrm>
          <a:prstGeom prst="rect">
            <a:avLst/>
          </a:prstGeom>
          <a:noFill/>
          <a:ln/>
        </p:spPr>
        <p:txBody>
          <a:bodyPr wrap="square" rtlCol="0" anchor="ctr"/>
          <a:lstStyle/>
          <a:p>
            <a:pPr algn="ctr" indent="0" marL="0">
              <a:buNone/>
            </a:pPr>
            <a:r>
              <a:rPr lang="en-US" sz="1100" dirty="0">
                <a:solidFill>
                  <a:srgbClr val="1A1A2E"/>
                </a:solidFill>
                <a:latin typeface="Segoe UI" pitchFamily="34" charset="0"/>
                <a:ea typeface="Segoe UI" pitchFamily="34" charset="-122"/>
                <a:cs typeface="Segoe UI" pitchFamily="34" charset="-120"/>
              </a:rPr>
              <a:t>ahsa-fabric-dev · Git-connected</a:t>
            </a:r>
            <a:endParaRPr lang="en-US" sz="1100" dirty="0"/>
          </a:p>
        </p:txBody>
      </p:sp>
      <p:sp>
        <p:nvSpPr>
          <p:cNvPr id="15" name="Shape 13"/>
          <p:cNvSpPr/>
          <p:nvPr/>
        </p:nvSpPr>
        <p:spPr>
          <a:xfrm rot="5400000">
            <a:off x="5943600" y="2880360"/>
            <a:ext cx="320040" cy="274320"/>
          </a:xfrm>
          <a:prstGeom prst="rtTriangle">
            <a:avLst/>
          </a:prstGeom>
          <a:solidFill>
            <a:srgbClr val="F2A341"/>
          </a:solidFill>
          <a:ln w="12700">
            <a:solidFill>
              <a:srgbClr val="F2A341"/>
            </a:solidFill>
            <a:prstDash val="solid"/>
          </a:ln>
        </p:spPr>
      </p:sp>
      <p:sp>
        <p:nvSpPr>
          <p:cNvPr id="16" name="Shape 14"/>
          <p:cNvSpPr/>
          <p:nvPr/>
        </p:nvSpPr>
        <p:spPr>
          <a:xfrm>
            <a:off x="6309360" y="2286000"/>
            <a:ext cx="2468880" cy="1463040"/>
          </a:xfrm>
          <a:prstGeom prst="roundRect">
            <a:avLst>
              <a:gd name="adj" fmla="val 5000"/>
            </a:avLst>
          </a:prstGeom>
          <a:solidFill>
            <a:srgbClr val="065A82"/>
          </a:solidFill>
          <a:ln w="12700">
            <a:solidFill>
              <a:srgbClr val="065A82"/>
            </a:solidFill>
            <a:prstDash val="solid"/>
          </a:ln>
          <a:effectLst>
            <a:outerShdw sx="100000" sy="100000" kx="0" ky="0" algn="bl" rotWithShape="0" blurRad="76200" dist="25400" dir="5400000">
              <a:srgbClr val="000000">
                <a:alpha val="15000"/>
              </a:srgbClr>
            </a:outerShdw>
          </a:effectLst>
        </p:spPr>
      </p:sp>
      <p:sp>
        <p:nvSpPr>
          <p:cNvPr id="17" name="Text 15"/>
          <p:cNvSpPr/>
          <p:nvPr/>
        </p:nvSpPr>
        <p:spPr>
          <a:xfrm>
            <a:off x="6309360" y="2468880"/>
            <a:ext cx="2468880" cy="548640"/>
          </a:xfrm>
          <a:prstGeom prst="rect">
            <a:avLst/>
          </a:prstGeom>
          <a:noFill/>
          <a:ln/>
        </p:spPr>
        <p:txBody>
          <a:bodyPr wrap="square" rtlCol="0" anchor="ctr"/>
          <a:lstStyle/>
          <a:p>
            <a:pPr algn="ctr" indent="0" marL="0">
              <a:buNone/>
            </a:pPr>
            <a:r>
              <a:rPr lang="en-US" sz="2200" b="1" dirty="0">
                <a:solidFill>
                  <a:srgbClr val="FFFFFF"/>
                </a:solidFill>
                <a:latin typeface="Consolas" pitchFamily="34" charset="0"/>
                <a:ea typeface="Consolas" pitchFamily="34" charset="-122"/>
                <a:cs typeface="Consolas" pitchFamily="34" charset="-120"/>
              </a:rPr>
              <a:t>test</a:t>
            </a:r>
            <a:endParaRPr lang="en-US" sz="2200" dirty="0"/>
          </a:p>
        </p:txBody>
      </p:sp>
      <p:sp>
        <p:nvSpPr>
          <p:cNvPr id="18" name="Text 16"/>
          <p:cNvSpPr/>
          <p:nvPr/>
        </p:nvSpPr>
        <p:spPr>
          <a:xfrm>
            <a:off x="6309360" y="3063240"/>
            <a:ext cx="2468880" cy="365760"/>
          </a:xfrm>
          <a:prstGeom prst="rect">
            <a:avLst/>
          </a:prstGeom>
          <a:noFill/>
          <a:ln/>
        </p:spPr>
        <p:txBody>
          <a:bodyPr wrap="square" rtlCol="0" anchor="ctr"/>
          <a:lstStyle/>
          <a:p>
            <a:pPr algn="ctr" indent="0" marL="0">
              <a:buNone/>
            </a:pPr>
            <a:r>
              <a:rPr lang="en-US" sz="1200" i="1" dirty="0">
                <a:solidFill>
                  <a:srgbClr val="E8F1F5"/>
                </a:solidFill>
                <a:latin typeface="Segoe UI" pitchFamily="34" charset="0"/>
                <a:ea typeface="Segoe UI" pitchFamily="34" charset="-122"/>
                <a:cs typeface="Segoe UI" pitchFamily="34" charset="-120"/>
              </a:rPr>
              <a:t>PR merge</a:t>
            </a:r>
            <a:endParaRPr lang="en-US" sz="1200" dirty="0"/>
          </a:p>
        </p:txBody>
      </p:sp>
      <p:sp>
        <p:nvSpPr>
          <p:cNvPr id="19" name="Text 17"/>
          <p:cNvSpPr/>
          <p:nvPr/>
        </p:nvSpPr>
        <p:spPr>
          <a:xfrm>
            <a:off x="6217920" y="3977640"/>
            <a:ext cx="2651760" cy="640080"/>
          </a:xfrm>
          <a:prstGeom prst="rect">
            <a:avLst/>
          </a:prstGeom>
          <a:noFill/>
          <a:ln/>
        </p:spPr>
        <p:txBody>
          <a:bodyPr wrap="square" rtlCol="0" anchor="ctr"/>
          <a:lstStyle/>
          <a:p>
            <a:pPr algn="ctr" indent="0" marL="0">
              <a:buNone/>
            </a:pPr>
            <a:r>
              <a:rPr lang="en-US" sz="1100" dirty="0">
                <a:solidFill>
                  <a:srgbClr val="1A1A2E"/>
                </a:solidFill>
                <a:latin typeface="Segoe UI" pitchFamily="34" charset="0"/>
                <a:ea typeface="Segoe UI" pitchFamily="34" charset="-122"/>
                <a:cs typeface="Segoe UI" pitchFamily="34" charset="-120"/>
              </a:rPr>
              <a:t>ahsa-fabric-test · fabric-cicd</a:t>
            </a:r>
            <a:endParaRPr lang="en-US" sz="1100" dirty="0"/>
          </a:p>
        </p:txBody>
      </p:sp>
      <p:sp>
        <p:nvSpPr>
          <p:cNvPr id="20" name="Shape 18"/>
          <p:cNvSpPr/>
          <p:nvPr/>
        </p:nvSpPr>
        <p:spPr>
          <a:xfrm rot="5400000">
            <a:off x="8823960" y="2880360"/>
            <a:ext cx="320040" cy="274320"/>
          </a:xfrm>
          <a:prstGeom prst="rtTriangle">
            <a:avLst/>
          </a:prstGeom>
          <a:solidFill>
            <a:srgbClr val="F2A341"/>
          </a:solidFill>
          <a:ln w="12700">
            <a:solidFill>
              <a:srgbClr val="F2A341"/>
            </a:solidFill>
            <a:prstDash val="solid"/>
          </a:ln>
        </p:spPr>
      </p:sp>
      <p:sp>
        <p:nvSpPr>
          <p:cNvPr id="21" name="Shape 19"/>
          <p:cNvSpPr/>
          <p:nvPr/>
        </p:nvSpPr>
        <p:spPr>
          <a:xfrm>
            <a:off x="9189720" y="2286000"/>
            <a:ext cx="2468880" cy="1463040"/>
          </a:xfrm>
          <a:prstGeom prst="roundRect">
            <a:avLst>
              <a:gd name="adj" fmla="val 5000"/>
            </a:avLst>
          </a:prstGeom>
          <a:solidFill>
            <a:srgbClr val="21295C"/>
          </a:solidFill>
          <a:ln w="12700">
            <a:solidFill>
              <a:srgbClr val="21295C"/>
            </a:solidFill>
            <a:prstDash val="solid"/>
          </a:ln>
          <a:effectLst>
            <a:outerShdw sx="100000" sy="100000" kx="0" ky="0" algn="bl" rotWithShape="0" blurRad="76200" dist="25400" dir="5400000">
              <a:srgbClr val="000000">
                <a:alpha val="15000"/>
              </a:srgbClr>
            </a:outerShdw>
          </a:effectLst>
        </p:spPr>
      </p:sp>
      <p:sp>
        <p:nvSpPr>
          <p:cNvPr id="22" name="Text 20"/>
          <p:cNvSpPr/>
          <p:nvPr/>
        </p:nvSpPr>
        <p:spPr>
          <a:xfrm>
            <a:off x="9189720" y="2468880"/>
            <a:ext cx="2468880" cy="548640"/>
          </a:xfrm>
          <a:prstGeom prst="rect">
            <a:avLst/>
          </a:prstGeom>
          <a:noFill/>
          <a:ln/>
        </p:spPr>
        <p:txBody>
          <a:bodyPr wrap="square" rtlCol="0" anchor="ctr"/>
          <a:lstStyle/>
          <a:p>
            <a:pPr algn="ctr" indent="0" marL="0">
              <a:buNone/>
            </a:pPr>
            <a:r>
              <a:rPr lang="en-US" sz="2200" b="1" dirty="0">
                <a:solidFill>
                  <a:srgbClr val="FFFFFF"/>
                </a:solidFill>
                <a:latin typeface="Consolas" pitchFamily="34" charset="0"/>
                <a:ea typeface="Consolas" pitchFamily="34" charset="-122"/>
                <a:cs typeface="Consolas" pitchFamily="34" charset="-120"/>
              </a:rPr>
              <a:t>main</a:t>
            </a:r>
            <a:endParaRPr lang="en-US" sz="2200" dirty="0"/>
          </a:p>
        </p:txBody>
      </p:sp>
      <p:sp>
        <p:nvSpPr>
          <p:cNvPr id="23" name="Text 21"/>
          <p:cNvSpPr/>
          <p:nvPr/>
        </p:nvSpPr>
        <p:spPr>
          <a:xfrm>
            <a:off x="9189720" y="3063240"/>
            <a:ext cx="2468880" cy="365760"/>
          </a:xfrm>
          <a:prstGeom prst="rect">
            <a:avLst/>
          </a:prstGeom>
          <a:noFill/>
          <a:ln/>
        </p:spPr>
        <p:txBody>
          <a:bodyPr wrap="square" rtlCol="0" anchor="ctr"/>
          <a:lstStyle/>
          <a:p>
            <a:pPr algn="ctr" indent="0" marL="0">
              <a:buNone/>
            </a:pPr>
            <a:r>
              <a:rPr lang="en-US" sz="1200" i="1" dirty="0">
                <a:solidFill>
                  <a:srgbClr val="E8F1F5"/>
                </a:solidFill>
                <a:latin typeface="Segoe UI" pitchFamily="34" charset="0"/>
                <a:ea typeface="Segoe UI" pitchFamily="34" charset="-122"/>
                <a:cs typeface="Segoe UI" pitchFamily="34" charset="-120"/>
              </a:rPr>
              <a:t>PR + AHSA approval</a:t>
            </a:r>
            <a:endParaRPr lang="en-US" sz="1200" dirty="0"/>
          </a:p>
        </p:txBody>
      </p:sp>
      <p:sp>
        <p:nvSpPr>
          <p:cNvPr id="24" name="Text 22"/>
          <p:cNvSpPr/>
          <p:nvPr/>
        </p:nvSpPr>
        <p:spPr>
          <a:xfrm>
            <a:off x="9098280" y="3977640"/>
            <a:ext cx="2651760" cy="640080"/>
          </a:xfrm>
          <a:prstGeom prst="rect">
            <a:avLst/>
          </a:prstGeom>
          <a:noFill/>
          <a:ln/>
        </p:spPr>
        <p:txBody>
          <a:bodyPr wrap="square" rtlCol="0" anchor="ctr"/>
          <a:lstStyle/>
          <a:p>
            <a:pPr algn="ctr" indent="0" marL="0">
              <a:buNone/>
            </a:pPr>
            <a:r>
              <a:rPr lang="en-US" sz="1100" dirty="0">
                <a:solidFill>
                  <a:srgbClr val="1A1A2E"/>
                </a:solidFill>
                <a:latin typeface="Segoe UI" pitchFamily="34" charset="0"/>
                <a:ea typeface="Segoe UI" pitchFamily="34" charset="-122"/>
                <a:cs typeface="Segoe UI" pitchFamily="34" charset="-120"/>
              </a:rPr>
              <a:t>ahsa-fabric-prod · gated, 4-eyes</a:t>
            </a:r>
            <a:endParaRPr lang="en-US" sz="1100" dirty="0"/>
          </a:p>
        </p:txBody>
      </p:sp>
      <p:sp>
        <p:nvSpPr>
          <p:cNvPr id="25" name="Shape 23"/>
          <p:cNvSpPr/>
          <p:nvPr/>
        </p:nvSpPr>
        <p:spPr>
          <a:xfrm>
            <a:off x="548640" y="5486400"/>
            <a:ext cx="11064240" cy="822960"/>
          </a:xfrm>
          <a:prstGeom prst="rect">
            <a:avLst/>
          </a:prstGeom>
          <a:solidFill>
            <a:srgbClr val="E8F1F5"/>
          </a:solidFill>
          <a:ln w="12700">
            <a:solidFill>
              <a:srgbClr val="E8F1F5"/>
            </a:solidFill>
            <a:prstDash val="solid"/>
          </a:ln>
        </p:spPr>
      </p:sp>
      <p:sp>
        <p:nvSpPr>
          <p:cNvPr id="26" name="Text 24"/>
          <p:cNvSpPr/>
          <p:nvPr/>
        </p:nvSpPr>
        <p:spPr>
          <a:xfrm>
            <a:off x="731520" y="5486400"/>
            <a:ext cx="10698480" cy="822960"/>
          </a:xfrm>
          <a:prstGeom prst="rect">
            <a:avLst/>
          </a:prstGeom>
          <a:noFill/>
          <a:ln/>
        </p:spPr>
        <p:txBody>
          <a:bodyPr wrap="square" rtlCol="0" anchor="ctr"/>
          <a:lstStyle/>
          <a:p>
            <a:pPr indent="0" marL="0">
              <a:buNone/>
            </a:pPr>
            <a:r>
              <a:rPr lang="en-US" sz="1300" b="1" dirty="0">
                <a:solidFill>
                  <a:srgbClr val="21295C"/>
                </a:solidFill>
                <a:latin typeface="Segoe UI" pitchFamily="34" charset="0"/>
                <a:ea typeface="Segoe UI" pitchFamily="34" charset="-122"/>
                <a:cs typeface="Segoe UI" pitchFamily="34" charset="-120"/>
              </a:rPr>
              <a:t>Trunk-based · </a:t>
            </a:r>
            <a:pPr indent="0" marL="0">
              <a:buNone/>
            </a:pPr>
            <a:r>
              <a:rPr lang="en-US" sz="1300" dirty="0">
                <a:solidFill>
                  <a:srgbClr val="1A1A2E"/>
                </a:solidFill>
                <a:latin typeface="Segoe UI" pitchFamily="34" charset="0"/>
                <a:ea typeface="Segoe UI" pitchFamily="34" charset="-122"/>
                <a:cs typeface="Segoe UI" pitchFamily="34" charset="-120"/>
              </a:rPr>
              <a:t>short-lived feature branches · </a:t>
            </a:r>
            <a:pPr indent="0" marL="0">
              <a:buNone/>
            </a:pPr>
            <a:r>
              <a:rPr lang="en-US" sz="1300" dirty="0">
                <a:solidFill>
                  <a:srgbClr val="1A1A2E"/>
                </a:solidFill>
                <a:latin typeface="Segoe UI" pitchFamily="34" charset="0"/>
                <a:ea typeface="Segoe UI" pitchFamily="34" charset="-122"/>
                <a:cs typeface="Segoe UI" pitchFamily="34" charset="-120"/>
              </a:rPr>
              <a:t>branch protection on dev/test/main · </a:t>
            </a:r>
            <a:pPr indent="0" marL="0">
              <a:buNone/>
            </a:pPr>
            <a:r>
              <a:rPr lang="en-US" sz="1300" dirty="0">
                <a:solidFill>
                  <a:srgbClr val="1A1A2E"/>
                </a:solidFill>
                <a:latin typeface="Segoe UI" pitchFamily="34" charset="0"/>
                <a:ea typeface="Segoe UI" pitchFamily="34" charset="-122"/>
                <a:cs typeface="Segoe UI" pitchFamily="34" charset="-120"/>
              </a:rPr>
              <a:t>CODEOWNERS enforces review</a:t>
            </a:r>
            <a:endParaRPr lang="en-US" sz="1300" dirty="0"/>
          </a:p>
        </p:txBody>
      </p:sp>
      <p:sp>
        <p:nvSpPr>
          <p:cNvPr id="28" name="Shape 25"/>
          <p:cNvSpPr/>
          <p:nvPr/>
        </p:nvSpPr>
        <p:spPr>
          <a:xfrm>
            <a:off x="0" y="6537960"/>
            <a:ext cx="12161520" cy="320040"/>
          </a:xfrm>
          <a:prstGeom prst="rect">
            <a:avLst/>
          </a:prstGeom>
          <a:solidFill>
            <a:srgbClr val="21295C"/>
          </a:solidFill>
          <a:ln w="12700">
            <a:solidFill>
              <a:srgbClr val="21295C"/>
            </a:solidFill>
            <a:prstDash val="solid"/>
          </a:ln>
        </p:spPr>
      </p:sp>
      <p:sp>
        <p:nvSpPr>
          <p:cNvPr id="29" name="Text 26"/>
          <p:cNvSpPr/>
          <p:nvPr/>
        </p:nvSpPr>
        <p:spPr>
          <a:xfrm>
            <a:off x="365760" y="6537960"/>
            <a:ext cx="7315200" cy="320040"/>
          </a:xfrm>
          <a:prstGeom prst="rect">
            <a:avLst/>
          </a:prstGeom>
          <a:noFill/>
          <a:ln/>
        </p:spPr>
        <p:txBody>
          <a:bodyPr wrap="square" rtlCol="0" anchor="ctr"/>
          <a:lstStyle/>
          <a:p>
            <a:pPr indent="0" marL="0">
              <a:buNone/>
            </a:pPr>
            <a:r>
              <a:rPr lang="en-US" sz="1000" dirty="0">
                <a:solidFill>
                  <a:srgbClr val="E8F1F5"/>
                </a:solidFill>
                <a:latin typeface="Segoe UI" pitchFamily="34" charset="0"/>
                <a:ea typeface="Segoe UI" pitchFamily="34" charset="-122"/>
                <a:cs typeface="Segoe UI" pitchFamily="34" charset="-120"/>
              </a:rPr>
              <a:t>Fabric CI/CD from GitHub  ·  Prepared for AHSA</a:t>
            </a:r>
            <a:endParaRPr lang="en-US" sz="1000" dirty="0"/>
          </a:p>
        </p:txBody>
      </p:sp>
      <p:sp>
        <p:nvSpPr>
          <p:cNvPr id="30" name="Text 27"/>
          <p:cNvSpPr/>
          <p:nvPr/>
        </p:nvSpPr>
        <p:spPr>
          <a:xfrm>
            <a:off x="11430000" y="6537960"/>
            <a:ext cx="365760" cy="320040"/>
          </a:xfrm>
          <a:prstGeom prst="rect">
            <a:avLst/>
          </a:prstGeom>
          <a:noFill/>
          <a:ln/>
        </p:spPr>
        <p:txBody>
          <a:bodyPr wrap="square" rtlCol="0" anchor="ctr"/>
          <a:lstStyle/>
          <a:p>
            <a:pPr algn="r" indent="0" marL="0">
              <a:buNone/>
            </a:pPr>
            <a:r>
              <a:rPr lang="en-US" sz="1000" dirty="0">
                <a:solidFill>
                  <a:srgbClr val="E8F1F5"/>
                </a:solidFill>
                <a:latin typeface="Segoe UI" pitchFamily="34" charset="0"/>
                <a:ea typeface="Segoe UI" pitchFamily="34" charset="-122"/>
                <a:cs typeface="Segoe U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537960"/>
          </a:xfrm>
          <a:prstGeom prst="rect">
            <a:avLst/>
          </a:prstGeom>
          <a:solidFill>
            <a:srgbClr val="F2A341"/>
          </a:solidFill>
          <a:ln w="12700">
            <a:solidFill>
              <a:srgbClr val="F2A341"/>
            </a:solidFill>
            <a:prstDash val="solid"/>
          </a:ln>
        </p:spPr>
      </p:sp>
      <p:sp>
        <p:nvSpPr>
          <p:cNvPr id="3" name="Text 1"/>
          <p:cNvSpPr/>
          <p:nvPr/>
        </p:nvSpPr>
        <p:spPr>
          <a:xfrm>
            <a:off x="548640" y="411480"/>
            <a:ext cx="10972800" cy="320040"/>
          </a:xfrm>
          <a:prstGeom prst="rect">
            <a:avLst/>
          </a:prstGeom>
          <a:noFill/>
          <a:ln/>
        </p:spPr>
        <p:txBody>
          <a:bodyPr wrap="square" rtlCol="0" anchor="ctr"/>
          <a:lstStyle/>
          <a:p>
            <a:pPr indent="0" marL="0">
              <a:buNone/>
            </a:pPr>
            <a:r>
              <a:rPr lang="en-US" sz="1100" b="1" spc="400" kern="0" dirty="0">
                <a:solidFill>
                  <a:srgbClr val="1C7293"/>
                </a:solidFill>
                <a:latin typeface="Segoe UI" pitchFamily="34" charset="0"/>
                <a:ea typeface="Segoe UI" pitchFamily="34" charset="-122"/>
                <a:cs typeface="Segoe UI" pitchFamily="34" charset="-120"/>
              </a:rPr>
              <a:t>AUTHENTICATION</a:t>
            </a:r>
            <a:endParaRPr lang="en-US" sz="1100" dirty="0"/>
          </a:p>
        </p:txBody>
      </p:sp>
      <p:sp>
        <p:nvSpPr>
          <p:cNvPr id="4" name="Text 2"/>
          <p:cNvSpPr/>
          <p:nvPr/>
        </p:nvSpPr>
        <p:spPr>
          <a:xfrm>
            <a:off x="548640" y="731520"/>
            <a:ext cx="10972800" cy="822960"/>
          </a:xfrm>
          <a:prstGeom prst="rect">
            <a:avLst/>
          </a:prstGeom>
          <a:noFill/>
          <a:ln/>
        </p:spPr>
        <p:txBody>
          <a:bodyPr wrap="square" rtlCol="0" anchor="ctr"/>
          <a:lstStyle/>
          <a:p>
            <a:pPr indent="0" marL="0">
              <a:buNone/>
            </a:pPr>
            <a:r>
              <a:rPr lang="en-US" sz="3200" b="1" dirty="0">
                <a:solidFill>
                  <a:srgbClr val="21295C"/>
                </a:solidFill>
                <a:latin typeface="Segoe UI" pitchFamily="34" charset="0"/>
                <a:ea typeface="Segoe UI" pitchFamily="34" charset="-122"/>
                <a:cs typeface="Segoe UI" pitchFamily="34" charset="-120"/>
              </a:rPr>
              <a:t>AHSA's GitHub → Entra → Fabric. No secrets.</a:t>
            </a:r>
            <a:endParaRPr lang="en-US" sz="3200" dirty="0"/>
          </a:p>
        </p:txBody>
      </p:sp>
      <p:sp>
        <p:nvSpPr>
          <p:cNvPr id="5" name="Shape 3"/>
          <p:cNvSpPr/>
          <p:nvPr/>
        </p:nvSpPr>
        <p:spPr>
          <a:xfrm>
            <a:off x="548640" y="1600200"/>
            <a:ext cx="1097280" cy="0"/>
          </a:xfrm>
          <a:prstGeom prst="line">
            <a:avLst/>
          </a:prstGeom>
          <a:noFill/>
          <a:ln w="38100">
            <a:solidFill>
              <a:srgbClr val="F2A341"/>
            </a:solidFill>
            <a:prstDash val="solid"/>
          </a:ln>
        </p:spPr>
      </p:sp>
      <p:sp>
        <p:nvSpPr>
          <p:cNvPr id="6" name="Shape 4"/>
          <p:cNvSpPr/>
          <p:nvPr/>
        </p:nvSpPr>
        <p:spPr>
          <a:xfrm>
            <a:off x="548640" y="2194560"/>
            <a:ext cx="5760720" cy="1005840"/>
          </a:xfrm>
          <a:prstGeom prst="rect">
            <a:avLst/>
          </a:prstGeom>
          <a:solidFill>
            <a:srgbClr val="FFFFFF"/>
          </a:solidFill>
          <a:ln w="19050">
            <a:solidFill>
              <a:srgbClr val="1C7293"/>
            </a:solidFill>
            <a:prstDash val="solid"/>
          </a:ln>
        </p:spPr>
      </p:sp>
      <p:sp>
        <p:nvSpPr>
          <p:cNvPr id="7" name="Shape 5"/>
          <p:cNvSpPr/>
          <p:nvPr/>
        </p:nvSpPr>
        <p:spPr>
          <a:xfrm>
            <a:off x="731520" y="2423160"/>
            <a:ext cx="548640" cy="548640"/>
          </a:xfrm>
          <a:prstGeom prst="ellipse">
            <a:avLst/>
          </a:prstGeom>
          <a:solidFill>
            <a:srgbClr val="065A82"/>
          </a:solidFill>
          <a:ln w="12700">
            <a:solidFill>
              <a:srgbClr val="065A82"/>
            </a:solidFill>
            <a:prstDash val="solid"/>
          </a:ln>
        </p:spPr>
      </p:sp>
      <p:sp>
        <p:nvSpPr>
          <p:cNvPr id="8" name="Text 6"/>
          <p:cNvSpPr/>
          <p:nvPr/>
        </p:nvSpPr>
        <p:spPr>
          <a:xfrm>
            <a:off x="731520" y="2423160"/>
            <a:ext cx="548640" cy="548640"/>
          </a:xfrm>
          <a:prstGeom prst="rect">
            <a:avLst/>
          </a:prstGeom>
          <a:noFill/>
          <a:ln/>
        </p:spPr>
        <p:txBody>
          <a:bodyPr wrap="square" rtlCol="0" anchor="ctr"/>
          <a:lstStyle/>
          <a:p>
            <a:pPr algn="ctr" indent="0" marL="0">
              <a:buNone/>
            </a:pPr>
            <a:r>
              <a:rPr lang="en-US" sz="2200" b="1" dirty="0">
                <a:solidFill>
                  <a:srgbClr val="FFFFFF"/>
                </a:solidFill>
                <a:latin typeface="Segoe UI" pitchFamily="34" charset="0"/>
                <a:ea typeface="Segoe UI" pitchFamily="34" charset="-122"/>
                <a:cs typeface="Segoe UI" pitchFamily="34" charset="-120"/>
              </a:rPr>
              <a:t>1</a:t>
            </a:r>
            <a:endParaRPr lang="en-US" sz="2200" dirty="0"/>
          </a:p>
        </p:txBody>
      </p:sp>
      <p:sp>
        <p:nvSpPr>
          <p:cNvPr id="9" name="Text 7"/>
          <p:cNvSpPr/>
          <p:nvPr/>
        </p:nvSpPr>
        <p:spPr>
          <a:xfrm>
            <a:off x="1463040" y="2331720"/>
            <a:ext cx="4663440" cy="411480"/>
          </a:xfrm>
          <a:prstGeom prst="rect">
            <a:avLst/>
          </a:prstGeom>
          <a:noFill/>
          <a:ln/>
        </p:spPr>
        <p:txBody>
          <a:bodyPr wrap="square" rtlCol="0" anchor="ctr"/>
          <a:lstStyle/>
          <a:p>
            <a:pPr indent="0" marL="0">
              <a:buNone/>
            </a:pPr>
            <a:r>
              <a:rPr lang="en-US" sz="1800" b="1" dirty="0">
                <a:solidFill>
                  <a:srgbClr val="21295C"/>
                </a:solidFill>
                <a:latin typeface="Segoe UI" pitchFamily="34" charset="0"/>
                <a:ea typeface="Segoe UI" pitchFamily="34" charset="-122"/>
                <a:cs typeface="Segoe UI" pitchFamily="34" charset="-120"/>
              </a:rPr>
              <a:t>AHSA GitHub Actions</a:t>
            </a:r>
            <a:endParaRPr lang="en-US" sz="1800" dirty="0"/>
          </a:p>
        </p:txBody>
      </p:sp>
      <p:sp>
        <p:nvSpPr>
          <p:cNvPr id="10" name="Text 8"/>
          <p:cNvSpPr/>
          <p:nvPr/>
        </p:nvSpPr>
        <p:spPr>
          <a:xfrm>
            <a:off x="1463040" y="2743200"/>
            <a:ext cx="4663440" cy="365760"/>
          </a:xfrm>
          <a:prstGeom prst="rect">
            <a:avLst/>
          </a:prstGeom>
          <a:noFill/>
          <a:ln/>
        </p:spPr>
        <p:txBody>
          <a:bodyPr wrap="square" rtlCol="0" anchor="ctr"/>
          <a:lstStyle/>
          <a:p>
            <a:pPr indent="0" marL="0">
              <a:buNone/>
            </a:pPr>
            <a:r>
              <a:rPr lang="en-US" sz="1200" dirty="0">
                <a:solidFill>
                  <a:srgbClr val="566573"/>
                </a:solidFill>
                <a:latin typeface="Segoe UI" pitchFamily="34" charset="0"/>
                <a:ea typeface="Segoe UI" pitchFamily="34" charset="-122"/>
                <a:cs typeface="Segoe UI" pitchFamily="34" charset="-120"/>
              </a:rPr>
              <a:t>issues OIDC token from AHSA's repo</a:t>
            </a:r>
            <a:endParaRPr lang="en-US" sz="1200" dirty="0"/>
          </a:p>
        </p:txBody>
      </p:sp>
      <p:sp>
        <p:nvSpPr>
          <p:cNvPr id="11" name="Shape 9"/>
          <p:cNvSpPr/>
          <p:nvPr/>
        </p:nvSpPr>
        <p:spPr>
          <a:xfrm>
            <a:off x="3429000" y="3200400"/>
            <a:ext cx="0" cy="365760"/>
          </a:xfrm>
          <a:prstGeom prst="line">
            <a:avLst/>
          </a:prstGeom>
          <a:noFill/>
          <a:ln w="38100">
            <a:solidFill>
              <a:srgbClr val="F2A341"/>
            </a:solidFill>
            <a:prstDash val="solid"/>
            <a:tailEnd type="triangle"/>
          </a:ln>
        </p:spPr>
      </p:sp>
      <p:sp>
        <p:nvSpPr>
          <p:cNvPr id="12" name="Shape 10"/>
          <p:cNvSpPr/>
          <p:nvPr/>
        </p:nvSpPr>
        <p:spPr>
          <a:xfrm>
            <a:off x="548640" y="3566160"/>
            <a:ext cx="5760720" cy="1005840"/>
          </a:xfrm>
          <a:prstGeom prst="rect">
            <a:avLst/>
          </a:prstGeom>
          <a:solidFill>
            <a:srgbClr val="FFFFFF"/>
          </a:solidFill>
          <a:ln w="19050">
            <a:solidFill>
              <a:srgbClr val="1C7293"/>
            </a:solidFill>
            <a:prstDash val="solid"/>
          </a:ln>
        </p:spPr>
      </p:sp>
      <p:sp>
        <p:nvSpPr>
          <p:cNvPr id="13" name="Shape 11"/>
          <p:cNvSpPr/>
          <p:nvPr/>
        </p:nvSpPr>
        <p:spPr>
          <a:xfrm>
            <a:off x="731520" y="3794760"/>
            <a:ext cx="548640" cy="548640"/>
          </a:xfrm>
          <a:prstGeom prst="ellipse">
            <a:avLst/>
          </a:prstGeom>
          <a:solidFill>
            <a:srgbClr val="065A82"/>
          </a:solidFill>
          <a:ln w="12700">
            <a:solidFill>
              <a:srgbClr val="065A82"/>
            </a:solidFill>
            <a:prstDash val="solid"/>
          </a:ln>
        </p:spPr>
      </p:sp>
      <p:sp>
        <p:nvSpPr>
          <p:cNvPr id="14" name="Text 12"/>
          <p:cNvSpPr/>
          <p:nvPr/>
        </p:nvSpPr>
        <p:spPr>
          <a:xfrm>
            <a:off x="731520" y="3794760"/>
            <a:ext cx="548640" cy="548640"/>
          </a:xfrm>
          <a:prstGeom prst="rect">
            <a:avLst/>
          </a:prstGeom>
          <a:noFill/>
          <a:ln/>
        </p:spPr>
        <p:txBody>
          <a:bodyPr wrap="square" rtlCol="0" anchor="ctr"/>
          <a:lstStyle/>
          <a:p>
            <a:pPr algn="ctr" indent="0" marL="0">
              <a:buNone/>
            </a:pPr>
            <a:r>
              <a:rPr lang="en-US" sz="2200" b="1" dirty="0">
                <a:solidFill>
                  <a:srgbClr val="FFFFFF"/>
                </a:solidFill>
                <a:latin typeface="Segoe UI" pitchFamily="34" charset="0"/>
                <a:ea typeface="Segoe UI" pitchFamily="34" charset="-122"/>
                <a:cs typeface="Segoe UI" pitchFamily="34" charset="-120"/>
              </a:rPr>
              <a:t>2</a:t>
            </a:r>
            <a:endParaRPr lang="en-US" sz="2200" dirty="0"/>
          </a:p>
        </p:txBody>
      </p:sp>
      <p:sp>
        <p:nvSpPr>
          <p:cNvPr id="15" name="Text 13"/>
          <p:cNvSpPr/>
          <p:nvPr/>
        </p:nvSpPr>
        <p:spPr>
          <a:xfrm>
            <a:off x="1463040" y="3703320"/>
            <a:ext cx="4663440" cy="411480"/>
          </a:xfrm>
          <a:prstGeom prst="rect">
            <a:avLst/>
          </a:prstGeom>
          <a:noFill/>
          <a:ln/>
        </p:spPr>
        <p:txBody>
          <a:bodyPr wrap="square" rtlCol="0" anchor="ctr"/>
          <a:lstStyle/>
          <a:p>
            <a:pPr indent="0" marL="0">
              <a:buNone/>
            </a:pPr>
            <a:r>
              <a:rPr lang="en-US" sz="1800" b="1" dirty="0">
                <a:solidFill>
                  <a:srgbClr val="21295C"/>
                </a:solidFill>
                <a:latin typeface="Segoe UI" pitchFamily="34" charset="0"/>
                <a:ea typeface="Segoe UI" pitchFamily="34" charset="-122"/>
                <a:cs typeface="Segoe UI" pitchFamily="34" charset="-120"/>
              </a:rPr>
              <a:t>AHSA Entra App reg</a:t>
            </a:r>
            <a:endParaRPr lang="en-US" sz="1800" dirty="0"/>
          </a:p>
        </p:txBody>
      </p:sp>
      <p:sp>
        <p:nvSpPr>
          <p:cNvPr id="16" name="Text 14"/>
          <p:cNvSpPr/>
          <p:nvPr/>
        </p:nvSpPr>
        <p:spPr>
          <a:xfrm>
            <a:off x="1463040" y="4114800"/>
            <a:ext cx="4663440" cy="365760"/>
          </a:xfrm>
          <a:prstGeom prst="rect">
            <a:avLst/>
          </a:prstGeom>
          <a:noFill/>
          <a:ln/>
        </p:spPr>
        <p:txBody>
          <a:bodyPr wrap="square" rtlCol="0" anchor="ctr"/>
          <a:lstStyle/>
          <a:p>
            <a:pPr indent="0" marL="0">
              <a:buNone/>
            </a:pPr>
            <a:r>
              <a:rPr lang="en-US" sz="1200" dirty="0">
                <a:solidFill>
                  <a:srgbClr val="566573"/>
                </a:solidFill>
                <a:latin typeface="Segoe UI" pitchFamily="34" charset="0"/>
                <a:ea typeface="Segoe UI" pitchFamily="34" charset="-122"/>
                <a:cs typeface="Segoe UI" pitchFamily="34" charset="-120"/>
              </a:rPr>
              <a:t>sp-ahsa-fabric-cicd · federated credential</a:t>
            </a:r>
            <a:endParaRPr lang="en-US" sz="1200" dirty="0"/>
          </a:p>
        </p:txBody>
      </p:sp>
      <p:sp>
        <p:nvSpPr>
          <p:cNvPr id="17" name="Shape 15"/>
          <p:cNvSpPr/>
          <p:nvPr/>
        </p:nvSpPr>
        <p:spPr>
          <a:xfrm>
            <a:off x="3429000" y="4572000"/>
            <a:ext cx="0" cy="365760"/>
          </a:xfrm>
          <a:prstGeom prst="line">
            <a:avLst/>
          </a:prstGeom>
          <a:noFill/>
          <a:ln w="38100">
            <a:solidFill>
              <a:srgbClr val="F2A341"/>
            </a:solidFill>
            <a:prstDash val="solid"/>
            <a:tailEnd type="triangle"/>
          </a:ln>
        </p:spPr>
      </p:sp>
      <p:sp>
        <p:nvSpPr>
          <p:cNvPr id="18" name="Shape 16"/>
          <p:cNvSpPr/>
          <p:nvPr/>
        </p:nvSpPr>
        <p:spPr>
          <a:xfrm>
            <a:off x="548640" y="4937760"/>
            <a:ext cx="5760720" cy="1005840"/>
          </a:xfrm>
          <a:prstGeom prst="rect">
            <a:avLst/>
          </a:prstGeom>
          <a:solidFill>
            <a:srgbClr val="FFFFFF"/>
          </a:solidFill>
          <a:ln w="19050">
            <a:solidFill>
              <a:srgbClr val="1C7293"/>
            </a:solidFill>
            <a:prstDash val="solid"/>
          </a:ln>
        </p:spPr>
      </p:sp>
      <p:sp>
        <p:nvSpPr>
          <p:cNvPr id="19" name="Shape 17"/>
          <p:cNvSpPr/>
          <p:nvPr/>
        </p:nvSpPr>
        <p:spPr>
          <a:xfrm>
            <a:off x="731520" y="5166360"/>
            <a:ext cx="548640" cy="548640"/>
          </a:xfrm>
          <a:prstGeom prst="ellipse">
            <a:avLst/>
          </a:prstGeom>
          <a:solidFill>
            <a:srgbClr val="065A82"/>
          </a:solidFill>
          <a:ln w="12700">
            <a:solidFill>
              <a:srgbClr val="065A82"/>
            </a:solidFill>
            <a:prstDash val="solid"/>
          </a:ln>
        </p:spPr>
      </p:sp>
      <p:sp>
        <p:nvSpPr>
          <p:cNvPr id="20" name="Text 18"/>
          <p:cNvSpPr/>
          <p:nvPr/>
        </p:nvSpPr>
        <p:spPr>
          <a:xfrm>
            <a:off x="731520" y="5166360"/>
            <a:ext cx="548640" cy="548640"/>
          </a:xfrm>
          <a:prstGeom prst="rect">
            <a:avLst/>
          </a:prstGeom>
          <a:noFill/>
          <a:ln/>
        </p:spPr>
        <p:txBody>
          <a:bodyPr wrap="square" rtlCol="0" anchor="ctr"/>
          <a:lstStyle/>
          <a:p>
            <a:pPr algn="ctr" indent="0" marL="0">
              <a:buNone/>
            </a:pPr>
            <a:r>
              <a:rPr lang="en-US" sz="2200" b="1" dirty="0">
                <a:solidFill>
                  <a:srgbClr val="FFFFFF"/>
                </a:solidFill>
                <a:latin typeface="Segoe UI" pitchFamily="34" charset="0"/>
                <a:ea typeface="Segoe UI" pitchFamily="34" charset="-122"/>
                <a:cs typeface="Segoe UI" pitchFamily="34" charset="-120"/>
              </a:rPr>
              <a:t>3</a:t>
            </a:r>
            <a:endParaRPr lang="en-US" sz="2200" dirty="0"/>
          </a:p>
        </p:txBody>
      </p:sp>
      <p:sp>
        <p:nvSpPr>
          <p:cNvPr id="21" name="Text 19"/>
          <p:cNvSpPr/>
          <p:nvPr/>
        </p:nvSpPr>
        <p:spPr>
          <a:xfrm>
            <a:off x="1463040" y="5074920"/>
            <a:ext cx="4663440" cy="411480"/>
          </a:xfrm>
          <a:prstGeom prst="rect">
            <a:avLst/>
          </a:prstGeom>
          <a:noFill/>
          <a:ln/>
        </p:spPr>
        <p:txBody>
          <a:bodyPr wrap="square" rtlCol="0" anchor="ctr"/>
          <a:lstStyle/>
          <a:p>
            <a:pPr indent="0" marL="0">
              <a:buNone/>
            </a:pPr>
            <a:r>
              <a:rPr lang="en-US" sz="1800" b="1" dirty="0">
                <a:solidFill>
                  <a:srgbClr val="21295C"/>
                </a:solidFill>
                <a:latin typeface="Segoe UI" pitchFamily="34" charset="0"/>
                <a:ea typeface="Segoe UI" pitchFamily="34" charset="-122"/>
                <a:cs typeface="Segoe UI" pitchFamily="34" charset="-120"/>
              </a:rPr>
              <a:t>AHSA Fabric Workspace</a:t>
            </a:r>
            <a:endParaRPr lang="en-US" sz="1800" dirty="0"/>
          </a:p>
        </p:txBody>
      </p:sp>
      <p:sp>
        <p:nvSpPr>
          <p:cNvPr id="22" name="Text 20"/>
          <p:cNvSpPr/>
          <p:nvPr/>
        </p:nvSpPr>
        <p:spPr>
          <a:xfrm>
            <a:off x="1463040" y="5486400"/>
            <a:ext cx="4663440" cy="365760"/>
          </a:xfrm>
          <a:prstGeom prst="rect">
            <a:avLst/>
          </a:prstGeom>
          <a:noFill/>
          <a:ln/>
        </p:spPr>
        <p:txBody>
          <a:bodyPr wrap="square" rtlCol="0" anchor="ctr"/>
          <a:lstStyle/>
          <a:p>
            <a:pPr indent="0" marL="0">
              <a:buNone/>
            </a:pPr>
            <a:r>
              <a:rPr lang="en-US" sz="1200" dirty="0">
                <a:solidFill>
                  <a:srgbClr val="566573"/>
                </a:solidFill>
                <a:latin typeface="Segoe UI" pitchFamily="34" charset="0"/>
                <a:ea typeface="Segoe UI" pitchFamily="34" charset="-122"/>
                <a:cs typeface="Segoe UI" pitchFamily="34" charset="-120"/>
              </a:rPr>
              <a:t>SP is Workspace Admin (Test + Prod)</a:t>
            </a:r>
            <a:endParaRPr lang="en-US" sz="1200" dirty="0"/>
          </a:p>
        </p:txBody>
      </p:sp>
      <p:sp>
        <p:nvSpPr>
          <p:cNvPr id="23" name="Shape 21"/>
          <p:cNvSpPr/>
          <p:nvPr/>
        </p:nvSpPr>
        <p:spPr>
          <a:xfrm>
            <a:off x="6675120" y="2194560"/>
            <a:ext cx="4937760" cy="4114800"/>
          </a:xfrm>
          <a:prstGeom prst="rect">
            <a:avLst/>
          </a:prstGeom>
          <a:solidFill>
            <a:srgbClr val="21295C"/>
          </a:solidFill>
          <a:ln w="12700">
            <a:solidFill>
              <a:srgbClr val="21295C"/>
            </a:solidFill>
            <a:prstDash val="solid"/>
          </a:ln>
        </p:spPr>
      </p:sp>
      <p:sp>
        <p:nvSpPr>
          <p:cNvPr id="24" name="Shape 22"/>
          <p:cNvSpPr/>
          <p:nvPr/>
        </p:nvSpPr>
        <p:spPr>
          <a:xfrm>
            <a:off x="6675120" y="2194560"/>
            <a:ext cx="4937760" cy="137160"/>
          </a:xfrm>
          <a:prstGeom prst="rect">
            <a:avLst/>
          </a:prstGeom>
          <a:solidFill>
            <a:srgbClr val="F2A341"/>
          </a:solidFill>
          <a:ln w="12700">
            <a:solidFill>
              <a:srgbClr val="F2A341"/>
            </a:solidFill>
            <a:prstDash val="solid"/>
          </a:ln>
        </p:spPr>
      </p:sp>
      <p:sp>
        <p:nvSpPr>
          <p:cNvPr id="25" name="Text 23"/>
          <p:cNvSpPr/>
          <p:nvPr/>
        </p:nvSpPr>
        <p:spPr>
          <a:xfrm>
            <a:off x="6949440" y="2468880"/>
            <a:ext cx="4389120" cy="457200"/>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Federated credential subjects</a:t>
            </a:r>
            <a:endParaRPr lang="en-US" sz="1800" dirty="0"/>
          </a:p>
        </p:txBody>
      </p:sp>
      <p:sp>
        <p:nvSpPr>
          <p:cNvPr id="26" name="Text 24"/>
          <p:cNvSpPr/>
          <p:nvPr/>
        </p:nvSpPr>
        <p:spPr>
          <a:xfrm>
            <a:off x="6949440" y="3108960"/>
            <a:ext cx="4389120" cy="1280160"/>
          </a:xfrm>
          <a:prstGeom prst="rect">
            <a:avLst/>
          </a:prstGeom>
          <a:noFill/>
          <a:ln/>
        </p:spPr>
        <p:txBody>
          <a:bodyPr wrap="square" rtlCol="0" anchor="ctr"/>
          <a:lstStyle/>
          <a:p>
            <a:pPr indent="0" marL="0">
              <a:buNone/>
            </a:pPr>
            <a:r>
              <a:rPr lang="en-US" sz="1300" dirty="0">
                <a:solidFill>
                  <a:srgbClr val="E8F1F5"/>
                </a:solidFill>
                <a:latin typeface="Consolas" pitchFamily="34" charset="0"/>
                <a:ea typeface="Consolas" pitchFamily="34" charset="-122"/>
                <a:cs typeface="Consolas" pitchFamily="34" charset="-120"/>
              </a:rPr>
              <a:t>repo:AHSA/...:ref:refs/heads/test</a:t>
            </a:r>
            <a:endParaRPr lang="en-US" sz="1300" dirty="0"/>
          </a:p>
          <a:p>
            <a:pPr indent="0" marL="0">
              <a:buNone/>
            </a:pPr>
            <a:r>
              <a:rPr lang="en-US" sz="1300" dirty="0">
                <a:solidFill>
                  <a:srgbClr val="E8F1F5"/>
                </a:solidFill>
                <a:latin typeface="Consolas" pitchFamily="34" charset="0"/>
                <a:ea typeface="Consolas" pitchFamily="34" charset="-122"/>
                <a:cs typeface="Consolas" pitchFamily="34" charset="-120"/>
              </a:rPr>
              <a:t>repo:AHSA/...:environment:test</a:t>
            </a:r>
            <a:endParaRPr lang="en-US" sz="1300" dirty="0"/>
          </a:p>
          <a:p>
            <a:pPr indent="0" marL="0">
              <a:buNone/>
            </a:pPr>
            <a:r>
              <a:rPr lang="en-US" sz="1300" dirty="0">
                <a:solidFill>
                  <a:srgbClr val="E8F1F5"/>
                </a:solidFill>
                <a:latin typeface="Consolas" pitchFamily="34" charset="0"/>
                <a:ea typeface="Consolas" pitchFamily="34" charset="-122"/>
                <a:cs typeface="Consolas" pitchFamily="34" charset="-120"/>
              </a:rPr>
              <a:t>repo:AHSA/...:environment:prod</a:t>
            </a:r>
            <a:endParaRPr lang="en-US" sz="1300" dirty="0"/>
          </a:p>
        </p:txBody>
      </p:sp>
      <p:sp>
        <p:nvSpPr>
          <p:cNvPr id="27" name="Text 25"/>
          <p:cNvSpPr/>
          <p:nvPr/>
        </p:nvSpPr>
        <p:spPr>
          <a:xfrm>
            <a:off x="6949440" y="4480560"/>
            <a:ext cx="4389120" cy="457200"/>
          </a:xfrm>
          <a:prstGeom prst="rect">
            <a:avLst/>
          </a:prstGeom>
          <a:noFill/>
          <a:ln/>
        </p:spPr>
        <p:txBody>
          <a:bodyPr wrap="square" rtlCol="0" anchor="ctr"/>
          <a:lstStyle/>
          <a:p>
            <a:pPr indent="0" marL="0">
              <a:buNone/>
            </a:pPr>
            <a:r>
              <a:rPr lang="en-US" sz="1600" b="1" dirty="0">
                <a:solidFill>
                  <a:srgbClr val="F2A341"/>
                </a:solidFill>
                <a:latin typeface="Segoe UI" pitchFamily="34" charset="0"/>
                <a:ea typeface="Segoe UI" pitchFamily="34" charset="-122"/>
                <a:cs typeface="Segoe UI" pitchFamily="34" charset="-120"/>
              </a:rPr>
              <a:t>Repo variables (no secrets)</a:t>
            </a:r>
            <a:endParaRPr lang="en-US" sz="1600" dirty="0"/>
          </a:p>
        </p:txBody>
      </p:sp>
      <p:sp>
        <p:nvSpPr>
          <p:cNvPr id="28" name="Text 26"/>
          <p:cNvSpPr/>
          <p:nvPr/>
        </p:nvSpPr>
        <p:spPr>
          <a:xfrm>
            <a:off x="6949440" y="4983480"/>
            <a:ext cx="4389120" cy="1188720"/>
          </a:xfrm>
          <a:prstGeom prst="rect">
            <a:avLst/>
          </a:prstGeom>
          <a:noFill/>
          <a:ln/>
        </p:spPr>
        <p:txBody>
          <a:bodyPr wrap="square" rtlCol="0" anchor="ctr"/>
          <a:lstStyle/>
          <a:p>
            <a:pPr indent="0" marL="0">
              <a:buNone/>
            </a:pPr>
            <a:r>
              <a:rPr lang="en-US" sz="1200" dirty="0">
                <a:solidFill>
                  <a:srgbClr val="E8F1F5"/>
                </a:solidFill>
                <a:latin typeface="Consolas" pitchFamily="34" charset="0"/>
                <a:ea typeface="Consolas" pitchFamily="34" charset="-122"/>
                <a:cs typeface="Consolas" pitchFamily="34" charset="-120"/>
              </a:rPr>
              <a:t>AZURE_TENANT_ID · AZURE_CLIENT_ID</a:t>
            </a:r>
            <a:endParaRPr lang="en-US" sz="1200" dirty="0"/>
          </a:p>
          <a:p>
            <a:pPr indent="0" marL="0">
              <a:buNone/>
            </a:pPr>
            <a:r>
              <a:rPr lang="en-US" sz="1200" dirty="0">
                <a:solidFill>
                  <a:srgbClr val="E8F1F5"/>
                </a:solidFill>
                <a:latin typeface="Consolas" pitchFamily="34" charset="0"/>
                <a:ea typeface="Consolas" pitchFamily="34" charset="-122"/>
                <a:cs typeface="Consolas" pitchFamily="34" charset="-120"/>
              </a:rPr>
              <a:t>FABRIC_CAPACITY_ID</a:t>
            </a:r>
            <a:endParaRPr lang="en-US" sz="1200" dirty="0"/>
          </a:p>
          <a:p>
            <a:pPr indent="0" marL="0">
              <a:buNone/>
            </a:pPr>
            <a:r>
              <a:rPr lang="en-US" sz="1200" dirty="0">
                <a:solidFill>
                  <a:srgbClr val="E8F1F5"/>
                </a:solidFill>
                <a:latin typeface="Consolas" pitchFamily="34" charset="0"/>
                <a:ea typeface="Consolas" pitchFamily="34" charset="-122"/>
                <a:cs typeface="Consolas" pitchFamily="34" charset="-120"/>
              </a:rPr>
              <a:t>WORKSPACE_ID_TEST · WORKSPACE_ID_PROD</a:t>
            </a:r>
            <a:endParaRPr lang="en-US" sz="1200" dirty="0"/>
          </a:p>
        </p:txBody>
      </p:sp>
      <p:sp>
        <p:nvSpPr>
          <p:cNvPr id="30" name="Shape 27"/>
          <p:cNvSpPr/>
          <p:nvPr/>
        </p:nvSpPr>
        <p:spPr>
          <a:xfrm>
            <a:off x="0" y="6537960"/>
            <a:ext cx="12161520" cy="320040"/>
          </a:xfrm>
          <a:prstGeom prst="rect">
            <a:avLst/>
          </a:prstGeom>
          <a:solidFill>
            <a:srgbClr val="21295C"/>
          </a:solidFill>
          <a:ln w="12700">
            <a:solidFill>
              <a:srgbClr val="21295C"/>
            </a:solidFill>
            <a:prstDash val="solid"/>
          </a:ln>
        </p:spPr>
      </p:sp>
      <p:sp>
        <p:nvSpPr>
          <p:cNvPr id="31" name="Text 28"/>
          <p:cNvSpPr/>
          <p:nvPr/>
        </p:nvSpPr>
        <p:spPr>
          <a:xfrm>
            <a:off x="365760" y="6537960"/>
            <a:ext cx="7315200" cy="320040"/>
          </a:xfrm>
          <a:prstGeom prst="rect">
            <a:avLst/>
          </a:prstGeom>
          <a:noFill/>
          <a:ln/>
        </p:spPr>
        <p:txBody>
          <a:bodyPr wrap="square" rtlCol="0" anchor="ctr"/>
          <a:lstStyle/>
          <a:p>
            <a:pPr indent="0" marL="0">
              <a:buNone/>
            </a:pPr>
            <a:r>
              <a:rPr lang="en-US" sz="1000" dirty="0">
                <a:solidFill>
                  <a:srgbClr val="E8F1F5"/>
                </a:solidFill>
                <a:latin typeface="Segoe UI" pitchFamily="34" charset="0"/>
                <a:ea typeface="Segoe UI" pitchFamily="34" charset="-122"/>
                <a:cs typeface="Segoe UI" pitchFamily="34" charset="-120"/>
              </a:rPr>
              <a:t>Fabric CI/CD from GitHub  ·  Prepared for AHSA</a:t>
            </a:r>
            <a:endParaRPr lang="en-US" sz="1000" dirty="0"/>
          </a:p>
        </p:txBody>
      </p:sp>
      <p:sp>
        <p:nvSpPr>
          <p:cNvPr id="32" name="Text 29"/>
          <p:cNvSpPr/>
          <p:nvPr/>
        </p:nvSpPr>
        <p:spPr>
          <a:xfrm>
            <a:off x="11430000" y="6537960"/>
            <a:ext cx="365760" cy="320040"/>
          </a:xfrm>
          <a:prstGeom prst="rect">
            <a:avLst/>
          </a:prstGeom>
          <a:noFill/>
          <a:ln/>
        </p:spPr>
        <p:txBody>
          <a:bodyPr wrap="square" rtlCol="0" anchor="ctr"/>
          <a:lstStyle/>
          <a:p>
            <a:pPr algn="r" indent="0" marL="0">
              <a:buNone/>
            </a:pPr>
            <a:r>
              <a:rPr lang="en-US" sz="1000" dirty="0">
                <a:solidFill>
                  <a:srgbClr val="E8F1F5"/>
                </a:solidFill>
                <a:latin typeface="Segoe UI" pitchFamily="34" charset="0"/>
                <a:ea typeface="Segoe UI" pitchFamily="34" charset="-122"/>
                <a:cs typeface="Segoe U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537960"/>
          </a:xfrm>
          <a:prstGeom prst="rect">
            <a:avLst/>
          </a:prstGeom>
          <a:solidFill>
            <a:srgbClr val="F2A341"/>
          </a:solidFill>
          <a:ln w="12700">
            <a:solidFill>
              <a:srgbClr val="F2A341"/>
            </a:solidFill>
            <a:prstDash val="solid"/>
          </a:ln>
        </p:spPr>
      </p:sp>
      <p:sp>
        <p:nvSpPr>
          <p:cNvPr id="3" name="Text 1"/>
          <p:cNvSpPr/>
          <p:nvPr/>
        </p:nvSpPr>
        <p:spPr>
          <a:xfrm>
            <a:off x="548640" y="411480"/>
            <a:ext cx="10972800" cy="320040"/>
          </a:xfrm>
          <a:prstGeom prst="rect">
            <a:avLst/>
          </a:prstGeom>
          <a:noFill/>
          <a:ln/>
        </p:spPr>
        <p:txBody>
          <a:bodyPr wrap="square" rtlCol="0" anchor="ctr"/>
          <a:lstStyle/>
          <a:p>
            <a:pPr indent="0" marL="0">
              <a:buNone/>
            </a:pPr>
            <a:r>
              <a:rPr lang="en-US" sz="1100" b="1" spc="400" kern="0" dirty="0">
                <a:solidFill>
                  <a:srgbClr val="1C7293"/>
                </a:solidFill>
                <a:latin typeface="Segoe UI" pitchFamily="34" charset="0"/>
                <a:ea typeface="Segoe UI" pitchFamily="34" charset="-122"/>
                <a:cs typeface="Segoe UI" pitchFamily="34" charset="-120"/>
              </a:rPr>
              <a:t>AHSA REPO LAYOUT</a:t>
            </a:r>
            <a:endParaRPr lang="en-US" sz="1100" dirty="0"/>
          </a:p>
        </p:txBody>
      </p:sp>
      <p:sp>
        <p:nvSpPr>
          <p:cNvPr id="4" name="Text 2"/>
          <p:cNvSpPr/>
          <p:nvPr/>
        </p:nvSpPr>
        <p:spPr>
          <a:xfrm>
            <a:off x="548640" y="731520"/>
            <a:ext cx="10972800" cy="822960"/>
          </a:xfrm>
          <a:prstGeom prst="rect">
            <a:avLst/>
          </a:prstGeom>
          <a:noFill/>
          <a:ln/>
        </p:spPr>
        <p:txBody>
          <a:bodyPr wrap="square" rtlCol="0" anchor="ctr"/>
          <a:lstStyle/>
          <a:p>
            <a:pPr indent="0" marL="0">
              <a:buNone/>
            </a:pPr>
            <a:r>
              <a:rPr lang="en-US" sz="3200" b="1" dirty="0">
                <a:solidFill>
                  <a:srgbClr val="21295C"/>
                </a:solidFill>
                <a:latin typeface="Segoe UI" pitchFamily="34" charset="0"/>
                <a:ea typeface="Segoe UI" pitchFamily="34" charset="-122"/>
                <a:cs typeface="Segoe UI" pitchFamily="34" charset="-120"/>
              </a:rPr>
              <a:t>Fabric items as folders, parameterized rebinds</a:t>
            </a:r>
            <a:endParaRPr lang="en-US" sz="3200" dirty="0"/>
          </a:p>
        </p:txBody>
      </p:sp>
      <p:sp>
        <p:nvSpPr>
          <p:cNvPr id="5" name="Shape 3"/>
          <p:cNvSpPr/>
          <p:nvPr/>
        </p:nvSpPr>
        <p:spPr>
          <a:xfrm>
            <a:off x="548640" y="1600200"/>
            <a:ext cx="1097280" cy="0"/>
          </a:xfrm>
          <a:prstGeom prst="line">
            <a:avLst/>
          </a:prstGeom>
          <a:noFill/>
          <a:ln w="38100">
            <a:solidFill>
              <a:srgbClr val="F2A341"/>
            </a:solidFill>
            <a:prstDash val="solid"/>
          </a:ln>
        </p:spPr>
      </p:sp>
      <p:sp>
        <p:nvSpPr>
          <p:cNvPr id="6" name="Shape 4"/>
          <p:cNvSpPr/>
          <p:nvPr/>
        </p:nvSpPr>
        <p:spPr>
          <a:xfrm>
            <a:off x="548640" y="2011680"/>
            <a:ext cx="5486400" cy="4297680"/>
          </a:xfrm>
          <a:prstGeom prst="rect">
            <a:avLst/>
          </a:prstGeom>
          <a:solidFill>
            <a:srgbClr val="21295C"/>
          </a:solidFill>
          <a:ln w="12700">
            <a:solidFill>
              <a:srgbClr val="21295C"/>
            </a:solidFill>
            <a:prstDash val="solid"/>
          </a:ln>
        </p:spPr>
      </p:sp>
      <p:sp>
        <p:nvSpPr>
          <p:cNvPr id="7" name="Text 5"/>
          <p:cNvSpPr/>
          <p:nvPr/>
        </p:nvSpPr>
        <p:spPr>
          <a:xfrm>
            <a:off x="731520" y="2148840"/>
            <a:ext cx="5212080" cy="4023360"/>
          </a:xfrm>
          <a:prstGeom prst="rect">
            <a:avLst/>
          </a:prstGeom>
          <a:noFill/>
          <a:ln/>
        </p:spPr>
        <p:txBody>
          <a:bodyPr wrap="square" rtlCol="0" anchor="t"/>
          <a:lstStyle/>
          <a:p>
            <a:pPr indent="0" marL="0">
              <a:buNone/>
            </a:pPr>
            <a:r>
              <a:rPr lang="en-US" sz="1150" dirty="0">
                <a:solidFill>
                  <a:srgbClr val="E8F1F5"/>
                </a:solidFill>
                <a:latin typeface="Consolas" pitchFamily="34" charset="0"/>
                <a:ea typeface="Consolas" pitchFamily="34" charset="-122"/>
                <a:cs typeface="Consolas" pitchFamily="34" charset="-120"/>
              </a:rPr>
              <a:t>.github/</a:t>
            </a:r>
            <a:endParaRPr lang="en-US" sz="1150" dirty="0"/>
          </a:p>
          <a:p>
            <a:pPr indent="0" marL="0">
              <a:buNone/>
            </a:pPr>
            <a:r>
              <a:rPr lang="en-US" sz="1150" dirty="0">
                <a:solidFill>
                  <a:srgbClr val="E8F1F5"/>
                </a:solidFill>
                <a:latin typeface="Consolas" pitchFamily="34" charset="0"/>
                <a:ea typeface="Consolas" pitchFamily="34" charset="-122"/>
                <a:cs typeface="Consolas" pitchFamily="34" charset="-120"/>
              </a:rPr>
              <a:t>  workflows/</a:t>
            </a:r>
            <a:endParaRPr lang="en-US" sz="1150" dirty="0"/>
          </a:p>
          <a:p>
            <a:pPr indent="0" marL="0">
              <a:buNone/>
            </a:pPr>
            <a:r>
              <a:rPr lang="en-US" sz="1150" dirty="0">
                <a:solidFill>
                  <a:srgbClr val="E8F1F5"/>
                </a:solidFill>
                <a:latin typeface="Consolas" pitchFamily="34" charset="0"/>
                <a:ea typeface="Consolas" pitchFamily="34" charset="-122"/>
                <a:cs typeface="Consolas" pitchFamily="34" charset="-120"/>
              </a:rPr>
              <a:t>    pr-validate.yml      # lint + dry-run on PRs</a:t>
            </a:r>
            <a:endParaRPr lang="en-US" sz="1150" dirty="0"/>
          </a:p>
          <a:p>
            <a:pPr indent="0" marL="0">
              <a:buNone/>
            </a:pPr>
            <a:r>
              <a:rPr lang="en-US" sz="1150" dirty="0">
                <a:solidFill>
                  <a:srgbClr val="E8F1F5"/>
                </a:solidFill>
                <a:latin typeface="Consolas" pitchFamily="34" charset="0"/>
                <a:ea typeface="Consolas" pitchFamily="34" charset="-122"/>
                <a:cs typeface="Consolas" pitchFamily="34" charset="-120"/>
              </a:rPr>
              <a:t>    deploy-test.yml      # merge to test → Test ws</a:t>
            </a:r>
            <a:endParaRPr lang="en-US" sz="1150" dirty="0"/>
          </a:p>
          <a:p>
            <a:pPr indent="0" marL="0">
              <a:buNone/>
            </a:pPr>
            <a:r>
              <a:rPr lang="en-US" sz="1150" dirty="0">
                <a:solidFill>
                  <a:srgbClr val="E8F1F5"/>
                </a:solidFill>
                <a:latin typeface="Consolas" pitchFamily="34" charset="0"/>
                <a:ea typeface="Consolas" pitchFamily="34" charset="-122"/>
                <a:cs typeface="Consolas" pitchFamily="34" charset="-120"/>
              </a:rPr>
              <a:t>    deploy-prod.yml      # merge to main → Prod ws (gated)</a:t>
            </a:r>
            <a:endParaRPr lang="en-US" sz="1150" dirty="0"/>
          </a:p>
          <a:p>
            <a:pPr indent="0" marL="0">
              <a:buNone/>
            </a:pPr>
            <a:r>
              <a:rPr lang="en-US" sz="1150" dirty="0">
                <a:solidFill>
                  <a:srgbClr val="E8F1F5"/>
                </a:solidFill>
                <a:latin typeface="Consolas" pitchFamily="34" charset="0"/>
                <a:ea typeface="Consolas" pitchFamily="34" charset="-122"/>
                <a:cs typeface="Consolas" pitchFamily="34" charset="-120"/>
              </a:rPr>
              <a:t>  CODEOWNERS             # 4-eyes review</a:t>
            </a:r>
            <a:endParaRPr lang="en-US" sz="1150" dirty="0"/>
          </a:p>
          <a:p>
            <a:pPr indent="0" marL="0">
              <a:buNone/>
            </a:pPr>
            <a:r>
              <a:rPr lang="en-US" sz="1150" dirty="0">
                <a:solidFill>
                  <a:srgbClr val="E8F1F5"/>
                </a:solidFill>
                <a:latin typeface="Consolas" pitchFamily="34" charset="0"/>
                <a:ea typeface="Consolas" pitchFamily="34" charset="-122"/>
                <a:cs typeface="Consolas" pitchFamily="34" charset="-120"/>
              </a:rPr>
              <a:t>workspace/               # Fabric items (Git-connected)</a:t>
            </a:r>
            <a:endParaRPr lang="en-US" sz="1150" dirty="0"/>
          </a:p>
          <a:p>
            <a:pPr indent="0" marL="0">
              <a:buNone/>
            </a:pPr>
            <a:r>
              <a:rPr lang="en-US" sz="1150" dirty="0">
                <a:solidFill>
                  <a:srgbClr val="E8F1F5"/>
                </a:solidFill>
                <a:latin typeface="Consolas" pitchFamily="34" charset="0"/>
                <a:ea typeface="Consolas" pitchFamily="34" charset="-122"/>
                <a:cs typeface="Consolas" pitchFamily="34" charset="-120"/>
              </a:rPr>
              <a:t>  Sales.Notebook/</a:t>
            </a:r>
            <a:endParaRPr lang="en-US" sz="1150" dirty="0"/>
          </a:p>
          <a:p>
            <a:pPr indent="0" marL="0">
              <a:buNone/>
            </a:pPr>
            <a:r>
              <a:rPr lang="en-US" sz="1150" dirty="0">
                <a:solidFill>
                  <a:srgbClr val="E8F1F5"/>
                </a:solidFill>
                <a:latin typeface="Consolas" pitchFamily="34" charset="0"/>
                <a:ea typeface="Consolas" pitchFamily="34" charset="-122"/>
                <a:cs typeface="Consolas" pitchFamily="34" charset="-120"/>
              </a:rPr>
              <a:t>  Ingest.DataPipeline/</a:t>
            </a:r>
            <a:endParaRPr lang="en-US" sz="1150" dirty="0"/>
          </a:p>
          <a:p>
            <a:pPr indent="0" marL="0">
              <a:buNone/>
            </a:pPr>
            <a:r>
              <a:rPr lang="en-US" sz="1150" dirty="0">
                <a:solidFill>
                  <a:srgbClr val="E8F1F5"/>
                </a:solidFill>
                <a:latin typeface="Consolas" pitchFamily="34" charset="0"/>
                <a:ea typeface="Consolas" pitchFamily="34" charset="-122"/>
                <a:cs typeface="Consolas" pitchFamily="34" charset="-120"/>
              </a:rPr>
              <a:t>  Bronze.Lakehouse/  Silver.Warehouse/</a:t>
            </a:r>
            <a:endParaRPr lang="en-US" sz="1150" dirty="0"/>
          </a:p>
          <a:p>
            <a:pPr indent="0" marL="0">
              <a:buNone/>
            </a:pPr>
            <a:r>
              <a:rPr lang="en-US" sz="1150" dirty="0">
                <a:solidFill>
                  <a:srgbClr val="E8F1F5"/>
                </a:solidFill>
                <a:latin typeface="Consolas" pitchFamily="34" charset="0"/>
                <a:ea typeface="Consolas" pitchFamily="34" charset="-122"/>
                <a:cs typeface="Consolas" pitchFamily="34" charset="-120"/>
              </a:rPr>
              <a:t>  Sales.SemanticModel/  Sales.Report/</a:t>
            </a:r>
            <a:endParaRPr lang="en-US" sz="1150" dirty="0"/>
          </a:p>
          <a:p>
            <a:pPr indent="0" marL="0">
              <a:buNone/>
            </a:pPr>
            <a:r>
              <a:rPr lang="en-US" sz="1150" dirty="0">
                <a:solidFill>
                  <a:srgbClr val="E8F1F5"/>
                </a:solidFill>
                <a:latin typeface="Consolas" pitchFamily="34" charset="0"/>
                <a:ea typeface="Consolas" pitchFamily="34" charset="-122"/>
                <a:cs typeface="Consolas" pitchFamily="34" charset="-120"/>
              </a:rPr>
              <a:t>  Telemetry.Eventhouse/  CleanCustomers.Dataflow/</a:t>
            </a:r>
            <a:endParaRPr lang="en-US" sz="1150" dirty="0"/>
          </a:p>
          <a:p>
            <a:pPr indent="0" marL="0">
              <a:buNone/>
            </a:pPr>
            <a:r>
              <a:rPr lang="en-US" sz="1150" dirty="0">
                <a:solidFill>
                  <a:srgbClr val="E8F1F5"/>
                </a:solidFill>
                <a:latin typeface="Consolas" pitchFamily="34" charset="0"/>
                <a:ea typeface="Consolas" pitchFamily="34" charset="-122"/>
                <a:cs typeface="Consolas" pitchFamily="34" charset="-120"/>
              </a:rPr>
              <a:t>  parameter.yml          # per-env rebinds</a:t>
            </a:r>
            <a:endParaRPr lang="en-US" sz="1150" dirty="0"/>
          </a:p>
          <a:p>
            <a:pPr indent="0" marL="0">
              <a:buNone/>
            </a:pPr>
            <a:r>
              <a:rPr lang="en-US" sz="1150" dirty="0">
                <a:solidFill>
                  <a:srgbClr val="E8F1F5"/>
                </a:solidFill>
                <a:latin typeface="Consolas" pitchFamily="34" charset="0"/>
                <a:ea typeface="Consolas" pitchFamily="34" charset="-122"/>
                <a:cs typeface="Consolas" pitchFamily="34" charset="-120"/>
              </a:rPr>
              <a:t>scripts/</a:t>
            </a:r>
            <a:endParaRPr lang="en-US" sz="1150" dirty="0"/>
          </a:p>
          <a:p>
            <a:pPr indent="0" marL="0">
              <a:buNone/>
            </a:pPr>
            <a:r>
              <a:rPr lang="en-US" sz="1150" dirty="0">
                <a:solidFill>
                  <a:srgbClr val="E8F1F5"/>
                </a:solidFill>
                <a:latin typeface="Consolas" pitchFamily="34" charset="0"/>
                <a:ea typeface="Consolas" pitchFamily="34" charset="-122"/>
                <a:cs typeface="Consolas" pitchFamily="34" charset="-120"/>
              </a:rPr>
              <a:t>  deploy.py              # fabric_cicd wrapper</a:t>
            </a:r>
            <a:endParaRPr lang="en-US" sz="1150" dirty="0"/>
          </a:p>
          <a:p>
            <a:pPr indent="0" marL="0">
              <a:buNone/>
            </a:pPr>
            <a:r>
              <a:rPr lang="en-US" sz="1150" dirty="0">
                <a:solidFill>
                  <a:srgbClr val="E8F1F5"/>
                </a:solidFill>
                <a:latin typeface="Consolas" pitchFamily="34" charset="0"/>
                <a:ea typeface="Consolas" pitchFamily="34" charset="-122"/>
                <a:cs typeface="Consolas" pitchFamily="34" charset="-120"/>
              </a:rPr>
              <a:t>  smoke_test.py</a:t>
            </a:r>
            <a:endParaRPr lang="en-US" sz="1150" dirty="0"/>
          </a:p>
          <a:p>
            <a:pPr indent="0" marL="0">
              <a:buNone/>
            </a:pPr>
            <a:r>
              <a:rPr lang="en-US" sz="1150" dirty="0">
                <a:solidFill>
                  <a:srgbClr val="E8F1F5"/>
                </a:solidFill>
                <a:latin typeface="Consolas" pitchFamily="34" charset="0"/>
                <a:ea typeface="Consolas" pitchFamily="34" charset="-122"/>
                <a:cs typeface="Consolas" pitchFamily="34" charset="-120"/>
              </a:rPr>
              <a:t>requirements.txt</a:t>
            </a:r>
            <a:endParaRPr lang="en-US" sz="1150" dirty="0"/>
          </a:p>
        </p:txBody>
      </p:sp>
      <p:sp>
        <p:nvSpPr>
          <p:cNvPr id="8" name="Shape 6"/>
          <p:cNvSpPr/>
          <p:nvPr/>
        </p:nvSpPr>
        <p:spPr>
          <a:xfrm>
            <a:off x="6309360" y="2011680"/>
            <a:ext cx="5303520" cy="960120"/>
          </a:xfrm>
          <a:prstGeom prst="rect">
            <a:avLst/>
          </a:prstGeom>
          <a:solidFill>
            <a:srgbClr val="E8F1F5"/>
          </a:solidFill>
          <a:ln w="12700">
            <a:solidFill>
              <a:srgbClr val="E8F1F5"/>
            </a:solidFill>
            <a:prstDash val="solid"/>
          </a:ln>
        </p:spPr>
      </p:sp>
      <p:sp>
        <p:nvSpPr>
          <p:cNvPr id="9" name="Shape 7"/>
          <p:cNvSpPr/>
          <p:nvPr/>
        </p:nvSpPr>
        <p:spPr>
          <a:xfrm>
            <a:off x="6309360" y="2011680"/>
            <a:ext cx="91440" cy="960120"/>
          </a:xfrm>
          <a:prstGeom prst="rect">
            <a:avLst/>
          </a:prstGeom>
          <a:solidFill>
            <a:srgbClr val="F2A341"/>
          </a:solidFill>
          <a:ln w="12700">
            <a:solidFill>
              <a:srgbClr val="F2A341"/>
            </a:solidFill>
            <a:prstDash val="solid"/>
          </a:ln>
        </p:spPr>
      </p:sp>
      <p:sp>
        <p:nvSpPr>
          <p:cNvPr id="10" name="Text 8"/>
          <p:cNvSpPr/>
          <p:nvPr/>
        </p:nvSpPr>
        <p:spPr>
          <a:xfrm>
            <a:off x="6492240" y="2084832"/>
            <a:ext cx="5029200" cy="365760"/>
          </a:xfrm>
          <a:prstGeom prst="rect">
            <a:avLst/>
          </a:prstGeom>
          <a:noFill/>
          <a:ln/>
        </p:spPr>
        <p:txBody>
          <a:bodyPr wrap="square" rtlCol="0" anchor="ctr"/>
          <a:lstStyle/>
          <a:p>
            <a:pPr indent="0" marL="0">
              <a:buNone/>
            </a:pPr>
            <a:r>
              <a:rPr lang="en-US" sz="1400" b="1" dirty="0">
                <a:solidFill>
                  <a:srgbClr val="21295C"/>
                </a:solidFill>
                <a:latin typeface="Consolas" pitchFamily="34" charset="0"/>
                <a:ea typeface="Consolas" pitchFamily="34" charset="-122"/>
                <a:cs typeface="Consolas" pitchFamily="34" charset="-120"/>
              </a:rPr>
              <a:t>workspace/parameter.yml</a:t>
            </a:r>
            <a:endParaRPr lang="en-US" sz="1400" dirty="0"/>
          </a:p>
        </p:txBody>
      </p:sp>
      <p:sp>
        <p:nvSpPr>
          <p:cNvPr id="11" name="Text 9"/>
          <p:cNvSpPr/>
          <p:nvPr/>
        </p:nvSpPr>
        <p:spPr>
          <a:xfrm>
            <a:off x="6492240" y="2423160"/>
            <a:ext cx="5029200" cy="548640"/>
          </a:xfrm>
          <a:prstGeom prst="rect">
            <a:avLst/>
          </a:prstGeom>
          <a:noFill/>
          <a:ln/>
        </p:spPr>
        <p:txBody>
          <a:bodyPr wrap="square" rtlCol="0" anchor="ctr"/>
          <a:lstStyle/>
          <a:p>
            <a:pPr indent="0" marL="0">
              <a:buNone/>
            </a:pPr>
            <a:r>
              <a:rPr lang="en-US" sz="1100" dirty="0">
                <a:solidFill>
                  <a:srgbClr val="1A1A2E"/>
                </a:solidFill>
                <a:latin typeface="Segoe UI" pitchFamily="34" charset="0"/>
                <a:ea typeface="Segoe UI" pitchFamily="34" charset="-122"/>
                <a:cs typeface="Segoe UI" pitchFamily="34" charset="-120"/>
              </a:rPr>
              <a:t>Lives next to items so fabric-cicd auto-loads it. Holds connection IDs, lakehouse refs, capacity IDs per env.</a:t>
            </a:r>
            <a:endParaRPr lang="en-US" sz="1100" dirty="0"/>
          </a:p>
        </p:txBody>
      </p:sp>
      <p:sp>
        <p:nvSpPr>
          <p:cNvPr id="12" name="Shape 10"/>
          <p:cNvSpPr/>
          <p:nvPr/>
        </p:nvSpPr>
        <p:spPr>
          <a:xfrm>
            <a:off x="6309360" y="3108960"/>
            <a:ext cx="5303520" cy="960120"/>
          </a:xfrm>
          <a:prstGeom prst="rect">
            <a:avLst/>
          </a:prstGeom>
          <a:solidFill>
            <a:srgbClr val="E8F1F5"/>
          </a:solidFill>
          <a:ln w="12700">
            <a:solidFill>
              <a:srgbClr val="E8F1F5"/>
            </a:solidFill>
            <a:prstDash val="solid"/>
          </a:ln>
        </p:spPr>
      </p:sp>
      <p:sp>
        <p:nvSpPr>
          <p:cNvPr id="13" name="Shape 11"/>
          <p:cNvSpPr/>
          <p:nvPr/>
        </p:nvSpPr>
        <p:spPr>
          <a:xfrm>
            <a:off x="6309360" y="3108960"/>
            <a:ext cx="91440" cy="960120"/>
          </a:xfrm>
          <a:prstGeom prst="rect">
            <a:avLst/>
          </a:prstGeom>
          <a:solidFill>
            <a:srgbClr val="F2A341"/>
          </a:solidFill>
          <a:ln w="12700">
            <a:solidFill>
              <a:srgbClr val="F2A341"/>
            </a:solidFill>
            <a:prstDash val="solid"/>
          </a:ln>
        </p:spPr>
      </p:sp>
      <p:sp>
        <p:nvSpPr>
          <p:cNvPr id="14" name="Text 12"/>
          <p:cNvSpPr/>
          <p:nvPr/>
        </p:nvSpPr>
        <p:spPr>
          <a:xfrm>
            <a:off x="6492240" y="3182112"/>
            <a:ext cx="5029200" cy="365760"/>
          </a:xfrm>
          <a:prstGeom prst="rect">
            <a:avLst/>
          </a:prstGeom>
          <a:noFill/>
          <a:ln/>
        </p:spPr>
        <p:txBody>
          <a:bodyPr wrap="square" rtlCol="0" anchor="ctr"/>
          <a:lstStyle/>
          <a:p>
            <a:pPr indent="0" marL="0">
              <a:buNone/>
            </a:pPr>
            <a:r>
              <a:rPr lang="en-US" sz="1400" b="1" dirty="0">
                <a:solidFill>
                  <a:srgbClr val="21295C"/>
                </a:solidFill>
                <a:latin typeface="Consolas" pitchFamily="34" charset="0"/>
                <a:ea typeface="Consolas" pitchFamily="34" charset="-122"/>
                <a:cs typeface="Consolas" pitchFamily="34" charset="-120"/>
              </a:rPr>
              <a:t>deploy.py</a:t>
            </a:r>
            <a:endParaRPr lang="en-US" sz="1400" dirty="0"/>
          </a:p>
        </p:txBody>
      </p:sp>
      <p:sp>
        <p:nvSpPr>
          <p:cNvPr id="15" name="Text 13"/>
          <p:cNvSpPr/>
          <p:nvPr/>
        </p:nvSpPr>
        <p:spPr>
          <a:xfrm>
            <a:off x="6492240" y="3520440"/>
            <a:ext cx="5029200" cy="548640"/>
          </a:xfrm>
          <a:prstGeom prst="rect">
            <a:avLst/>
          </a:prstGeom>
          <a:noFill/>
          <a:ln/>
        </p:spPr>
        <p:txBody>
          <a:bodyPr wrap="square" rtlCol="0" anchor="ctr"/>
          <a:lstStyle/>
          <a:p>
            <a:pPr indent="0" marL="0">
              <a:buNone/>
            </a:pPr>
            <a:r>
              <a:rPr lang="en-US" sz="1100" dirty="0">
                <a:solidFill>
                  <a:srgbClr val="1A1A2E"/>
                </a:solidFill>
                <a:latin typeface="Segoe UI" pitchFamily="34" charset="0"/>
                <a:ea typeface="Segoe UI" pitchFamily="34" charset="-122"/>
                <a:cs typeface="Segoe UI" pitchFamily="34" charset="-120"/>
              </a:rPr>
              <a:t>Thin wrapper around fabric_cicd.FabricWorkspace with unpublish_orphaned_items=True to prevent drift.</a:t>
            </a:r>
            <a:endParaRPr lang="en-US" sz="1100" dirty="0"/>
          </a:p>
        </p:txBody>
      </p:sp>
      <p:sp>
        <p:nvSpPr>
          <p:cNvPr id="16" name="Shape 14"/>
          <p:cNvSpPr/>
          <p:nvPr/>
        </p:nvSpPr>
        <p:spPr>
          <a:xfrm>
            <a:off x="6309360" y="4206240"/>
            <a:ext cx="5303520" cy="960120"/>
          </a:xfrm>
          <a:prstGeom prst="rect">
            <a:avLst/>
          </a:prstGeom>
          <a:solidFill>
            <a:srgbClr val="E8F1F5"/>
          </a:solidFill>
          <a:ln w="12700">
            <a:solidFill>
              <a:srgbClr val="E8F1F5"/>
            </a:solidFill>
            <a:prstDash val="solid"/>
          </a:ln>
        </p:spPr>
      </p:sp>
      <p:sp>
        <p:nvSpPr>
          <p:cNvPr id="17" name="Shape 15"/>
          <p:cNvSpPr/>
          <p:nvPr/>
        </p:nvSpPr>
        <p:spPr>
          <a:xfrm>
            <a:off x="6309360" y="4206240"/>
            <a:ext cx="91440" cy="960120"/>
          </a:xfrm>
          <a:prstGeom prst="rect">
            <a:avLst/>
          </a:prstGeom>
          <a:solidFill>
            <a:srgbClr val="F2A341"/>
          </a:solidFill>
          <a:ln w="12700">
            <a:solidFill>
              <a:srgbClr val="F2A341"/>
            </a:solidFill>
            <a:prstDash val="solid"/>
          </a:ln>
        </p:spPr>
      </p:sp>
      <p:sp>
        <p:nvSpPr>
          <p:cNvPr id="18" name="Text 16"/>
          <p:cNvSpPr/>
          <p:nvPr/>
        </p:nvSpPr>
        <p:spPr>
          <a:xfrm>
            <a:off x="6492240" y="4279392"/>
            <a:ext cx="5029200" cy="365760"/>
          </a:xfrm>
          <a:prstGeom prst="rect">
            <a:avLst/>
          </a:prstGeom>
          <a:noFill/>
          <a:ln/>
        </p:spPr>
        <p:txBody>
          <a:bodyPr wrap="square" rtlCol="0" anchor="ctr"/>
          <a:lstStyle/>
          <a:p>
            <a:pPr indent="0" marL="0">
              <a:buNone/>
            </a:pPr>
            <a:r>
              <a:rPr lang="en-US" sz="1400" b="1" dirty="0">
                <a:solidFill>
                  <a:srgbClr val="21295C"/>
                </a:solidFill>
                <a:latin typeface="Consolas" pitchFamily="34" charset="0"/>
                <a:ea typeface="Consolas" pitchFamily="34" charset="-122"/>
                <a:cs typeface="Consolas" pitchFamily="34" charset="-120"/>
              </a:rPr>
              <a:t>pr-validate.yml</a:t>
            </a:r>
            <a:endParaRPr lang="en-US" sz="1400" dirty="0"/>
          </a:p>
        </p:txBody>
      </p:sp>
      <p:sp>
        <p:nvSpPr>
          <p:cNvPr id="19" name="Text 17"/>
          <p:cNvSpPr/>
          <p:nvPr/>
        </p:nvSpPr>
        <p:spPr>
          <a:xfrm>
            <a:off x="6492240" y="4617720"/>
            <a:ext cx="5029200" cy="548640"/>
          </a:xfrm>
          <a:prstGeom prst="rect">
            <a:avLst/>
          </a:prstGeom>
          <a:noFill/>
          <a:ln/>
        </p:spPr>
        <p:txBody>
          <a:bodyPr wrap="square" rtlCol="0" anchor="ctr"/>
          <a:lstStyle/>
          <a:p>
            <a:pPr indent="0" marL="0">
              <a:buNone/>
            </a:pPr>
            <a:r>
              <a:rPr lang="en-US" sz="1100" dirty="0">
                <a:solidFill>
                  <a:srgbClr val="1A1A2E"/>
                </a:solidFill>
                <a:latin typeface="Segoe UI" pitchFamily="34" charset="0"/>
                <a:ea typeface="Segoe UI" pitchFamily="34" charset="-122"/>
                <a:cs typeface="Segoe UI" pitchFamily="34" charset="-120"/>
              </a:rPr>
              <a:t>Lint + parameter schema check + fabric-cicd dry-run. Red = cannot merge.</a:t>
            </a:r>
            <a:endParaRPr lang="en-US" sz="1100" dirty="0"/>
          </a:p>
        </p:txBody>
      </p:sp>
      <p:sp>
        <p:nvSpPr>
          <p:cNvPr id="20" name="Shape 18"/>
          <p:cNvSpPr/>
          <p:nvPr/>
        </p:nvSpPr>
        <p:spPr>
          <a:xfrm>
            <a:off x="6309360" y="5303520"/>
            <a:ext cx="5303520" cy="960120"/>
          </a:xfrm>
          <a:prstGeom prst="rect">
            <a:avLst/>
          </a:prstGeom>
          <a:solidFill>
            <a:srgbClr val="E8F1F5"/>
          </a:solidFill>
          <a:ln w="12700">
            <a:solidFill>
              <a:srgbClr val="E8F1F5"/>
            </a:solidFill>
            <a:prstDash val="solid"/>
          </a:ln>
        </p:spPr>
      </p:sp>
      <p:sp>
        <p:nvSpPr>
          <p:cNvPr id="21" name="Shape 19"/>
          <p:cNvSpPr/>
          <p:nvPr/>
        </p:nvSpPr>
        <p:spPr>
          <a:xfrm>
            <a:off x="6309360" y="5303520"/>
            <a:ext cx="91440" cy="960120"/>
          </a:xfrm>
          <a:prstGeom prst="rect">
            <a:avLst/>
          </a:prstGeom>
          <a:solidFill>
            <a:srgbClr val="F2A341"/>
          </a:solidFill>
          <a:ln w="12700">
            <a:solidFill>
              <a:srgbClr val="F2A341"/>
            </a:solidFill>
            <a:prstDash val="solid"/>
          </a:ln>
        </p:spPr>
      </p:sp>
      <p:sp>
        <p:nvSpPr>
          <p:cNvPr id="22" name="Text 20"/>
          <p:cNvSpPr/>
          <p:nvPr/>
        </p:nvSpPr>
        <p:spPr>
          <a:xfrm>
            <a:off x="6492240" y="5376672"/>
            <a:ext cx="5029200" cy="365760"/>
          </a:xfrm>
          <a:prstGeom prst="rect">
            <a:avLst/>
          </a:prstGeom>
          <a:noFill/>
          <a:ln/>
        </p:spPr>
        <p:txBody>
          <a:bodyPr wrap="square" rtlCol="0" anchor="ctr"/>
          <a:lstStyle/>
          <a:p>
            <a:pPr indent="0" marL="0">
              <a:buNone/>
            </a:pPr>
            <a:r>
              <a:rPr lang="en-US" sz="1400" b="1" dirty="0">
                <a:solidFill>
                  <a:srgbClr val="21295C"/>
                </a:solidFill>
                <a:latin typeface="Consolas" pitchFamily="34" charset="0"/>
                <a:ea typeface="Consolas" pitchFamily="34" charset="-122"/>
                <a:cs typeface="Consolas" pitchFamily="34" charset="-120"/>
              </a:rPr>
              <a:t>CODEOWNERS</a:t>
            </a:r>
            <a:endParaRPr lang="en-US" sz="1400" dirty="0"/>
          </a:p>
        </p:txBody>
      </p:sp>
      <p:sp>
        <p:nvSpPr>
          <p:cNvPr id="23" name="Text 21"/>
          <p:cNvSpPr/>
          <p:nvPr/>
        </p:nvSpPr>
        <p:spPr>
          <a:xfrm>
            <a:off x="6492240" y="5715000"/>
            <a:ext cx="5029200" cy="548640"/>
          </a:xfrm>
          <a:prstGeom prst="rect">
            <a:avLst/>
          </a:prstGeom>
          <a:noFill/>
          <a:ln/>
        </p:spPr>
        <p:txBody>
          <a:bodyPr wrap="square" rtlCol="0" anchor="ctr"/>
          <a:lstStyle/>
          <a:p>
            <a:pPr indent="0" marL="0">
              <a:buNone/>
            </a:pPr>
            <a:r>
              <a:rPr lang="en-US" sz="1100" dirty="0">
                <a:solidFill>
                  <a:srgbClr val="1A1A2E"/>
                </a:solidFill>
                <a:latin typeface="Segoe UI" pitchFamily="34" charset="0"/>
                <a:ea typeface="Segoe UI" pitchFamily="34" charset="-122"/>
                <a:cs typeface="Segoe UI" pitchFamily="34" charset="-120"/>
              </a:rPr>
              <a:t>Forces the other engineer to review — critical with a 2-person team.</a:t>
            </a:r>
            <a:endParaRPr lang="en-US" sz="1100" dirty="0"/>
          </a:p>
        </p:txBody>
      </p:sp>
      <p:sp>
        <p:nvSpPr>
          <p:cNvPr id="25" name="Shape 22"/>
          <p:cNvSpPr/>
          <p:nvPr/>
        </p:nvSpPr>
        <p:spPr>
          <a:xfrm>
            <a:off x="0" y="6537960"/>
            <a:ext cx="12161520" cy="320040"/>
          </a:xfrm>
          <a:prstGeom prst="rect">
            <a:avLst/>
          </a:prstGeom>
          <a:solidFill>
            <a:srgbClr val="21295C"/>
          </a:solidFill>
          <a:ln w="12700">
            <a:solidFill>
              <a:srgbClr val="21295C"/>
            </a:solidFill>
            <a:prstDash val="solid"/>
          </a:ln>
        </p:spPr>
      </p:sp>
      <p:sp>
        <p:nvSpPr>
          <p:cNvPr id="26" name="Text 23"/>
          <p:cNvSpPr/>
          <p:nvPr/>
        </p:nvSpPr>
        <p:spPr>
          <a:xfrm>
            <a:off x="365760" y="6537960"/>
            <a:ext cx="7315200" cy="320040"/>
          </a:xfrm>
          <a:prstGeom prst="rect">
            <a:avLst/>
          </a:prstGeom>
          <a:noFill/>
          <a:ln/>
        </p:spPr>
        <p:txBody>
          <a:bodyPr wrap="square" rtlCol="0" anchor="ctr"/>
          <a:lstStyle/>
          <a:p>
            <a:pPr indent="0" marL="0">
              <a:buNone/>
            </a:pPr>
            <a:r>
              <a:rPr lang="en-US" sz="1000" dirty="0">
                <a:solidFill>
                  <a:srgbClr val="E8F1F5"/>
                </a:solidFill>
                <a:latin typeface="Segoe UI" pitchFamily="34" charset="0"/>
                <a:ea typeface="Segoe UI" pitchFamily="34" charset="-122"/>
                <a:cs typeface="Segoe UI" pitchFamily="34" charset="-120"/>
              </a:rPr>
              <a:t>Fabric CI/CD from GitHub  ·  Prepared for AHSA</a:t>
            </a:r>
            <a:endParaRPr lang="en-US" sz="1000" dirty="0"/>
          </a:p>
        </p:txBody>
      </p:sp>
      <p:sp>
        <p:nvSpPr>
          <p:cNvPr id="27" name="Text 24"/>
          <p:cNvSpPr/>
          <p:nvPr/>
        </p:nvSpPr>
        <p:spPr>
          <a:xfrm>
            <a:off x="11430000" y="6537960"/>
            <a:ext cx="365760" cy="320040"/>
          </a:xfrm>
          <a:prstGeom prst="rect">
            <a:avLst/>
          </a:prstGeom>
          <a:noFill/>
          <a:ln/>
        </p:spPr>
        <p:txBody>
          <a:bodyPr wrap="square" rtlCol="0" anchor="ctr"/>
          <a:lstStyle/>
          <a:p>
            <a:pPr algn="r" indent="0" marL="0">
              <a:buNone/>
            </a:pPr>
            <a:r>
              <a:rPr lang="en-US" sz="1000" dirty="0">
                <a:solidFill>
                  <a:srgbClr val="E8F1F5"/>
                </a:solidFill>
                <a:latin typeface="Segoe UI" pitchFamily="34" charset="0"/>
                <a:ea typeface="Segoe UI" pitchFamily="34" charset="-122"/>
                <a:cs typeface="Segoe U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537960"/>
          </a:xfrm>
          <a:prstGeom prst="rect">
            <a:avLst/>
          </a:prstGeom>
          <a:solidFill>
            <a:srgbClr val="F2A341"/>
          </a:solidFill>
          <a:ln w="12700">
            <a:solidFill>
              <a:srgbClr val="F2A341"/>
            </a:solidFill>
            <a:prstDash val="solid"/>
          </a:ln>
        </p:spPr>
      </p:sp>
      <p:sp>
        <p:nvSpPr>
          <p:cNvPr id="3" name="Text 1"/>
          <p:cNvSpPr/>
          <p:nvPr/>
        </p:nvSpPr>
        <p:spPr>
          <a:xfrm>
            <a:off x="548640" y="411480"/>
            <a:ext cx="10972800" cy="320040"/>
          </a:xfrm>
          <a:prstGeom prst="rect">
            <a:avLst/>
          </a:prstGeom>
          <a:noFill/>
          <a:ln/>
        </p:spPr>
        <p:txBody>
          <a:bodyPr wrap="square" rtlCol="0" anchor="ctr"/>
          <a:lstStyle/>
          <a:p>
            <a:pPr indent="0" marL="0">
              <a:buNone/>
            </a:pPr>
            <a:r>
              <a:rPr lang="en-US" sz="1100" b="1" spc="400" kern="0" dirty="0">
                <a:solidFill>
                  <a:srgbClr val="1C7293"/>
                </a:solidFill>
                <a:latin typeface="Segoe UI" pitchFamily="34" charset="0"/>
                <a:ea typeface="Segoe UI" pitchFamily="34" charset="-122"/>
                <a:cs typeface="Segoe UI" pitchFamily="34" charset="-120"/>
              </a:rPr>
              <a:t>LIVE WALKTHROUGH</a:t>
            </a:r>
            <a:endParaRPr lang="en-US" sz="1100" dirty="0"/>
          </a:p>
        </p:txBody>
      </p:sp>
      <p:sp>
        <p:nvSpPr>
          <p:cNvPr id="4" name="Text 2"/>
          <p:cNvSpPr/>
          <p:nvPr/>
        </p:nvSpPr>
        <p:spPr>
          <a:xfrm>
            <a:off x="548640" y="731520"/>
            <a:ext cx="10972800" cy="822960"/>
          </a:xfrm>
          <a:prstGeom prst="rect">
            <a:avLst/>
          </a:prstGeom>
          <a:noFill/>
          <a:ln/>
        </p:spPr>
        <p:txBody>
          <a:bodyPr wrap="square" rtlCol="0" anchor="ctr"/>
          <a:lstStyle/>
          <a:p>
            <a:pPr indent="0" marL="0">
              <a:buNone/>
            </a:pPr>
            <a:r>
              <a:rPr lang="en-US" sz="3200" b="1" dirty="0">
                <a:solidFill>
                  <a:srgbClr val="21295C"/>
                </a:solidFill>
                <a:latin typeface="Segoe UI" pitchFamily="34" charset="0"/>
                <a:ea typeface="Segoe UI" pitchFamily="34" charset="-122"/>
                <a:cs typeface="Segoe UI" pitchFamily="34" charset="-120"/>
              </a:rPr>
              <a:t>60-minute agenda for AHSA</a:t>
            </a:r>
            <a:endParaRPr lang="en-US" sz="3200" dirty="0"/>
          </a:p>
        </p:txBody>
      </p:sp>
      <p:sp>
        <p:nvSpPr>
          <p:cNvPr id="5" name="Shape 3"/>
          <p:cNvSpPr/>
          <p:nvPr/>
        </p:nvSpPr>
        <p:spPr>
          <a:xfrm>
            <a:off x="548640" y="1600200"/>
            <a:ext cx="1097280" cy="0"/>
          </a:xfrm>
          <a:prstGeom prst="line">
            <a:avLst/>
          </a:prstGeom>
          <a:noFill/>
          <a:ln w="38100">
            <a:solidFill>
              <a:srgbClr val="F2A341"/>
            </a:solidFill>
            <a:prstDash val="solid"/>
          </a:ln>
        </p:spPr>
      </p:sp>
      <p:sp>
        <p:nvSpPr>
          <p:cNvPr id="6" name="Shape 4"/>
          <p:cNvSpPr/>
          <p:nvPr/>
        </p:nvSpPr>
        <p:spPr>
          <a:xfrm>
            <a:off x="548640" y="2011680"/>
            <a:ext cx="11064240" cy="502920"/>
          </a:xfrm>
          <a:prstGeom prst="rect">
            <a:avLst/>
          </a:prstGeom>
          <a:solidFill>
            <a:srgbClr val="E8F1F5"/>
          </a:solidFill>
          <a:ln w="12700">
            <a:solidFill>
              <a:srgbClr val="E8F1F5"/>
            </a:solidFill>
            <a:prstDash val="solid"/>
          </a:ln>
        </p:spPr>
      </p:sp>
      <p:sp>
        <p:nvSpPr>
          <p:cNvPr id="7" name="Shape 5"/>
          <p:cNvSpPr/>
          <p:nvPr/>
        </p:nvSpPr>
        <p:spPr>
          <a:xfrm>
            <a:off x="777240" y="2084832"/>
            <a:ext cx="365760" cy="365760"/>
          </a:xfrm>
          <a:prstGeom prst="ellipse">
            <a:avLst/>
          </a:prstGeom>
          <a:solidFill>
            <a:srgbClr val="065A82"/>
          </a:solidFill>
          <a:ln w="12700">
            <a:solidFill>
              <a:srgbClr val="065A82"/>
            </a:solidFill>
            <a:prstDash val="solid"/>
          </a:ln>
        </p:spPr>
      </p:sp>
      <p:sp>
        <p:nvSpPr>
          <p:cNvPr id="8" name="Text 6"/>
          <p:cNvSpPr/>
          <p:nvPr/>
        </p:nvSpPr>
        <p:spPr>
          <a:xfrm>
            <a:off x="777240" y="2084832"/>
            <a:ext cx="365760" cy="36576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0</a:t>
            </a:r>
            <a:endParaRPr lang="en-US" sz="1400" dirty="0"/>
          </a:p>
        </p:txBody>
      </p:sp>
      <p:sp>
        <p:nvSpPr>
          <p:cNvPr id="9" name="Text 7"/>
          <p:cNvSpPr/>
          <p:nvPr/>
        </p:nvSpPr>
        <p:spPr>
          <a:xfrm>
            <a:off x="1371600" y="2011680"/>
            <a:ext cx="8686800" cy="502920"/>
          </a:xfrm>
          <a:prstGeom prst="rect">
            <a:avLst/>
          </a:prstGeom>
          <a:noFill/>
          <a:ln/>
        </p:spPr>
        <p:txBody>
          <a:bodyPr wrap="square" rtlCol="0" anchor="ctr"/>
          <a:lstStyle/>
          <a:p>
            <a:pPr indent="0" marL="0">
              <a:buNone/>
            </a:pPr>
            <a:r>
              <a:rPr lang="en-US" sz="1500" dirty="0">
                <a:solidFill>
                  <a:srgbClr val="21295C"/>
                </a:solidFill>
                <a:latin typeface="Segoe UI" pitchFamily="34" charset="0"/>
                <a:ea typeface="Segoe UI" pitchFamily="34" charset="-122"/>
                <a:cs typeface="Segoe UI" pitchFamily="34" charset="-120"/>
              </a:rPr>
              <a:t>Pre-built setup tour</a:t>
            </a:r>
            <a:endParaRPr lang="en-US" sz="1500" dirty="0"/>
          </a:p>
        </p:txBody>
      </p:sp>
      <p:sp>
        <p:nvSpPr>
          <p:cNvPr id="10" name="Text 8"/>
          <p:cNvSpPr/>
          <p:nvPr/>
        </p:nvSpPr>
        <p:spPr>
          <a:xfrm>
            <a:off x="10058400" y="2011680"/>
            <a:ext cx="1554480" cy="502920"/>
          </a:xfrm>
          <a:prstGeom prst="rect">
            <a:avLst/>
          </a:prstGeom>
          <a:noFill/>
          <a:ln/>
        </p:spPr>
        <p:txBody>
          <a:bodyPr wrap="square" rtlCol="0" anchor="ctr"/>
          <a:lstStyle/>
          <a:p>
            <a:pPr algn="r" indent="0" marL="0">
              <a:buNone/>
            </a:pPr>
            <a:r>
              <a:rPr lang="en-US" sz="1400" b="1" dirty="0">
                <a:solidFill>
                  <a:srgbClr val="1C7293"/>
                </a:solidFill>
                <a:latin typeface="Segoe UI" pitchFamily="34" charset="0"/>
                <a:ea typeface="Segoe UI" pitchFamily="34" charset="-122"/>
                <a:cs typeface="Segoe UI" pitchFamily="34" charset="-120"/>
              </a:rPr>
              <a:t>5 min</a:t>
            </a:r>
            <a:endParaRPr lang="en-US" sz="1400" dirty="0"/>
          </a:p>
        </p:txBody>
      </p:sp>
      <p:sp>
        <p:nvSpPr>
          <p:cNvPr id="11" name="Shape 9"/>
          <p:cNvSpPr/>
          <p:nvPr/>
        </p:nvSpPr>
        <p:spPr>
          <a:xfrm>
            <a:off x="777240" y="2587752"/>
            <a:ext cx="365760" cy="365760"/>
          </a:xfrm>
          <a:prstGeom prst="ellipse">
            <a:avLst/>
          </a:prstGeom>
          <a:solidFill>
            <a:srgbClr val="065A82"/>
          </a:solidFill>
          <a:ln w="12700">
            <a:solidFill>
              <a:srgbClr val="065A82"/>
            </a:solidFill>
            <a:prstDash val="solid"/>
          </a:ln>
        </p:spPr>
      </p:sp>
      <p:sp>
        <p:nvSpPr>
          <p:cNvPr id="12" name="Text 10"/>
          <p:cNvSpPr/>
          <p:nvPr/>
        </p:nvSpPr>
        <p:spPr>
          <a:xfrm>
            <a:off x="777240" y="2587752"/>
            <a:ext cx="365760" cy="36576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1</a:t>
            </a:r>
            <a:endParaRPr lang="en-US" sz="1400" dirty="0"/>
          </a:p>
        </p:txBody>
      </p:sp>
      <p:sp>
        <p:nvSpPr>
          <p:cNvPr id="13" name="Text 11"/>
          <p:cNvSpPr/>
          <p:nvPr/>
        </p:nvSpPr>
        <p:spPr>
          <a:xfrm>
            <a:off x="1371600" y="2514600"/>
            <a:ext cx="8686800" cy="502920"/>
          </a:xfrm>
          <a:prstGeom prst="rect">
            <a:avLst/>
          </a:prstGeom>
          <a:noFill/>
          <a:ln/>
        </p:spPr>
        <p:txBody>
          <a:bodyPr wrap="square" rtlCol="0" anchor="ctr"/>
          <a:lstStyle/>
          <a:p>
            <a:pPr indent="0" marL="0">
              <a:buNone/>
            </a:pPr>
            <a:r>
              <a:rPr lang="en-US" sz="1500" dirty="0">
                <a:solidFill>
                  <a:srgbClr val="21295C"/>
                </a:solidFill>
                <a:latin typeface="Segoe UI" pitchFamily="34" charset="0"/>
                <a:ea typeface="Segoe UI" pitchFamily="34" charset="-122"/>
                <a:cs typeface="Segoe UI" pitchFamily="34" charset="-120"/>
              </a:rPr>
              <a:t>Repo &amp; workspace tour</a:t>
            </a:r>
            <a:endParaRPr lang="en-US" sz="1500" dirty="0"/>
          </a:p>
        </p:txBody>
      </p:sp>
      <p:sp>
        <p:nvSpPr>
          <p:cNvPr id="14" name="Text 12"/>
          <p:cNvSpPr/>
          <p:nvPr/>
        </p:nvSpPr>
        <p:spPr>
          <a:xfrm>
            <a:off x="10058400" y="2514600"/>
            <a:ext cx="1554480" cy="502920"/>
          </a:xfrm>
          <a:prstGeom prst="rect">
            <a:avLst/>
          </a:prstGeom>
          <a:noFill/>
          <a:ln/>
        </p:spPr>
        <p:txBody>
          <a:bodyPr wrap="square" rtlCol="0" anchor="ctr"/>
          <a:lstStyle/>
          <a:p>
            <a:pPr algn="r" indent="0" marL="0">
              <a:buNone/>
            </a:pPr>
            <a:r>
              <a:rPr lang="en-US" sz="1400" b="1" dirty="0">
                <a:solidFill>
                  <a:srgbClr val="1C7293"/>
                </a:solidFill>
                <a:latin typeface="Segoe UI" pitchFamily="34" charset="0"/>
                <a:ea typeface="Segoe UI" pitchFamily="34" charset="-122"/>
                <a:cs typeface="Segoe UI" pitchFamily="34" charset="-120"/>
              </a:rPr>
              <a:t>5 min</a:t>
            </a:r>
            <a:endParaRPr lang="en-US" sz="1400" dirty="0"/>
          </a:p>
        </p:txBody>
      </p:sp>
      <p:sp>
        <p:nvSpPr>
          <p:cNvPr id="15" name="Shape 13"/>
          <p:cNvSpPr/>
          <p:nvPr/>
        </p:nvSpPr>
        <p:spPr>
          <a:xfrm>
            <a:off x="548640" y="3017520"/>
            <a:ext cx="11064240" cy="502920"/>
          </a:xfrm>
          <a:prstGeom prst="rect">
            <a:avLst/>
          </a:prstGeom>
          <a:solidFill>
            <a:srgbClr val="E8F1F5"/>
          </a:solidFill>
          <a:ln w="12700">
            <a:solidFill>
              <a:srgbClr val="E8F1F5"/>
            </a:solidFill>
            <a:prstDash val="solid"/>
          </a:ln>
        </p:spPr>
      </p:sp>
      <p:sp>
        <p:nvSpPr>
          <p:cNvPr id="16" name="Shape 14"/>
          <p:cNvSpPr/>
          <p:nvPr/>
        </p:nvSpPr>
        <p:spPr>
          <a:xfrm>
            <a:off x="777240" y="3090672"/>
            <a:ext cx="365760" cy="365760"/>
          </a:xfrm>
          <a:prstGeom prst="ellipse">
            <a:avLst/>
          </a:prstGeom>
          <a:solidFill>
            <a:srgbClr val="065A82"/>
          </a:solidFill>
          <a:ln w="12700">
            <a:solidFill>
              <a:srgbClr val="065A82"/>
            </a:solidFill>
            <a:prstDash val="solid"/>
          </a:ln>
        </p:spPr>
      </p:sp>
      <p:sp>
        <p:nvSpPr>
          <p:cNvPr id="17" name="Text 15"/>
          <p:cNvSpPr/>
          <p:nvPr/>
        </p:nvSpPr>
        <p:spPr>
          <a:xfrm>
            <a:off x="777240" y="3090672"/>
            <a:ext cx="365760" cy="36576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18" name="Text 16"/>
          <p:cNvSpPr/>
          <p:nvPr/>
        </p:nvSpPr>
        <p:spPr>
          <a:xfrm>
            <a:off x="1371600" y="3017520"/>
            <a:ext cx="8686800" cy="502920"/>
          </a:xfrm>
          <a:prstGeom prst="rect">
            <a:avLst/>
          </a:prstGeom>
          <a:noFill/>
          <a:ln/>
        </p:spPr>
        <p:txBody>
          <a:bodyPr wrap="square" rtlCol="0" anchor="ctr"/>
          <a:lstStyle/>
          <a:p>
            <a:pPr indent="0" marL="0">
              <a:buNone/>
            </a:pPr>
            <a:r>
              <a:rPr lang="en-US" sz="1500" dirty="0">
                <a:solidFill>
                  <a:srgbClr val="21295C"/>
                </a:solidFill>
                <a:latin typeface="Segoe UI" pitchFamily="34" charset="0"/>
                <a:ea typeface="Segoe UI" pitchFamily="34" charset="-122"/>
                <a:cs typeface="Segoe UI" pitchFamily="34" charset="-120"/>
              </a:rPr>
              <a:t>Inner loop A — shared Dev workspace</a:t>
            </a:r>
            <a:endParaRPr lang="en-US" sz="1500" dirty="0"/>
          </a:p>
        </p:txBody>
      </p:sp>
      <p:sp>
        <p:nvSpPr>
          <p:cNvPr id="19" name="Text 17"/>
          <p:cNvSpPr/>
          <p:nvPr/>
        </p:nvSpPr>
        <p:spPr>
          <a:xfrm>
            <a:off x="10058400" y="3017520"/>
            <a:ext cx="1554480" cy="502920"/>
          </a:xfrm>
          <a:prstGeom prst="rect">
            <a:avLst/>
          </a:prstGeom>
          <a:noFill/>
          <a:ln/>
        </p:spPr>
        <p:txBody>
          <a:bodyPr wrap="square" rtlCol="0" anchor="ctr"/>
          <a:lstStyle/>
          <a:p>
            <a:pPr algn="r" indent="0" marL="0">
              <a:buNone/>
            </a:pPr>
            <a:r>
              <a:rPr lang="en-US" sz="1400" b="1" dirty="0">
                <a:solidFill>
                  <a:srgbClr val="1C7293"/>
                </a:solidFill>
                <a:latin typeface="Segoe UI" pitchFamily="34" charset="0"/>
                <a:ea typeface="Segoe UI" pitchFamily="34" charset="-122"/>
                <a:cs typeface="Segoe UI" pitchFamily="34" charset="-120"/>
              </a:rPr>
              <a:t>10 min</a:t>
            </a:r>
            <a:endParaRPr lang="en-US" sz="1400" dirty="0"/>
          </a:p>
        </p:txBody>
      </p:sp>
      <p:sp>
        <p:nvSpPr>
          <p:cNvPr id="20" name="Shape 18"/>
          <p:cNvSpPr/>
          <p:nvPr/>
        </p:nvSpPr>
        <p:spPr>
          <a:xfrm>
            <a:off x="777240" y="3593592"/>
            <a:ext cx="365760" cy="365760"/>
          </a:xfrm>
          <a:prstGeom prst="ellipse">
            <a:avLst/>
          </a:prstGeom>
          <a:solidFill>
            <a:srgbClr val="065A82"/>
          </a:solidFill>
          <a:ln w="12700">
            <a:solidFill>
              <a:srgbClr val="065A82"/>
            </a:solidFill>
            <a:prstDash val="solid"/>
          </a:ln>
        </p:spPr>
      </p:sp>
      <p:sp>
        <p:nvSpPr>
          <p:cNvPr id="21" name="Text 19"/>
          <p:cNvSpPr/>
          <p:nvPr/>
        </p:nvSpPr>
        <p:spPr>
          <a:xfrm>
            <a:off x="777240" y="3593592"/>
            <a:ext cx="365760" cy="36576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22" name="Text 20"/>
          <p:cNvSpPr/>
          <p:nvPr/>
        </p:nvSpPr>
        <p:spPr>
          <a:xfrm>
            <a:off x="1371600" y="3520440"/>
            <a:ext cx="8686800" cy="502920"/>
          </a:xfrm>
          <a:prstGeom prst="rect">
            <a:avLst/>
          </a:prstGeom>
          <a:noFill/>
          <a:ln/>
        </p:spPr>
        <p:txBody>
          <a:bodyPr wrap="square" rtlCol="0" anchor="ctr"/>
          <a:lstStyle/>
          <a:p>
            <a:pPr indent="0" marL="0">
              <a:buNone/>
            </a:pPr>
            <a:r>
              <a:rPr lang="en-US" sz="1500" dirty="0">
                <a:solidFill>
                  <a:srgbClr val="21295C"/>
                </a:solidFill>
                <a:latin typeface="Segoe UI" pitchFamily="34" charset="0"/>
                <a:ea typeface="Segoe UI" pitchFamily="34" charset="-122"/>
                <a:cs typeface="Segoe UI" pitchFamily="34" charset="-120"/>
              </a:rPr>
              <a:t>Inner loop B — per-dev workspace</a:t>
            </a:r>
            <a:endParaRPr lang="en-US" sz="1500" dirty="0"/>
          </a:p>
        </p:txBody>
      </p:sp>
      <p:sp>
        <p:nvSpPr>
          <p:cNvPr id="23" name="Text 21"/>
          <p:cNvSpPr/>
          <p:nvPr/>
        </p:nvSpPr>
        <p:spPr>
          <a:xfrm>
            <a:off x="10058400" y="3520440"/>
            <a:ext cx="1554480" cy="502920"/>
          </a:xfrm>
          <a:prstGeom prst="rect">
            <a:avLst/>
          </a:prstGeom>
          <a:noFill/>
          <a:ln/>
        </p:spPr>
        <p:txBody>
          <a:bodyPr wrap="square" rtlCol="0" anchor="ctr"/>
          <a:lstStyle/>
          <a:p>
            <a:pPr algn="r" indent="0" marL="0">
              <a:buNone/>
            </a:pPr>
            <a:r>
              <a:rPr lang="en-US" sz="1400" b="1" dirty="0">
                <a:solidFill>
                  <a:srgbClr val="1C7293"/>
                </a:solidFill>
                <a:latin typeface="Segoe UI" pitchFamily="34" charset="0"/>
                <a:ea typeface="Segoe UI" pitchFamily="34" charset="-122"/>
                <a:cs typeface="Segoe UI" pitchFamily="34" charset="-120"/>
              </a:rPr>
              <a:t>10 min</a:t>
            </a:r>
            <a:endParaRPr lang="en-US" sz="1400" dirty="0"/>
          </a:p>
        </p:txBody>
      </p:sp>
      <p:sp>
        <p:nvSpPr>
          <p:cNvPr id="24" name="Shape 22"/>
          <p:cNvSpPr/>
          <p:nvPr/>
        </p:nvSpPr>
        <p:spPr>
          <a:xfrm>
            <a:off x="548640" y="4023360"/>
            <a:ext cx="11064240" cy="502920"/>
          </a:xfrm>
          <a:prstGeom prst="rect">
            <a:avLst/>
          </a:prstGeom>
          <a:solidFill>
            <a:srgbClr val="E8F1F5"/>
          </a:solidFill>
          <a:ln w="12700">
            <a:solidFill>
              <a:srgbClr val="E8F1F5"/>
            </a:solidFill>
            <a:prstDash val="solid"/>
          </a:ln>
        </p:spPr>
      </p:sp>
      <p:sp>
        <p:nvSpPr>
          <p:cNvPr id="25" name="Shape 23"/>
          <p:cNvSpPr/>
          <p:nvPr/>
        </p:nvSpPr>
        <p:spPr>
          <a:xfrm>
            <a:off x="777240" y="4096512"/>
            <a:ext cx="365760" cy="365760"/>
          </a:xfrm>
          <a:prstGeom prst="ellipse">
            <a:avLst/>
          </a:prstGeom>
          <a:solidFill>
            <a:srgbClr val="065A82"/>
          </a:solidFill>
          <a:ln w="12700">
            <a:solidFill>
              <a:srgbClr val="065A82"/>
            </a:solidFill>
            <a:prstDash val="solid"/>
          </a:ln>
        </p:spPr>
      </p:sp>
      <p:sp>
        <p:nvSpPr>
          <p:cNvPr id="26" name="Text 24"/>
          <p:cNvSpPr/>
          <p:nvPr/>
        </p:nvSpPr>
        <p:spPr>
          <a:xfrm>
            <a:off x="777240" y="4096512"/>
            <a:ext cx="365760" cy="36576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4</a:t>
            </a:r>
            <a:endParaRPr lang="en-US" sz="1400" dirty="0"/>
          </a:p>
        </p:txBody>
      </p:sp>
      <p:sp>
        <p:nvSpPr>
          <p:cNvPr id="27" name="Text 25"/>
          <p:cNvSpPr/>
          <p:nvPr/>
        </p:nvSpPr>
        <p:spPr>
          <a:xfrm>
            <a:off x="1371600" y="4023360"/>
            <a:ext cx="8686800" cy="502920"/>
          </a:xfrm>
          <a:prstGeom prst="rect">
            <a:avLst/>
          </a:prstGeom>
          <a:noFill/>
          <a:ln/>
        </p:spPr>
        <p:txBody>
          <a:bodyPr wrap="square" rtlCol="0" anchor="ctr"/>
          <a:lstStyle/>
          <a:p>
            <a:pPr indent="0" marL="0">
              <a:buNone/>
            </a:pPr>
            <a:r>
              <a:rPr lang="en-US" sz="1500" dirty="0">
                <a:solidFill>
                  <a:srgbClr val="21295C"/>
                </a:solidFill>
                <a:latin typeface="Segoe UI" pitchFamily="34" charset="0"/>
                <a:ea typeface="Segoe UI" pitchFamily="34" charset="-122"/>
                <a:cs typeface="Segoe UI" pitchFamily="34" charset="-120"/>
              </a:rPr>
              <a:t>Promote Dev → Test (auto on PR merge)</a:t>
            </a:r>
            <a:endParaRPr lang="en-US" sz="1500" dirty="0"/>
          </a:p>
        </p:txBody>
      </p:sp>
      <p:sp>
        <p:nvSpPr>
          <p:cNvPr id="28" name="Text 26"/>
          <p:cNvSpPr/>
          <p:nvPr/>
        </p:nvSpPr>
        <p:spPr>
          <a:xfrm>
            <a:off x="10058400" y="4023360"/>
            <a:ext cx="1554480" cy="502920"/>
          </a:xfrm>
          <a:prstGeom prst="rect">
            <a:avLst/>
          </a:prstGeom>
          <a:noFill/>
          <a:ln/>
        </p:spPr>
        <p:txBody>
          <a:bodyPr wrap="square" rtlCol="0" anchor="ctr"/>
          <a:lstStyle/>
          <a:p>
            <a:pPr algn="r" indent="0" marL="0">
              <a:buNone/>
            </a:pPr>
            <a:r>
              <a:rPr lang="en-US" sz="1400" b="1" dirty="0">
                <a:solidFill>
                  <a:srgbClr val="1C7293"/>
                </a:solidFill>
                <a:latin typeface="Segoe UI" pitchFamily="34" charset="0"/>
                <a:ea typeface="Segoe UI" pitchFamily="34" charset="-122"/>
                <a:cs typeface="Segoe UI" pitchFamily="34" charset="-120"/>
              </a:rPr>
              <a:t>10 min</a:t>
            </a:r>
            <a:endParaRPr lang="en-US" sz="1400" dirty="0"/>
          </a:p>
        </p:txBody>
      </p:sp>
      <p:sp>
        <p:nvSpPr>
          <p:cNvPr id="29" name="Shape 27"/>
          <p:cNvSpPr/>
          <p:nvPr/>
        </p:nvSpPr>
        <p:spPr>
          <a:xfrm>
            <a:off x="777240" y="4599432"/>
            <a:ext cx="365760" cy="365760"/>
          </a:xfrm>
          <a:prstGeom prst="ellipse">
            <a:avLst/>
          </a:prstGeom>
          <a:solidFill>
            <a:srgbClr val="065A82"/>
          </a:solidFill>
          <a:ln w="12700">
            <a:solidFill>
              <a:srgbClr val="065A82"/>
            </a:solidFill>
            <a:prstDash val="solid"/>
          </a:ln>
        </p:spPr>
      </p:sp>
      <p:sp>
        <p:nvSpPr>
          <p:cNvPr id="30" name="Text 28"/>
          <p:cNvSpPr/>
          <p:nvPr/>
        </p:nvSpPr>
        <p:spPr>
          <a:xfrm>
            <a:off x="777240" y="4599432"/>
            <a:ext cx="365760" cy="36576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5</a:t>
            </a:r>
            <a:endParaRPr lang="en-US" sz="1400" dirty="0"/>
          </a:p>
        </p:txBody>
      </p:sp>
      <p:sp>
        <p:nvSpPr>
          <p:cNvPr id="31" name="Text 29"/>
          <p:cNvSpPr/>
          <p:nvPr/>
        </p:nvSpPr>
        <p:spPr>
          <a:xfrm>
            <a:off x="1371600" y="4526280"/>
            <a:ext cx="8686800" cy="502920"/>
          </a:xfrm>
          <a:prstGeom prst="rect">
            <a:avLst/>
          </a:prstGeom>
          <a:noFill/>
          <a:ln/>
        </p:spPr>
        <p:txBody>
          <a:bodyPr wrap="square" rtlCol="0" anchor="ctr"/>
          <a:lstStyle/>
          <a:p>
            <a:pPr indent="0" marL="0">
              <a:buNone/>
            </a:pPr>
            <a:r>
              <a:rPr lang="en-US" sz="1500" dirty="0">
                <a:solidFill>
                  <a:srgbClr val="21295C"/>
                </a:solidFill>
                <a:latin typeface="Segoe UI" pitchFamily="34" charset="0"/>
                <a:ea typeface="Segoe UI" pitchFamily="34" charset="-122"/>
                <a:cs typeface="Segoe UI" pitchFamily="34" charset="-120"/>
              </a:rPr>
              <a:t>Promote Test → Prod (gated, 4-eyes)</a:t>
            </a:r>
            <a:endParaRPr lang="en-US" sz="1500" dirty="0"/>
          </a:p>
        </p:txBody>
      </p:sp>
      <p:sp>
        <p:nvSpPr>
          <p:cNvPr id="32" name="Text 30"/>
          <p:cNvSpPr/>
          <p:nvPr/>
        </p:nvSpPr>
        <p:spPr>
          <a:xfrm>
            <a:off x="10058400" y="4526280"/>
            <a:ext cx="1554480" cy="502920"/>
          </a:xfrm>
          <a:prstGeom prst="rect">
            <a:avLst/>
          </a:prstGeom>
          <a:noFill/>
          <a:ln/>
        </p:spPr>
        <p:txBody>
          <a:bodyPr wrap="square" rtlCol="0" anchor="ctr"/>
          <a:lstStyle/>
          <a:p>
            <a:pPr algn="r" indent="0" marL="0">
              <a:buNone/>
            </a:pPr>
            <a:r>
              <a:rPr lang="en-US" sz="1400" b="1" dirty="0">
                <a:solidFill>
                  <a:srgbClr val="1C7293"/>
                </a:solidFill>
                <a:latin typeface="Segoe UI" pitchFamily="34" charset="0"/>
                <a:ea typeface="Segoe UI" pitchFamily="34" charset="-122"/>
                <a:cs typeface="Segoe UI" pitchFamily="34" charset="-120"/>
              </a:rPr>
              <a:t>10 min</a:t>
            </a:r>
            <a:endParaRPr lang="en-US" sz="1400" dirty="0"/>
          </a:p>
        </p:txBody>
      </p:sp>
      <p:sp>
        <p:nvSpPr>
          <p:cNvPr id="33" name="Shape 31"/>
          <p:cNvSpPr/>
          <p:nvPr/>
        </p:nvSpPr>
        <p:spPr>
          <a:xfrm>
            <a:off x="548640" y="5029200"/>
            <a:ext cx="11064240" cy="502920"/>
          </a:xfrm>
          <a:prstGeom prst="rect">
            <a:avLst/>
          </a:prstGeom>
          <a:solidFill>
            <a:srgbClr val="E8F1F5"/>
          </a:solidFill>
          <a:ln w="12700">
            <a:solidFill>
              <a:srgbClr val="E8F1F5"/>
            </a:solidFill>
            <a:prstDash val="solid"/>
          </a:ln>
        </p:spPr>
      </p:sp>
      <p:sp>
        <p:nvSpPr>
          <p:cNvPr id="34" name="Shape 32"/>
          <p:cNvSpPr/>
          <p:nvPr/>
        </p:nvSpPr>
        <p:spPr>
          <a:xfrm>
            <a:off x="777240" y="5102352"/>
            <a:ext cx="365760" cy="365760"/>
          </a:xfrm>
          <a:prstGeom prst="ellipse">
            <a:avLst/>
          </a:prstGeom>
          <a:solidFill>
            <a:srgbClr val="065A82"/>
          </a:solidFill>
          <a:ln w="12700">
            <a:solidFill>
              <a:srgbClr val="065A82"/>
            </a:solidFill>
            <a:prstDash val="solid"/>
          </a:ln>
        </p:spPr>
      </p:sp>
      <p:sp>
        <p:nvSpPr>
          <p:cNvPr id="35" name="Text 33"/>
          <p:cNvSpPr/>
          <p:nvPr/>
        </p:nvSpPr>
        <p:spPr>
          <a:xfrm>
            <a:off x="777240" y="5102352"/>
            <a:ext cx="365760" cy="36576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6</a:t>
            </a:r>
            <a:endParaRPr lang="en-US" sz="1400" dirty="0"/>
          </a:p>
        </p:txBody>
      </p:sp>
      <p:sp>
        <p:nvSpPr>
          <p:cNvPr id="36" name="Text 34"/>
          <p:cNvSpPr/>
          <p:nvPr/>
        </p:nvSpPr>
        <p:spPr>
          <a:xfrm>
            <a:off x="1371600" y="5029200"/>
            <a:ext cx="8686800" cy="502920"/>
          </a:xfrm>
          <a:prstGeom prst="rect">
            <a:avLst/>
          </a:prstGeom>
          <a:noFill/>
          <a:ln/>
        </p:spPr>
        <p:txBody>
          <a:bodyPr wrap="square" rtlCol="0" anchor="ctr"/>
          <a:lstStyle/>
          <a:p>
            <a:pPr indent="0" marL="0">
              <a:buNone/>
            </a:pPr>
            <a:r>
              <a:rPr lang="en-US" sz="1500" dirty="0">
                <a:solidFill>
                  <a:srgbClr val="21295C"/>
                </a:solidFill>
                <a:latin typeface="Segoe UI" pitchFamily="34" charset="0"/>
                <a:ea typeface="Segoe UI" pitchFamily="34" charset="-122"/>
                <a:cs typeface="Segoe UI" pitchFamily="34" charset="-120"/>
              </a:rPr>
              <a:t>Failure &amp; rollback (revert merge)</a:t>
            </a:r>
            <a:endParaRPr lang="en-US" sz="1500" dirty="0"/>
          </a:p>
        </p:txBody>
      </p:sp>
      <p:sp>
        <p:nvSpPr>
          <p:cNvPr id="37" name="Text 35"/>
          <p:cNvSpPr/>
          <p:nvPr/>
        </p:nvSpPr>
        <p:spPr>
          <a:xfrm>
            <a:off x="10058400" y="5029200"/>
            <a:ext cx="1554480" cy="502920"/>
          </a:xfrm>
          <a:prstGeom prst="rect">
            <a:avLst/>
          </a:prstGeom>
          <a:noFill/>
          <a:ln/>
        </p:spPr>
        <p:txBody>
          <a:bodyPr wrap="square" rtlCol="0" anchor="ctr"/>
          <a:lstStyle/>
          <a:p>
            <a:pPr algn="r" indent="0" marL="0">
              <a:buNone/>
            </a:pPr>
            <a:r>
              <a:rPr lang="en-US" sz="1400" b="1" dirty="0">
                <a:solidFill>
                  <a:srgbClr val="1C7293"/>
                </a:solidFill>
                <a:latin typeface="Segoe UI" pitchFamily="34" charset="0"/>
                <a:ea typeface="Segoe UI" pitchFamily="34" charset="-122"/>
                <a:cs typeface="Segoe UI" pitchFamily="34" charset="-120"/>
              </a:rPr>
              <a:t>5 min</a:t>
            </a:r>
            <a:endParaRPr lang="en-US" sz="1400" dirty="0"/>
          </a:p>
        </p:txBody>
      </p:sp>
      <p:sp>
        <p:nvSpPr>
          <p:cNvPr id="38" name="Shape 36"/>
          <p:cNvSpPr/>
          <p:nvPr/>
        </p:nvSpPr>
        <p:spPr>
          <a:xfrm>
            <a:off x="777240" y="5605272"/>
            <a:ext cx="365760" cy="365760"/>
          </a:xfrm>
          <a:prstGeom prst="ellipse">
            <a:avLst/>
          </a:prstGeom>
          <a:solidFill>
            <a:srgbClr val="065A82"/>
          </a:solidFill>
          <a:ln w="12700">
            <a:solidFill>
              <a:srgbClr val="065A82"/>
            </a:solidFill>
            <a:prstDash val="solid"/>
          </a:ln>
        </p:spPr>
      </p:sp>
      <p:sp>
        <p:nvSpPr>
          <p:cNvPr id="39" name="Text 37"/>
          <p:cNvSpPr/>
          <p:nvPr/>
        </p:nvSpPr>
        <p:spPr>
          <a:xfrm>
            <a:off x="777240" y="5605272"/>
            <a:ext cx="365760" cy="36576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7</a:t>
            </a:r>
            <a:endParaRPr lang="en-US" sz="1400" dirty="0"/>
          </a:p>
        </p:txBody>
      </p:sp>
      <p:sp>
        <p:nvSpPr>
          <p:cNvPr id="40" name="Text 38"/>
          <p:cNvSpPr/>
          <p:nvPr/>
        </p:nvSpPr>
        <p:spPr>
          <a:xfrm>
            <a:off x="1371600" y="5532120"/>
            <a:ext cx="8686800" cy="502920"/>
          </a:xfrm>
          <a:prstGeom prst="rect">
            <a:avLst/>
          </a:prstGeom>
          <a:noFill/>
          <a:ln/>
        </p:spPr>
        <p:txBody>
          <a:bodyPr wrap="square" rtlCol="0" anchor="ctr"/>
          <a:lstStyle/>
          <a:p>
            <a:pPr indent="0" marL="0">
              <a:buNone/>
            </a:pPr>
            <a:r>
              <a:rPr lang="en-US" sz="1500" dirty="0">
                <a:solidFill>
                  <a:srgbClr val="21295C"/>
                </a:solidFill>
                <a:latin typeface="Segoe UI" pitchFamily="34" charset="0"/>
                <a:ea typeface="Segoe UI" pitchFamily="34" charset="-122"/>
                <a:cs typeface="Segoe UI" pitchFamily="34" charset="-120"/>
              </a:rPr>
              <a:t>Best-practice recap + Q&amp;A</a:t>
            </a:r>
            <a:endParaRPr lang="en-US" sz="1500" dirty="0"/>
          </a:p>
        </p:txBody>
      </p:sp>
      <p:sp>
        <p:nvSpPr>
          <p:cNvPr id="41" name="Text 39"/>
          <p:cNvSpPr/>
          <p:nvPr/>
        </p:nvSpPr>
        <p:spPr>
          <a:xfrm>
            <a:off x="10058400" y="5532120"/>
            <a:ext cx="1554480" cy="502920"/>
          </a:xfrm>
          <a:prstGeom prst="rect">
            <a:avLst/>
          </a:prstGeom>
          <a:noFill/>
          <a:ln/>
        </p:spPr>
        <p:txBody>
          <a:bodyPr wrap="square" rtlCol="0" anchor="ctr"/>
          <a:lstStyle/>
          <a:p>
            <a:pPr algn="r" indent="0" marL="0">
              <a:buNone/>
            </a:pPr>
            <a:r>
              <a:rPr lang="en-US" sz="1400" b="1" dirty="0">
                <a:solidFill>
                  <a:srgbClr val="1C7293"/>
                </a:solidFill>
                <a:latin typeface="Segoe UI" pitchFamily="34" charset="0"/>
                <a:ea typeface="Segoe UI" pitchFamily="34" charset="-122"/>
                <a:cs typeface="Segoe UI" pitchFamily="34" charset="-120"/>
              </a:rPr>
              <a:t>5 min</a:t>
            </a:r>
            <a:endParaRPr lang="en-US" sz="1400" dirty="0"/>
          </a:p>
        </p:txBody>
      </p:sp>
      <p:sp>
        <p:nvSpPr>
          <p:cNvPr id="43" name="Shape 40"/>
          <p:cNvSpPr/>
          <p:nvPr/>
        </p:nvSpPr>
        <p:spPr>
          <a:xfrm>
            <a:off x="0" y="6537960"/>
            <a:ext cx="12161520" cy="320040"/>
          </a:xfrm>
          <a:prstGeom prst="rect">
            <a:avLst/>
          </a:prstGeom>
          <a:solidFill>
            <a:srgbClr val="21295C"/>
          </a:solidFill>
          <a:ln w="12700">
            <a:solidFill>
              <a:srgbClr val="21295C"/>
            </a:solidFill>
            <a:prstDash val="solid"/>
          </a:ln>
        </p:spPr>
      </p:sp>
      <p:sp>
        <p:nvSpPr>
          <p:cNvPr id="44" name="Text 41"/>
          <p:cNvSpPr/>
          <p:nvPr/>
        </p:nvSpPr>
        <p:spPr>
          <a:xfrm>
            <a:off x="365760" y="6537960"/>
            <a:ext cx="7315200" cy="320040"/>
          </a:xfrm>
          <a:prstGeom prst="rect">
            <a:avLst/>
          </a:prstGeom>
          <a:noFill/>
          <a:ln/>
        </p:spPr>
        <p:txBody>
          <a:bodyPr wrap="square" rtlCol="0" anchor="ctr"/>
          <a:lstStyle/>
          <a:p>
            <a:pPr indent="0" marL="0">
              <a:buNone/>
            </a:pPr>
            <a:r>
              <a:rPr lang="en-US" sz="1000" dirty="0">
                <a:solidFill>
                  <a:srgbClr val="E8F1F5"/>
                </a:solidFill>
                <a:latin typeface="Segoe UI" pitchFamily="34" charset="0"/>
                <a:ea typeface="Segoe UI" pitchFamily="34" charset="-122"/>
                <a:cs typeface="Segoe UI" pitchFamily="34" charset="-120"/>
              </a:rPr>
              <a:t>Fabric CI/CD from GitHub  ·  Prepared for AHSA</a:t>
            </a:r>
            <a:endParaRPr lang="en-US" sz="1000" dirty="0"/>
          </a:p>
        </p:txBody>
      </p:sp>
      <p:sp>
        <p:nvSpPr>
          <p:cNvPr id="45" name="Text 42"/>
          <p:cNvSpPr/>
          <p:nvPr/>
        </p:nvSpPr>
        <p:spPr>
          <a:xfrm>
            <a:off x="11430000" y="6537960"/>
            <a:ext cx="365760" cy="320040"/>
          </a:xfrm>
          <a:prstGeom prst="rect">
            <a:avLst/>
          </a:prstGeom>
          <a:noFill/>
          <a:ln/>
        </p:spPr>
        <p:txBody>
          <a:bodyPr wrap="square" rtlCol="0" anchor="ctr"/>
          <a:lstStyle/>
          <a:p>
            <a:pPr algn="r" indent="0" marL="0">
              <a:buNone/>
            </a:pPr>
            <a:r>
              <a:rPr lang="en-US" sz="1000" dirty="0">
                <a:solidFill>
                  <a:srgbClr val="E8F1F5"/>
                </a:solidFill>
                <a:latin typeface="Segoe UI" pitchFamily="34" charset="0"/>
                <a:ea typeface="Segoe UI" pitchFamily="34" charset="-122"/>
                <a:cs typeface="Segoe U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537960"/>
          </a:xfrm>
          <a:prstGeom prst="rect">
            <a:avLst/>
          </a:prstGeom>
          <a:solidFill>
            <a:srgbClr val="F2A341"/>
          </a:solidFill>
          <a:ln w="12700">
            <a:solidFill>
              <a:srgbClr val="F2A341"/>
            </a:solidFill>
            <a:prstDash val="solid"/>
          </a:ln>
        </p:spPr>
      </p:sp>
      <p:sp>
        <p:nvSpPr>
          <p:cNvPr id="3" name="Text 1"/>
          <p:cNvSpPr/>
          <p:nvPr/>
        </p:nvSpPr>
        <p:spPr>
          <a:xfrm>
            <a:off x="548640" y="411480"/>
            <a:ext cx="10972800" cy="320040"/>
          </a:xfrm>
          <a:prstGeom prst="rect">
            <a:avLst/>
          </a:prstGeom>
          <a:noFill/>
          <a:ln/>
        </p:spPr>
        <p:txBody>
          <a:bodyPr wrap="square" rtlCol="0" anchor="ctr"/>
          <a:lstStyle/>
          <a:p>
            <a:pPr indent="0" marL="0">
              <a:buNone/>
            </a:pPr>
            <a:r>
              <a:rPr lang="en-US" sz="1100" b="1" spc="400" kern="0" dirty="0">
                <a:solidFill>
                  <a:srgbClr val="1C7293"/>
                </a:solidFill>
                <a:latin typeface="Segoe UI" pitchFamily="34" charset="0"/>
                <a:ea typeface="Segoe UI" pitchFamily="34" charset="-122"/>
                <a:cs typeface="Segoe UI" pitchFamily="34" charset="-120"/>
              </a:rPr>
              <a:t>INNER LOOP OPTIONS</a:t>
            </a:r>
            <a:endParaRPr lang="en-US" sz="1100" dirty="0"/>
          </a:p>
        </p:txBody>
      </p:sp>
      <p:sp>
        <p:nvSpPr>
          <p:cNvPr id="4" name="Text 2"/>
          <p:cNvSpPr/>
          <p:nvPr/>
        </p:nvSpPr>
        <p:spPr>
          <a:xfrm>
            <a:off x="548640" y="731520"/>
            <a:ext cx="10972800" cy="822960"/>
          </a:xfrm>
          <a:prstGeom prst="rect">
            <a:avLst/>
          </a:prstGeom>
          <a:noFill/>
          <a:ln/>
        </p:spPr>
        <p:txBody>
          <a:bodyPr wrap="square" rtlCol="0" anchor="ctr"/>
          <a:lstStyle/>
          <a:p>
            <a:pPr indent="0" marL="0">
              <a:buNone/>
            </a:pPr>
            <a:r>
              <a:rPr lang="en-US" sz="3200" b="1" dirty="0">
                <a:solidFill>
                  <a:srgbClr val="21295C"/>
                </a:solidFill>
                <a:latin typeface="Segoe UI" pitchFamily="34" charset="0"/>
                <a:ea typeface="Segoe UI" pitchFamily="34" charset="-122"/>
                <a:cs typeface="Segoe UI" pitchFamily="34" charset="-120"/>
              </a:rPr>
              <a:t>Approach A vs B — which fits AHSA today?</a:t>
            </a:r>
            <a:endParaRPr lang="en-US" sz="3200" dirty="0"/>
          </a:p>
        </p:txBody>
      </p:sp>
      <p:sp>
        <p:nvSpPr>
          <p:cNvPr id="5" name="Shape 3"/>
          <p:cNvSpPr/>
          <p:nvPr/>
        </p:nvSpPr>
        <p:spPr>
          <a:xfrm>
            <a:off x="548640" y="1600200"/>
            <a:ext cx="1097280" cy="0"/>
          </a:xfrm>
          <a:prstGeom prst="line">
            <a:avLst/>
          </a:prstGeom>
          <a:noFill/>
          <a:ln w="38100">
            <a:solidFill>
              <a:srgbClr val="F2A341"/>
            </a:solidFill>
            <a:prstDash val="solid"/>
          </a:ln>
        </p:spPr>
      </p:sp>
      <p:sp>
        <p:nvSpPr>
          <p:cNvPr id="6" name="Shape 4"/>
          <p:cNvSpPr/>
          <p:nvPr/>
        </p:nvSpPr>
        <p:spPr>
          <a:xfrm>
            <a:off x="548640" y="2011680"/>
            <a:ext cx="5440680" cy="4297680"/>
          </a:xfrm>
          <a:prstGeom prst="rect">
            <a:avLst/>
          </a:prstGeom>
          <a:solidFill>
            <a:srgbClr val="E8F1F5"/>
          </a:solidFill>
          <a:ln w="12700">
            <a:solidFill>
              <a:srgbClr val="E8F1F5"/>
            </a:solidFill>
            <a:prstDash val="solid"/>
          </a:ln>
        </p:spPr>
      </p:sp>
      <p:sp>
        <p:nvSpPr>
          <p:cNvPr id="7" name="Shape 5"/>
          <p:cNvSpPr/>
          <p:nvPr/>
        </p:nvSpPr>
        <p:spPr>
          <a:xfrm>
            <a:off x="548640" y="2011680"/>
            <a:ext cx="5440680" cy="822960"/>
          </a:xfrm>
          <a:prstGeom prst="rect">
            <a:avLst/>
          </a:prstGeom>
          <a:solidFill>
            <a:srgbClr val="065A82"/>
          </a:solidFill>
          <a:ln w="12700">
            <a:solidFill>
              <a:srgbClr val="065A82"/>
            </a:solidFill>
            <a:prstDash val="solid"/>
          </a:ln>
        </p:spPr>
      </p:sp>
      <p:sp>
        <p:nvSpPr>
          <p:cNvPr id="8" name="Text 6"/>
          <p:cNvSpPr/>
          <p:nvPr/>
        </p:nvSpPr>
        <p:spPr>
          <a:xfrm>
            <a:off x="822960" y="2103120"/>
            <a:ext cx="4892040" cy="411480"/>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A · Shared Dev workspace</a:t>
            </a:r>
            <a:endParaRPr lang="en-US" sz="1800" dirty="0"/>
          </a:p>
        </p:txBody>
      </p:sp>
      <p:sp>
        <p:nvSpPr>
          <p:cNvPr id="9" name="Text 7"/>
          <p:cNvSpPr/>
          <p:nvPr/>
        </p:nvSpPr>
        <p:spPr>
          <a:xfrm>
            <a:off x="822960" y="2468880"/>
            <a:ext cx="4892040" cy="320040"/>
          </a:xfrm>
          <a:prstGeom prst="rect">
            <a:avLst/>
          </a:prstGeom>
          <a:noFill/>
          <a:ln/>
        </p:spPr>
        <p:txBody>
          <a:bodyPr wrap="square" rtlCol="0" anchor="ctr"/>
          <a:lstStyle/>
          <a:p>
            <a:pPr indent="0" marL="0">
              <a:buNone/>
            </a:pPr>
            <a:r>
              <a:rPr lang="en-US" sz="1200" i="1" dirty="0">
                <a:solidFill>
                  <a:srgbClr val="E8F1F5"/>
                </a:solidFill>
                <a:latin typeface="Segoe UI" pitchFamily="34" charset="0"/>
                <a:ea typeface="Segoe UI" pitchFamily="34" charset="-122"/>
                <a:cs typeface="Segoe UI" pitchFamily="34" charset="-120"/>
              </a:rPr>
              <a:t>Both AHSA devs work in ahsa-fabric-dev</a:t>
            </a:r>
            <a:endParaRPr lang="en-US" sz="1200" dirty="0"/>
          </a:p>
        </p:txBody>
      </p:sp>
      <p:sp>
        <p:nvSpPr>
          <p:cNvPr id="10" name="Text 8"/>
          <p:cNvSpPr/>
          <p:nvPr/>
        </p:nvSpPr>
        <p:spPr>
          <a:xfrm>
            <a:off x="822960" y="2971800"/>
            <a:ext cx="4892040" cy="320040"/>
          </a:xfrm>
          <a:prstGeom prst="rect">
            <a:avLst/>
          </a:prstGeom>
          <a:noFill/>
          <a:ln/>
        </p:spPr>
        <p:txBody>
          <a:bodyPr wrap="square" rtlCol="0" anchor="ctr"/>
          <a:lstStyle/>
          <a:p>
            <a:pPr indent="0" marL="0">
              <a:buNone/>
            </a:pPr>
            <a:r>
              <a:rPr lang="en-US" sz="1300" b="1" dirty="0">
                <a:solidFill>
                  <a:srgbClr val="2EA86B"/>
                </a:solidFill>
                <a:latin typeface="Segoe UI" pitchFamily="34" charset="0"/>
                <a:ea typeface="Segoe UI" pitchFamily="34" charset="-122"/>
                <a:cs typeface="Segoe UI" pitchFamily="34" charset="-120"/>
              </a:rPr>
              <a:t>Pros</a:t>
            </a:r>
            <a:endParaRPr lang="en-US" sz="1300" dirty="0"/>
          </a:p>
        </p:txBody>
      </p:sp>
      <p:sp>
        <p:nvSpPr>
          <p:cNvPr id="11" name="Text 9"/>
          <p:cNvSpPr/>
          <p:nvPr/>
        </p:nvSpPr>
        <p:spPr>
          <a:xfrm>
            <a:off x="822960" y="3291840"/>
            <a:ext cx="4892040" cy="1554480"/>
          </a:xfrm>
          <a:prstGeom prst="rect">
            <a:avLst/>
          </a:prstGeom>
          <a:noFill/>
          <a:ln/>
        </p:spPr>
        <p:txBody>
          <a:bodyPr wrap="square" rtlCol="0" anchor="ctr"/>
          <a:lstStyle/>
          <a:p>
            <a:pPr marL="342900" indent="-342900">
              <a:buSzPct val="100000"/>
              <a:buChar char="•"/>
            </a:pPr>
            <a:r>
              <a:rPr lang="en-US" sz="1200" dirty="0">
                <a:solidFill>
                  <a:srgbClr val="1A1A2E"/>
                </a:solidFill>
                <a:latin typeface="Segoe UI" pitchFamily="34" charset="0"/>
                <a:ea typeface="Segoe UI" pitchFamily="34" charset="-122"/>
                <a:cs typeface="Segoe UI" pitchFamily="34" charset="-120"/>
              </a:rPr>
              <a:t>Cheaper (one workspace)</a:t>
            </a:r>
            <a:endParaRPr lang="en-US" sz="1200" dirty="0"/>
          </a:p>
          <a:p>
            <a:pPr marL="342900" indent="-342900">
              <a:buSzPct val="100000"/>
              <a:buChar char="•"/>
            </a:pPr>
            <a:r>
              <a:rPr lang="en-US" sz="1200" dirty="0">
                <a:solidFill>
                  <a:srgbClr val="1A1A2E"/>
                </a:solidFill>
                <a:latin typeface="Segoe UI" pitchFamily="34" charset="0"/>
                <a:ea typeface="Segoe UI" pitchFamily="34" charset="-122"/>
                <a:cs typeface="Segoe UI" pitchFamily="34" charset="-120"/>
              </a:rPr>
              <a:t>Simpler setup for AHSA today</a:t>
            </a:r>
            <a:endParaRPr lang="en-US" sz="1200" dirty="0"/>
          </a:p>
          <a:p>
            <a:pPr marL="342900" indent="-342900">
              <a:buSzPct val="100000"/>
              <a:buChar char="•"/>
            </a:pPr>
            <a:r>
              <a:rPr lang="en-US" sz="1200" dirty="0">
                <a:solidFill>
                  <a:srgbClr val="1A1A2E"/>
                </a:solidFill>
                <a:latin typeface="Segoe UI" pitchFamily="34" charset="0"/>
                <a:ea typeface="Segoe UI" pitchFamily="34" charset="-122"/>
                <a:cs typeface="Segoe UI" pitchFamily="34" charset="-120"/>
              </a:rPr>
              <a:t>Good while only one engineer is active</a:t>
            </a:r>
            <a:endParaRPr lang="en-US" sz="1200" dirty="0"/>
          </a:p>
        </p:txBody>
      </p:sp>
      <p:sp>
        <p:nvSpPr>
          <p:cNvPr id="12" name="Text 10"/>
          <p:cNvSpPr/>
          <p:nvPr/>
        </p:nvSpPr>
        <p:spPr>
          <a:xfrm>
            <a:off x="822960" y="4937760"/>
            <a:ext cx="4892040" cy="320040"/>
          </a:xfrm>
          <a:prstGeom prst="rect">
            <a:avLst/>
          </a:prstGeom>
          <a:noFill/>
          <a:ln/>
        </p:spPr>
        <p:txBody>
          <a:bodyPr wrap="square" rtlCol="0" anchor="ctr"/>
          <a:lstStyle/>
          <a:p>
            <a:pPr indent="0" marL="0">
              <a:buNone/>
            </a:pPr>
            <a:r>
              <a:rPr lang="en-US" sz="1300" b="1" dirty="0">
                <a:solidFill>
                  <a:srgbClr val="C0392B"/>
                </a:solidFill>
                <a:latin typeface="Segoe UI" pitchFamily="34" charset="0"/>
                <a:ea typeface="Segoe UI" pitchFamily="34" charset="-122"/>
                <a:cs typeface="Segoe UI" pitchFamily="34" charset="-120"/>
              </a:rPr>
              <a:t>Cons</a:t>
            </a:r>
            <a:endParaRPr lang="en-US" sz="1300" dirty="0"/>
          </a:p>
        </p:txBody>
      </p:sp>
      <p:sp>
        <p:nvSpPr>
          <p:cNvPr id="13" name="Text 11"/>
          <p:cNvSpPr/>
          <p:nvPr/>
        </p:nvSpPr>
        <p:spPr>
          <a:xfrm>
            <a:off x="822960" y="5257800"/>
            <a:ext cx="4892040" cy="1005840"/>
          </a:xfrm>
          <a:prstGeom prst="rect">
            <a:avLst/>
          </a:prstGeom>
          <a:noFill/>
          <a:ln/>
        </p:spPr>
        <p:txBody>
          <a:bodyPr wrap="square" rtlCol="0" anchor="ctr"/>
          <a:lstStyle/>
          <a:p>
            <a:pPr marL="342900" indent="-342900">
              <a:buSzPct val="100000"/>
              <a:buChar char="•"/>
            </a:pPr>
            <a:r>
              <a:rPr lang="en-US" sz="1200" dirty="0">
                <a:solidFill>
                  <a:srgbClr val="1A1A2E"/>
                </a:solidFill>
                <a:latin typeface="Segoe UI" pitchFamily="34" charset="0"/>
                <a:ea typeface="Segoe UI" pitchFamily="34" charset="-122"/>
                <a:cs typeface="Segoe UI" pitchFamily="34" charset="-120"/>
              </a:rPr>
              <a:t>UI conflicts when both AHSA devs touch the same item</a:t>
            </a:r>
            <a:endParaRPr lang="en-US" sz="1200" dirty="0"/>
          </a:p>
          <a:p>
            <a:pPr marL="342900" indent="-342900">
              <a:buSzPct val="100000"/>
              <a:buChar char="•"/>
            </a:pPr>
            <a:r>
              <a:rPr lang="en-US" sz="1200" dirty="0">
                <a:solidFill>
                  <a:srgbClr val="1A1A2E"/>
                </a:solidFill>
                <a:latin typeface="Segoe UI" pitchFamily="34" charset="0"/>
                <a:ea typeface="Segoe UI" pitchFamily="34" charset="-122"/>
                <a:cs typeface="Segoe UI" pitchFamily="34" charset="-120"/>
              </a:rPr>
              <a:t>Harder to demo isolated state</a:t>
            </a:r>
            <a:endParaRPr lang="en-US" sz="1200" dirty="0"/>
          </a:p>
        </p:txBody>
      </p:sp>
      <p:sp>
        <p:nvSpPr>
          <p:cNvPr id="14" name="Shape 12"/>
          <p:cNvSpPr/>
          <p:nvPr/>
        </p:nvSpPr>
        <p:spPr>
          <a:xfrm>
            <a:off x="6172200" y="2011680"/>
            <a:ext cx="5440680" cy="4297680"/>
          </a:xfrm>
          <a:prstGeom prst="rect">
            <a:avLst/>
          </a:prstGeom>
          <a:solidFill>
            <a:srgbClr val="E8F1F5"/>
          </a:solidFill>
          <a:ln w="12700">
            <a:solidFill>
              <a:srgbClr val="E8F1F5"/>
            </a:solidFill>
            <a:prstDash val="solid"/>
          </a:ln>
        </p:spPr>
      </p:sp>
      <p:sp>
        <p:nvSpPr>
          <p:cNvPr id="15" name="Shape 13"/>
          <p:cNvSpPr/>
          <p:nvPr/>
        </p:nvSpPr>
        <p:spPr>
          <a:xfrm>
            <a:off x="6172200" y="2011680"/>
            <a:ext cx="5440680" cy="822960"/>
          </a:xfrm>
          <a:prstGeom prst="rect">
            <a:avLst/>
          </a:prstGeom>
          <a:solidFill>
            <a:srgbClr val="21295C"/>
          </a:solidFill>
          <a:ln w="12700">
            <a:solidFill>
              <a:srgbClr val="21295C"/>
            </a:solidFill>
            <a:prstDash val="solid"/>
          </a:ln>
        </p:spPr>
      </p:sp>
      <p:sp>
        <p:nvSpPr>
          <p:cNvPr id="16" name="Text 14"/>
          <p:cNvSpPr/>
          <p:nvPr/>
        </p:nvSpPr>
        <p:spPr>
          <a:xfrm>
            <a:off x="6446520" y="2103120"/>
            <a:ext cx="4892040" cy="411480"/>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B · Per-dev workspace</a:t>
            </a:r>
            <a:endParaRPr lang="en-US" sz="1800" dirty="0"/>
          </a:p>
        </p:txBody>
      </p:sp>
      <p:sp>
        <p:nvSpPr>
          <p:cNvPr id="17" name="Text 15"/>
          <p:cNvSpPr/>
          <p:nvPr/>
        </p:nvSpPr>
        <p:spPr>
          <a:xfrm>
            <a:off x="6446520" y="2468880"/>
            <a:ext cx="4892040" cy="320040"/>
          </a:xfrm>
          <a:prstGeom prst="rect">
            <a:avLst/>
          </a:prstGeom>
          <a:noFill/>
          <a:ln/>
        </p:spPr>
        <p:txBody>
          <a:bodyPr wrap="square" rtlCol="0" anchor="ctr"/>
          <a:lstStyle/>
          <a:p>
            <a:pPr indent="0" marL="0">
              <a:buNone/>
            </a:pPr>
            <a:r>
              <a:rPr lang="en-US" sz="1200" i="1" dirty="0">
                <a:solidFill>
                  <a:srgbClr val="E8F1F5"/>
                </a:solidFill>
                <a:latin typeface="Segoe UI" pitchFamily="34" charset="0"/>
                <a:ea typeface="Segoe UI" pitchFamily="34" charset="-122"/>
                <a:cs typeface="Segoe UI" pitchFamily="34" charset="-120"/>
              </a:rPr>
              <a:t>ahsa-fabric-dev-alice, …-bob</a:t>
            </a:r>
            <a:endParaRPr lang="en-US" sz="1200" dirty="0"/>
          </a:p>
        </p:txBody>
      </p:sp>
      <p:sp>
        <p:nvSpPr>
          <p:cNvPr id="18" name="Text 16"/>
          <p:cNvSpPr/>
          <p:nvPr/>
        </p:nvSpPr>
        <p:spPr>
          <a:xfrm>
            <a:off x="6446520" y="2971800"/>
            <a:ext cx="4892040" cy="320040"/>
          </a:xfrm>
          <a:prstGeom prst="rect">
            <a:avLst/>
          </a:prstGeom>
          <a:noFill/>
          <a:ln/>
        </p:spPr>
        <p:txBody>
          <a:bodyPr wrap="square" rtlCol="0" anchor="ctr"/>
          <a:lstStyle/>
          <a:p>
            <a:pPr indent="0" marL="0">
              <a:buNone/>
            </a:pPr>
            <a:r>
              <a:rPr lang="en-US" sz="1300" b="1" dirty="0">
                <a:solidFill>
                  <a:srgbClr val="2EA86B"/>
                </a:solidFill>
                <a:latin typeface="Segoe UI" pitchFamily="34" charset="0"/>
                <a:ea typeface="Segoe UI" pitchFamily="34" charset="-122"/>
                <a:cs typeface="Segoe UI" pitchFamily="34" charset="-120"/>
              </a:rPr>
              <a:t>Pros</a:t>
            </a:r>
            <a:endParaRPr lang="en-US" sz="1300" dirty="0"/>
          </a:p>
        </p:txBody>
      </p:sp>
      <p:sp>
        <p:nvSpPr>
          <p:cNvPr id="19" name="Text 17"/>
          <p:cNvSpPr/>
          <p:nvPr/>
        </p:nvSpPr>
        <p:spPr>
          <a:xfrm>
            <a:off x="6446520" y="3291840"/>
            <a:ext cx="4892040" cy="1554480"/>
          </a:xfrm>
          <a:prstGeom prst="rect">
            <a:avLst/>
          </a:prstGeom>
          <a:noFill/>
          <a:ln/>
        </p:spPr>
        <p:txBody>
          <a:bodyPr wrap="square" rtlCol="0" anchor="ctr"/>
          <a:lstStyle/>
          <a:p>
            <a:pPr marL="342900" indent="-342900">
              <a:buSzPct val="100000"/>
              <a:buChar char="•"/>
            </a:pPr>
            <a:r>
              <a:rPr lang="en-US" sz="1200" dirty="0">
                <a:solidFill>
                  <a:srgbClr val="1A1A2E"/>
                </a:solidFill>
                <a:latin typeface="Segoe UI" pitchFamily="34" charset="0"/>
                <a:ea typeface="Segoe UI" pitchFamily="34" charset="-122"/>
                <a:cs typeface="Segoe UI" pitchFamily="34" charset="-120"/>
              </a:rPr>
              <a:t>No collisions — each AHSA dev owns a workspace</a:t>
            </a:r>
            <a:endParaRPr lang="en-US" sz="1200" dirty="0"/>
          </a:p>
          <a:p>
            <a:pPr marL="342900" indent="-342900">
              <a:buSzPct val="100000"/>
              <a:buChar char="•"/>
            </a:pPr>
            <a:r>
              <a:rPr lang="en-US" sz="1200" dirty="0">
                <a:solidFill>
                  <a:srgbClr val="1A1A2E"/>
                </a:solidFill>
                <a:latin typeface="Segoe UI" pitchFamily="34" charset="0"/>
                <a:ea typeface="Segoe UI" pitchFamily="34" charset="-122"/>
                <a:cs typeface="Segoe UI" pitchFamily="34" charset="-120"/>
              </a:rPr>
              <a:t>Workspace tracks the feature branch</a:t>
            </a:r>
            <a:endParaRPr lang="en-US" sz="1200" dirty="0"/>
          </a:p>
          <a:p>
            <a:pPr marL="342900" indent="-342900">
              <a:buSzPct val="100000"/>
              <a:buChar char="•"/>
            </a:pPr>
            <a:r>
              <a:rPr lang="en-US" sz="1200" dirty="0">
                <a:solidFill>
                  <a:srgbClr val="1A1A2E"/>
                </a:solidFill>
                <a:latin typeface="Segoe UI" pitchFamily="34" charset="0"/>
                <a:ea typeface="Segoe UI" pitchFamily="34" charset="-122"/>
                <a:cs typeface="Segoe UI" pitchFamily="34" charset="-120"/>
              </a:rPr>
              <a:t>Scales as AHSA's team grows</a:t>
            </a:r>
            <a:endParaRPr lang="en-US" sz="1200" dirty="0"/>
          </a:p>
        </p:txBody>
      </p:sp>
      <p:sp>
        <p:nvSpPr>
          <p:cNvPr id="20" name="Text 18"/>
          <p:cNvSpPr/>
          <p:nvPr/>
        </p:nvSpPr>
        <p:spPr>
          <a:xfrm>
            <a:off x="6446520" y="4937760"/>
            <a:ext cx="4892040" cy="320040"/>
          </a:xfrm>
          <a:prstGeom prst="rect">
            <a:avLst/>
          </a:prstGeom>
          <a:noFill/>
          <a:ln/>
        </p:spPr>
        <p:txBody>
          <a:bodyPr wrap="square" rtlCol="0" anchor="ctr"/>
          <a:lstStyle/>
          <a:p>
            <a:pPr indent="0" marL="0">
              <a:buNone/>
            </a:pPr>
            <a:r>
              <a:rPr lang="en-US" sz="1300" b="1" dirty="0">
                <a:solidFill>
                  <a:srgbClr val="C0392B"/>
                </a:solidFill>
                <a:latin typeface="Segoe UI" pitchFamily="34" charset="0"/>
                <a:ea typeface="Segoe UI" pitchFamily="34" charset="-122"/>
                <a:cs typeface="Segoe UI" pitchFamily="34" charset="-120"/>
              </a:rPr>
              <a:t>Cons</a:t>
            </a:r>
            <a:endParaRPr lang="en-US" sz="1300" dirty="0"/>
          </a:p>
        </p:txBody>
      </p:sp>
      <p:sp>
        <p:nvSpPr>
          <p:cNvPr id="21" name="Text 19"/>
          <p:cNvSpPr/>
          <p:nvPr/>
        </p:nvSpPr>
        <p:spPr>
          <a:xfrm>
            <a:off x="6446520" y="5257800"/>
            <a:ext cx="4892040" cy="1005840"/>
          </a:xfrm>
          <a:prstGeom prst="rect">
            <a:avLst/>
          </a:prstGeom>
          <a:noFill/>
          <a:ln/>
        </p:spPr>
        <p:txBody>
          <a:bodyPr wrap="square" rtlCol="0" anchor="ctr"/>
          <a:lstStyle/>
          <a:p>
            <a:pPr marL="342900" indent="-342900">
              <a:buSzPct val="100000"/>
              <a:buChar char="•"/>
            </a:pPr>
            <a:r>
              <a:rPr lang="en-US" sz="1200" dirty="0">
                <a:solidFill>
                  <a:srgbClr val="1A1A2E"/>
                </a:solidFill>
                <a:latin typeface="Segoe UI" pitchFamily="34" charset="0"/>
                <a:ea typeface="Segoe UI" pitchFamily="34" charset="-122"/>
                <a:cs typeface="Segoe UI" pitchFamily="34" charset="-120"/>
              </a:rPr>
              <a:t>Extra capacity overhead</a:t>
            </a:r>
            <a:endParaRPr lang="en-US" sz="1200" dirty="0"/>
          </a:p>
          <a:p>
            <a:pPr marL="342900" indent="-342900">
              <a:buSzPct val="100000"/>
              <a:buChar char="•"/>
            </a:pPr>
            <a:r>
              <a:rPr lang="en-US" sz="1200" dirty="0">
                <a:solidFill>
                  <a:srgbClr val="1A1A2E"/>
                </a:solidFill>
                <a:latin typeface="Segoe UI" pitchFamily="34" charset="0"/>
                <a:ea typeface="Segoe UI" pitchFamily="34" charset="-122"/>
                <a:cs typeface="Segoe UI" pitchFamily="34" charset="-120"/>
              </a:rPr>
              <a:t>More setup automation needed</a:t>
            </a:r>
            <a:endParaRPr lang="en-US" sz="1200" dirty="0"/>
          </a:p>
        </p:txBody>
      </p:sp>
      <p:sp>
        <p:nvSpPr>
          <p:cNvPr id="23" name="Shape 20"/>
          <p:cNvSpPr/>
          <p:nvPr/>
        </p:nvSpPr>
        <p:spPr>
          <a:xfrm>
            <a:off x="0" y="6537960"/>
            <a:ext cx="12161520" cy="320040"/>
          </a:xfrm>
          <a:prstGeom prst="rect">
            <a:avLst/>
          </a:prstGeom>
          <a:solidFill>
            <a:srgbClr val="21295C"/>
          </a:solidFill>
          <a:ln w="12700">
            <a:solidFill>
              <a:srgbClr val="21295C"/>
            </a:solidFill>
            <a:prstDash val="solid"/>
          </a:ln>
        </p:spPr>
      </p:sp>
      <p:sp>
        <p:nvSpPr>
          <p:cNvPr id="24" name="Text 21"/>
          <p:cNvSpPr/>
          <p:nvPr/>
        </p:nvSpPr>
        <p:spPr>
          <a:xfrm>
            <a:off x="365760" y="6537960"/>
            <a:ext cx="7315200" cy="320040"/>
          </a:xfrm>
          <a:prstGeom prst="rect">
            <a:avLst/>
          </a:prstGeom>
          <a:noFill/>
          <a:ln/>
        </p:spPr>
        <p:txBody>
          <a:bodyPr wrap="square" rtlCol="0" anchor="ctr"/>
          <a:lstStyle/>
          <a:p>
            <a:pPr indent="0" marL="0">
              <a:buNone/>
            </a:pPr>
            <a:r>
              <a:rPr lang="en-US" sz="1000" dirty="0">
                <a:solidFill>
                  <a:srgbClr val="E8F1F5"/>
                </a:solidFill>
                <a:latin typeface="Segoe UI" pitchFamily="34" charset="0"/>
                <a:ea typeface="Segoe UI" pitchFamily="34" charset="-122"/>
                <a:cs typeface="Segoe UI" pitchFamily="34" charset="-120"/>
              </a:rPr>
              <a:t>Fabric CI/CD from GitHub  ·  Prepared for AHSA</a:t>
            </a:r>
            <a:endParaRPr lang="en-US" sz="1000" dirty="0"/>
          </a:p>
        </p:txBody>
      </p:sp>
      <p:sp>
        <p:nvSpPr>
          <p:cNvPr id="25" name="Text 22"/>
          <p:cNvSpPr/>
          <p:nvPr/>
        </p:nvSpPr>
        <p:spPr>
          <a:xfrm>
            <a:off x="11430000" y="6537960"/>
            <a:ext cx="365760" cy="320040"/>
          </a:xfrm>
          <a:prstGeom prst="rect">
            <a:avLst/>
          </a:prstGeom>
          <a:noFill/>
          <a:ln/>
        </p:spPr>
        <p:txBody>
          <a:bodyPr wrap="square" rtlCol="0" anchor="ctr"/>
          <a:lstStyle/>
          <a:p>
            <a:pPr algn="r" indent="0" marL="0">
              <a:buNone/>
            </a:pPr>
            <a:r>
              <a:rPr lang="en-US" sz="1000" dirty="0">
                <a:solidFill>
                  <a:srgbClr val="E8F1F5"/>
                </a:solidFill>
                <a:latin typeface="Segoe UI" pitchFamily="34" charset="0"/>
                <a:ea typeface="Segoe UI" pitchFamily="34" charset="-122"/>
                <a:cs typeface="Segoe U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537960"/>
          </a:xfrm>
          <a:prstGeom prst="rect">
            <a:avLst/>
          </a:prstGeom>
          <a:solidFill>
            <a:srgbClr val="F2A341"/>
          </a:solidFill>
          <a:ln w="12700">
            <a:solidFill>
              <a:srgbClr val="F2A341"/>
            </a:solidFill>
            <a:prstDash val="solid"/>
          </a:ln>
        </p:spPr>
      </p:sp>
      <p:sp>
        <p:nvSpPr>
          <p:cNvPr id="3" name="Text 1"/>
          <p:cNvSpPr/>
          <p:nvPr/>
        </p:nvSpPr>
        <p:spPr>
          <a:xfrm>
            <a:off x="548640" y="411480"/>
            <a:ext cx="10972800" cy="320040"/>
          </a:xfrm>
          <a:prstGeom prst="rect">
            <a:avLst/>
          </a:prstGeom>
          <a:noFill/>
          <a:ln/>
        </p:spPr>
        <p:txBody>
          <a:bodyPr wrap="square" rtlCol="0" anchor="ctr"/>
          <a:lstStyle/>
          <a:p>
            <a:pPr indent="0" marL="0">
              <a:buNone/>
            </a:pPr>
            <a:r>
              <a:rPr lang="en-US" sz="1100" b="1" spc="400" kern="0" dirty="0">
                <a:solidFill>
                  <a:srgbClr val="1C7293"/>
                </a:solidFill>
                <a:latin typeface="Segoe UI" pitchFamily="34" charset="0"/>
                <a:ea typeface="Segoe UI" pitchFamily="34" charset="-122"/>
                <a:cs typeface="Segoe UI" pitchFamily="34" charset="-120"/>
              </a:rPr>
              <a:t>PROMOTION</a:t>
            </a:r>
            <a:endParaRPr lang="en-US" sz="1100" dirty="0"/>
          </a:p>
        </p:txBody>
      </p:sp>
      <p:sp>
        <p:nvSpPr>
          <p:cNvPr id="4" name="Text 2"/>
          <p:cNvSpPr/>
          <p:nvPr/>
        </p:nvSpPr>
        <p:spPr>
          <a:xfrm>
            <a:off x="548640" y="731520"/>
            <a:ext cx="10972800" cy="822960"/>
          </a:xfrm>
          <a:prstGeom prst="rect">
            <a:avLst/>
          </a:prstGeom>
          <a:noFill/>
          <a:ln/>
        </p:spPr>
        <p:txBody>
          <a:bodyPr wrap="square" rtlCol="0" anchor="ctr"/>
          <a:lstStyle/>
          <a:p>
            <a:pPr indent="0" marL="0">
              <a:buNone/>
            </a:pPr>
            <a:r>
              <a:rPr lang="en-US" sz="3200" b="1" dirty="0">
                <a:solidFill>
                  <a:srgbClr val="21295C"/>
                </a:solidFill>
                <a:latin typeface="Segoe UI" pitchFamily="34" charset="0"/>
                <a:ea typeface="Segoe UI" pitchFamily="34" charset="-122"/>
                <a:cs typeface="Segoe UI" pitchFamily="34" charset="-120"/>
              </a:rPr>
              <a:t>What happens when AHSA merges a PR</a:t>
            </a:r>
            <a:endParaRPr lang="en-US" sz="3200" dirty="0"/>
          </a:p>
        </p:txBody>
      </p:sp>
      <p:sp>
        <p:nvSpPr>
          <p:cNvPr id="5" name="Shape 3"/>
          <p:cNvSpPr/>
          <p:nvPr/>
        </p:nvSpPr>
        <p:spPr>
          <a:xfrm>
            <a:off x="548640" y="1600200"/>
            <a:ext cx="1097280" cy="0"/>
          </a:xfrm>
          <a:prstGeom prst="line">
            <a:avLst/>
          </a:prstGeom>
          <a:noFill/>
          <a:ln w="38100">
            <a:solidFill>
              <a:srgbClr val="F2A341"/>
            </a:solidFill>
            <a:prstDash val="solid"/>
          </a:ln>
        </p:spPr>
      </p:sp>
      <p:sp>
        <p:nvSpPr>
          <p:cNvPr id="6" name="Shape 4"/>
          <p:cNvSpPr/>
          <p:nvPr/>
        </p:nvSpPr>
        <p:spPr>
          <a:xfrm>
            <a:off x="548640" y="2011680"/>
            <a:ext cx="5440680" cy="640080"/>
          </a:xfrm>
          <a:prstGeom prst="rect">
            <a:avLst/>
          </a:prstGeom>
          <a:solidFill>
            <a:srgbClr val="065A82"/>
          </a:solidFill>
          <a:ln w="12700">
            <a:solidFill>
              <a:srgbClr val="065A82"/>
            </a:solidFill>
            <a:prstDash val="solid"/>
          </a:ln>
        </p:spPr>
      </p:sp>
      <p:sp>
        <p:nvSpPr>
          <p:cNvPr id="7" name="Text 5"/>
          <p:cNvSpPr/>
          <p:nvPr/>
        </p:nvSpPr>
        <p:spPr>
          <a:xfrm>
            <a:off x="822960" y="2103120"/>
            <a:ext cx="4892040" cy="457200"/>
          </a:xfrm>
          <a:prstGeom prst="rect">
            <a:avLst/>
          </a:prstGeom>
          <a:noFill/>
          <a:ln/>
        </p:spPr>
        <p:txBody>
          <a:bodyPr wrap="square"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Dev → Test (deploy-test.yml)</a:t>
            </a:r>
            <a:endParaRPr lang="en-US" sz="1700" dirty="0"/>
          </a:p>
        </p:txBody>
      </p:sp>
      <p:sp>
        <p:nvSpPr>
          <p:cNvPr id="8" name="Shape 6"/>
          <p:cNvSpPr/>
          <p:nvPr/>
        </p:nvSpPr>
        <p:spPr>
          <a:xfrm>
            <a:off x="777240" y="2971800"/>
            <a:ext cx="365760" cy="365760"/>
          </a:xfrm>
          <a:prstGeom prst="ellipse">
            <a:avLst/>
          </a:prstGeom>
          <a:solidFill>
            <a:srgbClr val="F2A341"/>
          </a:solidFill>
          <a:ln w="12700">
            <a:solidFill>
              <a:srgbClr val="F2A341"/>
            </a:solidFill>
            <a:prstDash val="solid"/>
          </a:ln>
        </p:spPr>
      </p:sp>
      <p:sp>
        <p:nvSpPr>
          <p:cNvPr id="9" name="Text 7"/>
          <p:cNvSpPr/>
          <p:nvPr/>
        </p:nvSpPr>
        <p:spPr>
          <a:xfrm>
            <a:off x="777240" y="2971800"/>
            <a:ext cx="365760" cy="36576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1</a:t>
            </a:r>
            <a:endParaRPr lang="en-US" sz="1300" dirty="0"/>
          </a:p>
        </p:txBody>
      </p:sp>
      <p:sp>
        <p:nvSpPr>
          <p:cNvPr id="10" name="Text 8"/>
          <p:cNvSpPr/>
          <p:nvPr/>
        </p:nvSpPr>
        <p:spPr>
          <a:xfrm>
            <a:off x="1280160" y="2926080"/>
            <a:ext cx="4526280" cy="502920"/>
          </a:xfrm>
          <a:prstGeom prst="rect">
            <a:avLst/>
          </a:prstGeom>
          <a:noFill/>
          <a:ln/>
        </p:spPr>
        <p:txBody>
          <a:bodyPr wrap="square" rtlCol="0" anchor="ctr"/>
          <a:lstStyle/>
          <a:p>
            <a:pPr indent="0" marL="0">
              <a:buNone/>
            </a:pPr>
            <a:r>
              <a:rPr lang="en-US" sz="1300" dirty="0">
                <a:solidFill>
                  <a:srgbClr val="1A1A2E"/>
                </a:solidFill>
                <a:latin typeface="Segoe UI" pitchFamily="34" charset="0"/>
                <a:ea typeface="Segoe UI" pitchFamily="34" charset="-122"/>
                <a:cs typeface="Segoe UI" pitchFamily="34" charset="-120"/>
              </a:rPr>
              <a:t>OIDC token: AHSA GitHub → Azure → Fabric</a:t>
            </a:r>
            <a:endParaRPr lang="en-US" sz="1300" dirty="0"/>
          </a:p>
        </p:txBody>
      </p:sp>
      <p:sp>
        <p:nvSpPr>
          <p:cNvPr id="11" name="Shape 9"/>
          <p:cNvSpPr/>
          <p:nvPr/>
        </p:nvSpPr>
        <p:spPr>
          <a:xfrm>
            <a:off x="777240" y="3611880"/>
            <a:ext cx="365760" cy="365760"/>
          </a:xfrm>
          <a:prstGeom prst="ellipse">
            <a:avLst/>
          </a:prstGeom>
          <a:solidFill>
            <a:srgbClr val="F2A341"/>
          </a:solidFill>
          <a:ln w="12700">
            <a:solidFill>
              <a:srgbClr val="F2A341"/>
            </a:solidFill>
            <a:prstDash val="solid"/>
          </a:ln>
        </p:spPr>
      </p:sp>
      <p:sp>
        <p:nvSpPr>
          <p:cNvPr id="12" name="Text 10"/>
          <p:cNvSpPr/>
          <p:nvPr/>
        </p:nvSpPr>
        <p:spPr>
          <a:xfrm>
            <a:off x="777240" y="3611880"/>
            <a:ext cx="365760" cy="36576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2</a:t>
            </a:r>
            <a:endParaRPr lang="en-US" sz="1300" dirty="0"/>
          </a:p>
        </p:txBody>
      </p:sp>
      <p:sp>
        <p:nvSpPr>
          <p:cNvPr id="13" name="Text 11"/>
          <p:cNvSpPr/>
          <p:nvPr/>
        </p:nvSpPr>
        <p:spPr>
          <a:xfrm>
            <a:off x="1280160" y="3566160"/>
            <a:ext cx="4526280" cy="502920"/>
          </a:xfrm>
          <a:prstGeom prst="rect">
            <a:avLst/>
          </a:prstGeom>
          <a:noFill/>
          <a:ln/>
        </p:spPr>
        <p:txBody>
          <a:bodyPr wrap="square" rtlCol="0" anchor="ctr"/>
          <a:lstStyle/>
          <a:p>
            <a:pPr indent="0" marL="0">
              <a:buNone/>
            </a:pPr>
            <a:r>
              <a:rPr lang="en-US" sz="1300" dirty="0">
                <a:solidFill>
                  <a:srgbClr val="1A1A2E"/>
                </a:solidFill>
                <a:latin typeface="Segoe UI" pitchFamily="34" charset="0"/>
                <a:ea typeface="Segoe UI" pitchFamily="34" charset="-122"/>
                <a:cs typeface="Segoe UI" pitchFamily="34" charset="-120"/>
              </a:rPr>
              <a:t>fabric-cicd publishes items to ahsa-fabric-test</a:t>
            </a:r>
            <a:endParaRPr lang="en-US" sz="1300" dirty="0"/>
          </a:p>
        </p:txBody>
      </p:sp>
      <p:sp>
        <p:nvSpPr>
          <p:cNvPr id="14" name="Shape 12"/>
          <p:cNvSpPr/>
          <p:nvPr/>
        </p:nvSpPr>
        <p:spPr>
          <a:xfrm>
            <a:off x="777240" y="4251960"/>
            <a:ext cx="365760" cy="365760"/>
          </a:xfrm>
          <a:prstGeom prst="ellipse">
            <a:avLst/>
          </a:prstGeom>
          <a:solidFill>
            <a:srgbClr val="F2A341"/>
          </a:solidFill>
          <a:ln w="12700">
            <a:solidFill>
              <a:srgbClr val="F2A341"/>
            </a:solidFill>
            <a:prstDash val="solid"/>
          </a:ln>
        </p:spPr>
      </p:sp>
      <p:sp>
        <p:nvSpPr>
          <p:cNvPr id="15" name="Text 13"/>
          <p:cNvSpPr/>
          <p:nvPr/>
        </p:nvSpPr>
        <p:spPr>
          <a:xfrm>
            <a:off x="777240" y="4251960"/>
            <a:ext cx="365760" cy="36576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3</a:t>
            </a:r>
            <a:endParaRPr lang="en-US" sz="1300" dirty="0"/>
          </a:p>
        </p:txBody>
      </p:sp>
      <p:sp>
        <p:nvSpPr>
          <p:cNvPr id="16" name="Text 14"/>
          <p:cNvSpPr/>
          <p:nvPr/>
        </p:nvSpPr>
        <p:spPr>
          <a:xfrm>
            <a:off x="1280160" y="4206240"/>
            <a:ext cx="4526280" cy="502920"/>
          </a:xfrm>
          <a:prstGeom prst="rect">
            <a:avLst/>
          </a:prstGeom>
          <a:noFill/>
          <a:ln/>
        </p:spPr>
        <p:txBody>
          <a:bodyPr wrap="square" rtlCol="0" anchor="ctr"/>
          <a:lstStyle/>
          <a:p>
            <a:pPr indent="0" marL="0">
              <a:buNone/>
            </a:pPr>
            <a:r>
              <a:rPr lang="en-US" sz="1300" dirty="0">
                <a:solidFill>
                  <a:srgbClr val="1A1A2E"/>
                </a:solidFill>
                <a:latin typeface="Segoe UI" pitchFamily="34" charset="0"/>
                <a:ea typeface="Segoe UI" pitchFamily="34" charset="-122"/>
                <a:cs typeface="Segoe UI" pitchFamily="34" charset="-120"/>
              </a:rPr>
              <a:t>parameter.yml rebinds to AHSA Test values</a:t>
            </a:r>
            <a:endParaRPr lang="en-US" sz="1300" dirty="0"/>
          </a:p>
        </p:txBody>
      </p:sp>
      <p:sp>
        <p:nvSpPr>
          <p:cNvPr id="17" name="Shape 15"/>
          <p:cNvSpPr/>
          <p:nvPr/>
        </p:nvSpPr>
        <p:spPr>
          <a:xfrm>
            <a:off x="777240" y="4892040"/>
            <a:ext cx="365760" cy="365760"/>
          </a:xfrm>
          <a:prstGeom prst="ellipse">
            <a:avLst/>
          </a:prstGeom>
          <a:solidFill>
            <a:srgbClr val="F2A341"/>
          </a:solidFill>
          <a:ln w="12700">
            <a:solidFill>
              <a:srgbClr val="F2A341"/>
            </a:solidFill>
            <a:prstDash val="solid"/>
          </a:ln>
        </p:spPr>
      </p:sp>
      <p:sp>
        <p:nvSpPr>
          <p:cNvPr id="18" name="Text 16"/>
          <p:cNvSpPr/>
          <p:nvPr/>
        </p:nvSpPr>
        <p:spPr>
          <a:xfrm>
            <a:off x="777240" y="4892040"/>
            <a:ext cx="365760" cy="36576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4</a:t>
            </a:r>
            <a:endParaRPr lang="en-US" sz="1300" dirty="0"/>
          </a:p>
        </p:txBody>
      </p:sp>
      <p:sp>
        <p:nvSpPr>
          <p:cNvPr id="19" name="Text 17"/>
          <p:cNvSpPr/>
          <p:nvPr/>
        </p:nvSpPr>
        <p:spPr>
          <a:xfrm>
            <a:off x="1280160" y="4846320"/>
            <a:ext cx="4526280" cy="502920"/>
          </a:xfrm>
          <a:prstGeom prst="rect">
            <a:avLst/>
          </a:prstGeom>
          <a:noFill/>
          <a:ln/>
        </p:spPr>
        <p:txBody>
          <a:bodyPr wrap="square" rtlCol="0" anchor="ctr"/>
          <a:lstStyle/>
          <a:p>
            <a:pPr indent="0" marL="0">
              <a:buNone/>
            </a:pPr>
            <a:r>
              <a:rPr lang="en-US" sz="1300" dirty="0">
                <a:solidFill>
                  <a:srgbClr val="1A1A2E"/>
                </a:solidFill>
                <a:latin typeface="Segoe UI" pitchFamily="34" charset="0"/>
                <a:ea typeface="Segoe UI" pitchFamily="34" charset="-122"/>
                <a:cs typeface="Segoe UI" pitchFamily="34" charset="-120"/>
              </a:rPr>
              <a:t>unpublish_orphaned_items removes deletes</a:t>
            </a:r>
            <a:endParaRPr lang="en-US" sz="1300" dirty="0"/>
          </a:p>
        </p:txBody>
      </p:sp>
      <p:sp>
        <p:nvSpPr>
          <p:cNvPr id="20" name="Shape 18"/>
          <p:cNvSpPr/>
          <p:nvPr/>
        </p:nvSpPr>
        <p:spPr>
          <a:xfrm>
            <a:off x="777240" y="5532120"/>
            <a:ext cx="365760" cy="365760"/>
          </a:xfrm>
          <a:prstGeom prst="ellipse">
            <a:avLst/>
          </a:prstGeom>
          <a:solidFill>
            <a:srgbClr val="F2A341"/>
          </a:solidFill>
          <a:ln w="12700">
            <a:solidFill>
              <a:srgbClr val="F2A341"/>
            </a:solidFill>
            <a:prstDash val="solid"/>
          </a:ln>
        </p:spPr>
      </p:sp>
      <p:sp>
        <p:nvSpPr>
          <p:cNvPr id="21" name="Text 19"/>
          <p:cNvSpPr/>
          <p:nvPr/>
        </p:nvSpPr>
        <p:spPr>
          <a:xfrm>
            <a:off x="777240" y="5532120"/>
            <a:ext cx="365760" cy="36576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5</a:t>
            </a:r>
            <a:endParaRPr lang="en-US" sz="1300" dirty="0"/>
          </a:p>
        </p:txBody>
      </p:sp>
      <p:sp>
        <p:nvSpPr>
          <p:cNvPr id="22" name="Text 20"/>
          <p:cNvSpPr/>
          <p:nvPr/>
        </p:nvSpPr>
        <p:spPr>
          <a:xfrm>
            <a:off x="1280160" y="5486400"/>
            <a:ext cx="4526280" cy="502920"/>
          </a:xfrm>
          <a:prstGeom prst="rect">
            <a:avLst/>
          </a:prstGeom>
          <a:noFill/>
          <a:ln/>
        </p:spPr>
        <p:txBody>
          <a:bodyPr wrap="square" rtlCol="0" anchor="ctr"/>
          <a:lstStyle/>
          <a:p>
            <a:pPr indent="0" marL="0">
              <a:buNone/>
            </a:pPr>
            <a:r>
              <a:rPr lang="en-US" sz="1300" dirty="0">
                <a:solidFill>
                  <a:srgbClr val="1A1A2E"/>
                </a:solidFill>
                <a:latin typeface="Segoe UI" pitchFamily="34" charset="0"/>
                <a:ea typeface="Segoe UI" pitchFamily="34" charset="-122"/>
                <a:cs typeface="Segoe UI" pitchFamily="34" charset="-120"/>
              </a:rPr>
              <a:t>Smoke test: run Sales notebook in Test</a:t>
            </a:r>
            <a:endParaRPr lang="en-US" sz="1300" dirty="0"/>
          </a:p>
        </p:txBody>
      </p:sp>
      <p:sp>
        <p:nvSpPr>
          <p:cNvPr id="23" name="Shape 21"/>
          <p:cNvSpPr/>
          <p:nvPr/>
        </p:nvSpPr>
        <p:spPr>
          <a:xfrm>
            <a:off x="6172200" y="2011680"/>
            <a:ext cx="5440680" cy="640080"/>
          </a:xfrm>
          <a:prstGeom prst="rect">
            <a:avLst/>
          </a:prstGeom>
          <a:solidFill>
            <a:srgbClr val="21295C"/>
          </a:solidFill>
          <a:ln w="12700">
            <a:solidFill>
              <a:srgbClr val="21295C"/>
            </a:solidFill>
            <a:prstDash val="solid"/>
          </a:ln>
        </p:spPr>
      </p:sp>
      <p:sp>
        <p:nvSpPr>
          <p:cNvPr id="24" name="Text 22"/>
          <p:cNvSpPr/>
          <p:nvPr/>
        </p:nvSpPr>
        <p:spPr>
          <a:xfrm>
            <a:off x="6446520" y="2103120"/>
            <a:ext cx="4892040" cy="457200"/>
          </a:xfrm>
          <a:prstGeom prst="rect">
            <a:avLst/>
          </a:prstGeom>
          <a:noFill/>
          <a:ln/>
        </p:spPr>
        <p:txBody>
          <a:bodyPr wrap="square"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Test → Prod (deploy-prod.yml)</a:t>
            </a:r>
            <a:endParaRPr lang="en-US" sz="1700" dirty="0"/>
          </a:p>
        </p:txBody>
      </p:sp>
      <p:sp>
        <p:nvSpPr>
          <p:cNvPr id="25" name="Shape 23"/>
          <p:cNvSpPr/>
          <p:nvPr/>
        </p:nvSpPr>
        <p:spPr>
          <a:xfrm>
            <a:off x="6400800" y="2971800"/>
            <a:ext cx="365760" cy="365760"/>
          </a:xfrm>
          <a:prstGeom prst="ellipse">
            <a:avLst/>
          </a:prstGeom>
          <a:solidFill>
            <a:srgbClr val="F2A341"/>
          </a:solidFill>
          <a:ln w="12700">
            <a:solidFill>
              <a:srgbClr val="F2A341"/>
            </a:solidFill>
            <a:prstDash val="solid"/>
          </a:ln>
        </p:spPr>
      </p:sp>
      <p:sp>
        <p:nvSpPr>
          <p:cNvPr id="26" name="Text 24"/>
          <p:cNvSpPr/>
          <p:nvPr/>
        </p:nvSpPr>
        <p:spPr>
          <a:xfrm>
            <a:off x="6400800" y="2971800"/>
            <a:ext cx="365760" cy="36576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1</a:t>
            </a:r>
            <a:endParaRPr lang="en-US" sz="1300" dirty="0"/>
          </a:p>
        </p:txBody>
      </p:sp>
      <p:sp>
        <p:nvSpPr>
          <p:cNvPr id="27" name="Text 25"/>
          <p:cNvSpPr/>
          <p:nvPr/>
        </p:nvSpPr>
        <p:spPr>
          <a:xfrm>
            <a:off x="6903720" y="2926080"/>
            <a:ext cx="4526280" cy="502920"/>
          </a:xfrm>
          <a:prstGeom prst="rect">
            <a:avLst/>
          </a:prstGeom>
          <a:noFill/>
          <a:ln/>
        </p:spPr>
        <p:txBody>
          <a:bodyPr wrap="square" rtlCol="0" anchor="ctr"/>
          <a:lstStyle/>
          <a:p>
            <a:pPr indent="0" marL="0">
              <a:buNone/>
            </a:pPr>
            <a:r>
              <a:rPr lang="en-US" sz="1300" dirty="0">
                <a:solidFill>
                  <a:srgbClr val="1A1A2E"/>
                </a:solidFill>
                <a:latin typeface="Segoe UI" pitchFamily="34" charset="0"/>
                <a:ea typeface="Segoe UI" pitchFamily="34" charset="-122"/>
                <a:cs typeface="Segoe UI" pitchFamily="34" charset="-120"/>
              </a:rPr>
              <a:t>Pipeline pauses on Environment approval</a:t>
            </a:r>
            <a:endParaRPr lang="en-US" sz="1300" dirty="0"/>
          </a:p>
        </p:txBody>
      </p:sp>
      <p:sp>
        <p:nvSpPr>
          <p:cNvPr id="28" name="Shape 26"/>
          <p:cNvSpPr/>
          <p:nvPr/>
        </p:nvSpPr>
        <p:spPr>
          <a:xfrm>
            <a:off x="6400800" y="3611880"/>
            <a:ext cx="365760" cy="365760"/>
          </a:xfrm>
          <a:prstGeom prst="ellipse">
            <a:avLst/>
          </a:prstGeom>
          <a:solidFill>
            <a:srgbClr val="F2A341"/>
          </a:solidFill>
          <a:ln w="12700">
            <a:solidFill>
              <a:srgbClr val="F2A341"/>
            </a:solidFill>
            <a:prstDash val="solid"/>
          </a:ln>
        </p:spPr>
      </p:sp>
      <p:sp>
        <p:nvSpPr>
          <p:cNvPr id="29" name="Text 27"/>
          <p:cNvSpPr/>
          <p:nvPr/>
        </p:nvSpPr>
        <p:spPr>
          <a:xfrm>
            <a:off x="6400800" y="3611880"/>
            <a:ext cx="365760" cy="36576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2</a:t>
            </a:r>
            <a:endParaRPr lang="en-US" sz="1300" dirty="0"/>
          </a:p>
        </p:txBody>
      </p:sp>
      <p:sp>
        <p:nvSpPr>
          <p:cNvPr id="30" name="Text 28"/>
          <p:cNvSpPr/>
          <p:nvPr/>
        </p:nvSpPr>
        <p:spPr>
          <a:xfrm>
            <a:off x="6903720" y="3566160"/>
            <a:ext cx="4526280" cy="502920"/>
          </a:xfrm>
          <a:prstGeom prst="rect">
            <a:avLst/>
          </a:prstGeom>
          <a:noFill/>
          <a:ln/>
        </p:spPr>
        <p:txBody>
          <a:bodyPr wrap="square" rtlCol="0" anchor="ctr"/>
          <a:lstStyle/>
          <a:p>
            <a:pPr indent="0" marL="0">
              <a:buNone/>
            </a:pPr>
            <a:r>
              <a:rPr lang="en-US" sz="1300" dirty="0">
                <a:solidFill>
                  <a:srgbClr val="1A1A2E"/>
                </a:solidFill>
                <a:latin typeface="Segoe UI" pitchFamily="34" charset="0"/>
                <a:ea typeface="Segoe UI" pitchFamily="34" charset="-122"/>
                <a:cs typeface="Segoe UI" pitchFamily="34" charset="-120"/>
              </a:rPr>
              <a:t>Other AHSA engineer approves (4-eyes)</a:t>
            </a:r>
            <a:endParaRPr lang="en-US" sz="1300" dirty="0"/>
          </a:p>
        </p:txBody>
      </p:sp>
      <p:sp>
        <p:nvSpPr>
          <p:cNvPr id="31" name="Shape 29"/>
          <p:cNvSpPr/>
          <p:nvPr/>
        </p:nvSpPr>
        <p:spPr>
          <a:xfrm>
            <a:off x="6400800" y="4251960"/>
            <a:ext cx="365760" cy="365760"/>
          </a:xfrm>
          <a:prstGeom prst="ellipse">
            <a:avLst/>
          </a:prstGeom>
          <a:solidFill>
            <a:srgbClr val="F2A341"/>
          </a:solidFill>
          <a:ln w="12700">
            <a:solidFill>
              <a:srgbClr val="F2A341"/>
            </a:solidFill>
            <a:prstDash val="solid"/>
          </a:ln>
        </p:spPr>
      </p:sp>
      <p:sp>
        <p:nvSpPr>
          <p:cNvPr id="32" name="Text 30"/>
          <p:cNvSpPr/>
          <p:nvPr/>
        </p:nvSpPr>
        <p:spPr>
          <a:xfrm>
            <a:off x="6400800" y="4251960"/>
            <a:ext cx="365760" cy="36576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3</a:t>
            </a:r>
            <a:endParaRPr lang="en-US" sz="1300" dirty="0"/>
          </a:p>
        </p:txBody>
      </p:sp>
      <p:sp>
        <p:nvSpPr>
          <p:cNvPr id="33" name="Text 31"/>
          <p:cNvSpPr/>
          <p:nvPr/>
        </p:nvSpPr>
        <p:spPr>
          <a:xfrm>
            <a:off x="6903720" y="4206240"/>
            <a:ext cx="4526280" cy="502920"/>
          </a:xfrm>
          <a:prstGeom prst="rect">
            <a:avLst/>
          </a:prstGeom>
          <a:noFill/>
          <a:ln/>
        </p:spPr>
        <p:txBody>
          <a:bodyPr wrap="square" rtlCol="0" anchor="ctr"/>
          <a:lstStyle/>
          <a:p>
            <a:pPr indent="0" marL="0">
              <a:buNone/>
            </a:pPr>
            <a:r>
              <a:rPr lang="en-US" sz="1300" dirty="0">
                <a:solidFill>
                  <a:srgbClr val="1A1A2E"/>
                </a:solidFill>
                <a:latin typeface="Segoe UI" pitchFamily="34" charset="0"/>
                <a:ea typeface="Segoe UI" pitchFamily="34" charset="-122"/>
                <a:cs typeface="Segoe UI" pitchFamily="34" charset="-120"/>
              </a:rPr>
              <a:t>fabric-cicd publishes to ahsa-fabric-prod</a:t>
            </a:r>
            <a:endParaRPr lang="en-US" sz="1300" dirty="0"/>
          </a:p>
        </p:txBody>
      </p:sp>
      <p:sp>
        <p:nvSpPr>
          <p:cNvPr id="34" name="Shape 32"/>
          <p:cNvSpPr/>
          <p:nvPr/>
        </p:nvSpPr>
        <p:spPr>
          <a:xfrm>
            <a:off x="6400800" y="4892040"/>
            <a:ext cx="365760" cy="365760"/>
          </a:xfrm>
          <a:prstGeom prst="ellipse">
            <a:avLst/>
          </a:prstGeom>
          <a:solidFill>
            <a:srgbClr val="F2A341"/>
          </a:solidFill>
          <a:ln w="12700">
            <a:solidFill>
              <a:srgbClr val="F2A341"/>
            </a:solidFill>
            <a:prstDash val="solid"/>
          </a:ln>
        </p:spPr>
      </p:sp>
      <p:sp>
        <p:nvSpPr>
          <p:cNvPr id="35" name="Text 33"/>
          <p:cNvSpPr/>
          <p:nvPr/>
        </p:nvSpPr>
        <p:spPr>
          <a:xfrm>
            <a:off x="6400800" y="4892040"/>
            <a:ext cx="365760" cy="36576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4</a:t>
            </a:r>
            <a:endParaRPr lang="en-US" sz="1300" dirty="0"/>
          </a:p>
        </p:txBody>
      </p:sp>
      <p:sp>
        <p:nvSpPr>
          <p:cNvPr id="36" name="Text 34"/>
          <p:cNvSpPr/>
          <p:nvPr/>
        </p:nvSpPr>
        <p:spPr>
          <a:xfrm>
            <a:off x="6903720" y="4846320"/>
            <a:ext cx="4526280" cy="502920"/>
          </a:xfrm>
          <a:prstGeom prst="rect">
            <a:avLst/>
          </a:prstGeom>
          <a:noFill/>
          <a:ln/>
        </p:spPr>
        <p:txBody>
          <a:bodyPr wrap="square" rtlCol="0" anchor="ctr"/>
          <a:lstStyle/>
          <a:p>
            <a:pPr indent="0" marL="0">
              <a:buNone/>
            </a:pPr>
            <a:r>
              <a:rPr lang="en-US" sz="1300" dirty="0">
                <a:solidFill>
                  <a:srgbClr val="1A1A2E"/>
                </a:solidFill>
                <a:latin typeface="Segoe UI" pitchFamily="34" charset="0"/>
                <a:ea typeface="Segoe UI" pitchFamily="34" charset="-122"/>
                <a:cs typeface="Segoe UI" pitchFamily="34" charset="-120"/>
              </a:rPr>
              <a:t>Smoke test runs against Prod</a:t>
            </a:r>
            <a:endParaRPr lang="en-US" sz="1300" dirty="0"/>
          </a:p>
        </p:txBody>
      </p:sp>
      <p:sp>
        <p:nvSpPr>
          <p:cNvPr id="37" name="Shape 35"/>
          <p:cNvSpPr/>
          <p:nvPr/>
        </p:nvSpPr>
        <p:spPr>
          <a:xfrm>
            <a:off x="6400800" y="5532120"/>
            <a:ext cx="365760" cy="365760"/>
          </a:xfrm>
          <a:prstGeom prst="ellipse">
            <a:avLst/>
          </a:prstGeom>
          <a:solidFill>
            <a:srgbClr val="F2A341"/>
          </a:solidFill>
          <a:ln w="12700">
            <a:solidFill>
              <a:srgbClr val="F2A341"/>
            </a:solidFill>
            <a:prstDash val="solid"/>
          </a:ln>
        </p:spPr>
      </p:sp>
      <p:sp>
        <p:nvSpPr>
          <p:cNvPr id="38" name="Text 36"/>
          <p:cNvSpPr/>
          <p:nvPr/>
        </p:nvSpPr>
        <p:spPr>
          <a:xfrm>
            <a:off x="6400800" y="5532120"/>
            <a:ext cx="365760" cy="36576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5</a:t>
            </a:r>
            <a:endParaRPr lang="en-US" sz="1300" dirty="0"/>
          </a:p>
        </p:txBody>
      </p:sp>
      <p:sp>
        <p:nvSpPr>
          <p:cNvPr id="39" name="Text 37"/>
          <p:cNvSpPr/>
          <p:nvPr/>
        </p:nvSpPr>
        <p:spPr>
          <a:xfrm>
            <a:off x="6903720" y="5486400"/>
            <a:ext cx="4526280" cy="502920"/>
          </a:xfrm>
          <a:prstGeom prst="rect">
            <a:avLst/>
          </a:prstGeom>
          <a:noFill/>
          <a:ln/>
        </p:spPr>
        <p:txBody>
          <a:bodyPr wrap="square" rtlCol="0" anchor="ctr"/>
          <a:lstStyle/>
          <a:p>
            <a:pPr indent="0" marL="0">
              <a:buNone/>
            </a:pPr>
            <a:r>
              <a:rPr lang="en-US" sz="1300" dirty="0">
                <a:solidFill>
                  <a:srgbClr val="1A1A2E"/>
                </a:solidFill>
                <a:latin typeface="Segoe UI" pitchFamily="34" charset="0"/>
                <a:ea typeface="Segoe UI" pitchFamily="34" charset="-122"/>
                <a:cs typeface="Segoe UI" pitchFamily="34" charset="-120"/>
              </a:rPr>
              <a:t>Pipeline tags AHSA release on success</a:t>
            </a:r>
            <a:endParaRPr lang="en-US" sz="1300" dirty="0"/>
          </a:p>
        </p:txBody>
      </p:sp>
      <p:sp>
        <p:nvSpPr>
          <p:cNvPr id="41" name="Shape 38"/>
          <p:cNvSpPr/>
          <p:nvPr/>
        </p:nvSpPr>
        <p:spPr>
          <a:xfrm>
            <a:off x="0" y="6537960"/>
            <a:ext cx="12161520" cy="320040"/>
          </a:xfrm>
          <a:prstGeom prst="rect">
            <a:avLst/>
          </a:prstGeom>
          <a:solidFill>
            <a:srgbClr val="21295C"/>
          </a:solidFill>
          <a:ln w="12700">
            <a:solidFill>
              <a:srgbClr val="21295C"/>
            </a:solidFill>
            <a:prstDash val="solid"/>
          </a:ln>
        </p:spPr>
      </p:sp>
      <p:sp>
        <p:nvSpPr>
          <p:cNvPr id="42" name="Text 39"/>
          <p:cNvSpPr/>
          <p:nvPr/>
        </p:nvSpPr>
        <p:spPr>
          <a:xfrm>
            <a:off x="365760" y="6537960"/>
            <a:ext cx="7315200" cy="320040"/>
          </a:xfrm>
          <a:prstGeom prst="rect">
            <a:avLst/>
          </a:prstGeom>
          <a:noFill/>
          <a:ln/>
        </p:spPr>
        <p:txBody>
          <a:bodyPr wrap="square" rtlCol="0" anchor="ctr"/>
          <a:lstStyle/>
          <a:p>
            <a:pPr indent="0" marL="0">
              <a:buNone/>
            </a:pPr>
            <a:r>
              <a:rPr lang="en-US" sz="1000" dirty="0">
                <a:solidFill>
                  <a:srgbClr val="E8F1F5"/>
                </a:solidFill>
                <a:latin typeface="Segoe UI" pitchFamily="34" charset="0"/>
                <a:ea typeface="Segoe UI" pitchFamily="34" charset="-122"/>
                <a:cs typeface="Segoe UI" pitchFamily="34" charset="-120"/>
              </a:rPr>
              <a:t>Fabric CI/CD from GitHub  ·  Prepared for AHSA</a:t>
            </a:r>
            <a:endParaRPr lang="en-US" sz="1000" dirty="0"/>
          </a:p>
        </p:txBody>
      </p:sp>
      <p:sp>
        <p:nvSpPr>
          <p:cNvPr id="43" name="Text 40"/>
          <p:cNvSpPr/>
          <p:nvPr/>
        </p:nvSpPr>
        <p:spPr>
          <a:xfrm>
            <a:off x="11430000" y="6537960"/>
            <a:ext cx="365760" cy="320040"/>
          </a:xfrm>
          <a:prstGeom prst="rect">
            <a:avLst/>
          </a:prstGeom>
          <a:noFill/>
          <a:ln/>
        </p:spPr>
        <p:txBody>
          <a:bodyPr wrap="square" rtlCol="0" anchor="ctr"/>
          <a:lstStyle/>
          <a:p>
            <a:pPr algn="r" indent="0" marL="0">
              <a:buNone/>
            </a:pPr>
            <a:r>
              <a:rPr lang="en-US" sz="1000" dirty="0">
                <a:solidFill>
                  <a:srgbClr val="E8F1F5"/>
                </a:solidFill>
                <a:latin typeface="Segoe UI" pitchFamily="34" charset="0"/>
                <a:ea typeface="Segoe UI" pitchFamily="34" charset="-122"/>
                <a:cs typeface="Segoe U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537960"/>
          </a:xfrm>
          <a:prstGeom prst="rect">
            <a:avLst/>
          </a:prstGeom>
          <a:solidFill>
            <a:srgbClr val="F2A341"/>
          </a:solidFill>
          <a:ln w="12700">
            <a:solidFill>
              <a:srgbClr val="F2A341"/>
            </a:solidFill>
            <a:prstDash val="solid"/>
          </a:ln>
        </p:spPr>
      </p:sp>
      <p:sp>
        <p:nvSpPr>
          <p:cNvPr id="3" name="Text 1"/>
          <p:cNvSpPr/>
          <p:nvPr/>
        </p:nvSpPr>
        <p:spPr>
          <a:xfrm>
            <a:off x="548640" y="411480"/>
            <a:ext cx="10972800" cy="320040"/>
          </a:xfrm>
          <a:prstGeom prst="rect">
            <a:avLst/>
          </a:prstGeom>
          <a:noFill/>
          <a:ln/>
        </p:spPr>
        <p:txBody>
          <a:bodyPr wrap="square" rtlCol="0" anchor="ctr"/>
          <a:lstStyle/>
          <a:p>
            <a:pPr indent="0" marL="0">
              <a:buNone/>
            </a:pPr>
            <a:r>
              <a:rPr lang="en-US" sz="1100" b="1" spc="400" kern="0" dirty="0">
                <a:solidFill>
                  <a:srgbClr val="1C7293"/>
                </a:solidFill>
                <a:latin typeface="Segoe UI" pitchFamily="34" charset="0"/>
                <a:ea typeface="Segoe UI" pitchFamily="34" charset="-122"/>
                <a:cs typeface="Segoe UI" pitchFamily="34" charset="-120"/>
              </a:rPr>
              <a:t>FAILURE &amp; ROLLBACK</a:t>
            </a:r>
            <a:endParaRPr lang="en-US" sz="1100" dirty="0"/>
          </a:p>
        </p:txBody>
      </p:sp>
      <p:sp>
        <p:nvSpPr>
          <p:cNvPr id="4" name="Text 2"/>
          <p:cNvSpPr/>
          <p:nvPr/>
        </p:nvSpPr>
        <p:spPr>
          <a:xfrm>
            <a:off x="548640" y="731520"/>
            <a:ext cx="10972800" cy="822960"/>
          </a:xfrm>
          <a:prstGeom prst="rect">
            <a:avLst/>
          </a:prstGeom>
          <a:noFill/>
          <a:ln/>
        </p:spPr>
        <p:txBody>
          <a:bodyPr wrap="square" rtlCol="0" anchor="ctr"/>
          <a:lstStyle/>
          <a:p>
            <a:pPr indent="0" marL="0">
              <a:buNone/>
            </a:pPr>
            <a:r>
              <a:rPr lang="en-US" sz="3200" b="1" dirty="0">
                <a:solidFill>
                  <a:srgbClr val="21295C"/>
                </a:solidFill>
                <a:latin typeface="Segoe UI" pitchFamily="34" charset="0"/>
                <a:ea typeface="Segoe UI" pitchFamily="34" charset="-122"/>
                <a:cs typeface="Segoe UI" pitchFamily="34" charset="-120"/>
              </a:rPr>
              <a:t>Two scenarios AHSA will hit — both end-to-end safe</a:t>
            </a:r>
            <a:endParaRPr lang="en-US" sz="3200" dirty="0"/>
          </a:p>
        </p:txBody>
      </p:sp>
      <p:sp>
        <p:nvSpPr>
          <p:cNvPr id="5" name="Shape 3"/>
          <p:cNvSpPr/>
          <p:nvPr/>
        </p:nvSpPr>
        <p:spPr>
          <a:xfrm>
            <a:off x="548640" y="1600200"/>
            <a:ext cx="1097280" cy="0"/>
          </a:xfrm>
          <a:prstGeom prst="line">
            <a:avLst/>
          </a:prstGeom>
          <a:noFill/>
          <a:ln w="38100">
            <a:solidFill>
              <a:srgbClr val="F2A341"/>
            </a:solidFill>
            <a:prstDash val="solid"/>
          </a:ln>
        </p:spPr>
      </p:sp>
      <p:sp>
        <p:nvSpPr>
          <p:cNvPr id="6" name="Shape 4"/>
          <p:cNvSpPr/>
          <p:nvPr/>
        </p:nvSpPr>
        <p:spPr>
          <a:xfrm>
            <a:off x="548640" y="2011680"/>
            <a:ext cx="11064240" cy="1554480"/>
          </a:xfrm>
          <a:prstGeom prst="rect">
            <a:avLst/>
          </a:prstGeom>
          <a:solidFill>
            <a:srgbClr val="E8F1F5"/>
          </a:solidFill>
          <a:ln w="12700">
            <a:solidFill>
              <a:srgbClr val="E8F1F5"/>
            </a:solidFill>
            <a:prstDash val="solid"/>
          </a:ln>
        </p:spPr>
      </p:sp>
      <p:sp>
        <p:nvSpPr>
          <p:cNvPr id="7" name="Shape 5"/>
          <p:cNvSpPr/>
          <p:nvPr/>
        </p:nvSpPr>
        <p:spPr>
          <a:xfrm>
            <a:off x="548640" y="2011680"/>
            <a:ext cx="164592" cy="1554480"/>
          </a:xfrm>
          <a:prstGeom prst="rect">
            <a:avLst/>
          </a:prstGeom>
          <a:solidFill>
            <a:srgbClr val="C0392B"/>
          </a:solidFill>
          <a:ln w="12700">
            <a:solidFill>
              <a:srgbClr val="C0392B"/>
            </a:solidFill>
            <a:prstDash val="solid"/>
          </a:ln>
        </p:spPr>
      </p:sp>
      <p:sp>
        <p:nvSpPr>
          <p:cNvPr id="8" name="Text 6"/>
          <p:cNvSpPr/>
          <p:nvPr/>
        </p:nvSpPr>
        <p:spPr>
          <a:xfrm>
            <a:off x="914400" y="2148840"/>
            <a:ext cx="2743200" cy="274320"/>
          </a:xfrm>
          <a:prstGeom prst="rect">
            <a:avLst/>
          </a:prstGeom>
          <a:noFill/>
          <a:ln/>
        </p:spPr>
        <p:txBody>
          <a:bodyPr wrap="square" rtlCol="0" anchor="ctr"/>
          <a:lstStyle/>
          <a:p>
            <a:pPr indent="0" marL="0">
              <a:buNone/>
            </a:pPr>
            <a:r>
              <a:rPr lang="en-US" sz="1000" b="1" spc="400" kern="0" dirty="0">
                <a:solidFill>
                  <a:srgbClr val="C0392B"/>
                </a:solidFill>
                <a:latin typeface="Segoe UI" pitchFamily="34" charset="0"/>
                <a:ea typeface="Segoe UI" pitchFamily="34" charset="-122"/>
                <a:cs typeface="Segoe UI" pitchFamily="34" charset="-120"/>
              </a:rPr>
              <a:t>PREVENTION</a:t>
            </a:r>
            <a:endParaRPr lang="en-US" sz="1000" dirty="0"/>
          </a:p>
        </p:txBody>
      </p:sp>
      <p:sp>
        <p:nvSpPr>
          <p:cNvPr id="9" name="Text 7"/>
          <p:cNvSpPr/>
          <p:nvPr/>
        </p:nvSpPr>
        <p:spPr>
          <a:xfrm>
            <a:off x="914400" y="2377440"/>
            <a:ext cx="10515600" cy="457200"/>
          </a:xfrm>
          <a:prstGeom prst="rect">
            <a:avLst/>
          </a:prstGeom>
          <a:noFill/>
          <a:ln/>
        </p:spPr>
        <p:txBody>
          <a:bodyPr wrap="square" rtlCol="0" anchor="ctr"/>
          <a:lstStyle/>
          <a:p>
            <a:pPr indent="0" marL="0">
              <a:buNone/>
            </a:pPr>
            <a:r>
              <a:rPr lang="en-US" sz="2000" b="1" dirty="0">
                <a:solidFill>
                  <a:srgbClr val="21295C"/>
                </a:solidFill>
                <a:latin typeface="Segoe UI" pitchFamily="34" charset="0"/>
                <a:ea typeface="Segoe UI" pitchFamily="34" charset="-122"/>
                <a:cs typeface="Segoe UI" pitchFamily="34" charset="-120"/>
              </a:rPr>
              <a:t>A · CI catches a bad change</a:t>
            </a:r>
            <a:endParaRPr lang="en-US" sz="2000" dirty="0"/>
          </a:p>
        </p:txBody>
      </p:sp>
      <p:sp>
        <p:nvSpPr>
          <p:cNvPr id="10" name="Text 8"/>
          <p:cNvSpPr/>
          <p:nvPr/>
        </p:nvSpPr>
        <p:spPr>
          <a:xfrm>
            <a:off x="914400" y="2880360"/>
            <a:ext cx="10515600" cy="640080"/>
          </a:xfrm>
          <a:prstGeom prst="rect">
            <a:avLst/>
          </a:prstGeom>
          <a:noFill/>
          <a:ln/>
        </p:spPr>
        <p:txBody>
          <a:bodyPr wrap="square" rtlCol="0" anchor="ctr"/>
          <a:lstStyle/>
          <a:p>
            <a:pPr indent="0" marL="0">
              <a:buNone/>
            </a:pPr>
            <a:r>
              <a:rPr lang="en-US" sz="1300" dirty="0">
                <a:solidFill>
                  <a:srgbClr val="1A1A2E"/>
                </a:solidFill>
                <a:latin typeface="Segoe UI" pitchFamily="34" charset="0"/>
                <a:ea typeface="Segoe UI" pitchFamily="34" charset="-122"/>
                <a:cs typeface="Segoe UI" pitchFamily="34" charset="-120"/>
              </a:rPr>
              <a:t>An AHSA engineer pushes a syntax error to a feature branch → PR opens → pr-validate goes red → branch protection blocks the merge. The bad change never reaches AHSA's Dev workspace.</a:t>
            </a:r>
            <a:endParaRPr lang="en-US" sz="1300" dirty="0"/>
          </a:p>
        </p:txBody>
      </p:sp>
      <p:sp>
        <p:nvSpPr>
          <p:cNvPr id="11" name="Shape 9"/>
          <p:cNvSpPr/>
          <p:nvPr/>
        </p:nvSpPr>
        <p:spPr>
          <a:xfrm>
            <a:off x="548640" y="3840480"/>
            <a:ext cx="11064240" cy="1554480"/>
          </a:xfrm>
          <a:prstGeom prst="rect">
            <a:avLst/>
          </a:prstGeom>
          <a:solidFill>
            <a:srgbClr val="E8F1F5"/>
          </a:solidFill>
          <a:ln w="12700">
            <a:solidFill>
              <a:srgbClr val="E8F1F5"/>
            </a:solidFill>
            <a:prstDash val="solid"/>
          </a:ln>
        </p:spPr>
      </p:sp>
      <p:sp>
        <p:nvSpPr>
          <p:cNvPr id="12" name="Shape 10"/>
          <p:cNvSpPr/>
          <p:nvPr/>
        </p:nvSpPr>
        <p:spPr>
          <a:xfrm>
            <a:off x="548640" y="3840480"/>
            <a:ext cx="164592" cy="1554480"/>
          </a:xfrm>
          <a:prstGeom prst="rect">
            <a:avLst/>
          </a:prstGeom>
          <a:solidFill>
            <a:srgbClr val="2EA86B"/>
          </a:solidFill>
          <a:ln w="12700">
            <a:solidFill>
              <a:srgbClr val="2EA86B"/>
            </a:solidFill>
            <a:prstDash val="solid"/>
          </a:ln>
        </p:spPr>
      </p:sp>
      <p:sp>
        <p:nvSpPr>
          <p:cNvPr id="13" name="Text 11"/>
          <p:cNvSpPr/>
          <p:nvPr/>
        </p:nvSpPr>
        <p:spPr>
          <a:xfrm>
            <a:off x="914400" y="3977640"/>
            <a:ext cx="2743200" cy="274320"/>
          </a:xfrm>
          <a:prstGeom prst="rect">
            <a:avLst/>
          </a:prstGeom>
          <a:noFill/>
          <a:ln/>
        </p:spPr>
        <p:txBody>
          <a:bodyPr wrap="square" rtlCol="0" anchor="ctr"/>
          <a:lstStyle/>
          <a:p>
            <a:pPr indent="0" marL="0">
              <a:buNone/>
            </a:pPr>
            <a:r>
              <a:rPr lang="en-US" sz="1000" b="1" spc="400" kern="0" dirty="0">
                <a:solidFill>
                  <a:srgbClr val="2EA86B"/>
                </a:solidFill>
                <a:latin typeface="Segoe UI" pitchFamily="34" charset="0"/>
                <a:ea typeface="Segoe UI" pitchFamily="34" charset="-122"/>
                <a:cs typeface="Segoe UI" pitchFamily="34" charset="-120"/>
              </a:rPr>
              <a:t>RECOVERY</a:t>
            </a:r>
            <a:endParaRPr lang="en-US" sz="1000" dirty="0"/>
          </a:p>
        </p:txBody>
      </p:sp>
      <p:sp>
        <p:nvSpPr>
          <p:cNvPr id="14" name="Text 12"/>
          <p:cNvSpPr/>
          <p:nvPr/>
        </p:nvSpPr>
        <p:spPr>
          <a:xfrm>
            <a:off x="914400" y="4206240"/>
            <a:ext cx="10515600" cy="457200"/>
          </a:xfrm>
          <a:prstGeom prst="rect">
            <a:avLst/>
          </a:prstGeom>
          <a:noFill/>
          <a:ln/>
        </p:spPr>
        <p:txBody>
          <a:bodyPr wrap="square" rtlCol="0" anchor="ctr"/>
          <a:lstStyle/>
          <a:p>
            <a:pPr indent="0" marL="0">
              <a:buNone/>
            </a:pPr>
            <a:r>
              <a:rPr lang="en-US" sz="2000" b="1" dirty="0">
                <a:solidFill>
                  <a:srgbClr val="21295C"/>
                </a:solidFill>
                <a:latin typeface="Segoe UI" pitchFamily="34" charset="0"/>
                <a:ea typeface="Segoe UI" pitchFamily="34" charset="-122"/>
                <a:cs typeface="Segoe UI" pitchFamily="34" charset="-120"/>
              </a:rPr>
              <a:t>B · Roll AHSA Prod back</a:t>
            </a:r>
            <a:endParaRPr lang="en-US" sz="2000" dirty="0"/>
          </a:p>
        </p:txBody>
      </p:sp>
      <p:sp>
        <p:nvSpPr>
          <p:cNvPr id="15" name="Text 13"/>
          <p:cNvSpPr/>
          <p:nvPr/>
        </p:nvSpPr>
        <p:spPr>
          <a:xfrm>
            <a:off x="914400" y="4709160"/>
            <a:ext cx="10515600" cy="640080"/>
          </a:xfrm>
          <a:prstGeom prst="rect">
            <a:avLst/>
          </a:prstGeom>
          <a:noFill/>
          <a:ln/>
        </p:spPr>
        <p:txBody>
          <a:bodyPr wrap="square" rtlCol="0" anchor="ctr"/>
          <a:lstStyle/>
          <a:p>
            <a:pPr indent="0" marL="0">
              <a:buNone/>
            </a:pPr>
            <a:r>
              <a:rPr lang="en-US" sz="1300" dirty="0">
                <a:solidFill>
                  <a:srgbClr val="1A1A2E"/>
                </a:solidFill>
                <a:latin typeface="Segoe UI" pitchFamily="34" charset="0"/>
                <a:ea typeface="Segoe UI" pitchFamily="34" charset="-122"/>
                <a:cs typeface="Segoe UI" pitchFamily="34" charset="-120"/>
              </a:rPr>
              <a:t>git revert &lt;merge-sha&gt; on main → push → deploy-prod.yml runs again with the previous state → ahsa-fabric-prod restored. Same gated path; full audit trail.</a:t>
            </a:r>
            <a:endParaRPr lang="en-US" sz="1300" dirty="0"/>
          </a:p>
        </p:txBody>
      </p:sp>
      <p:sp>
        <p:nvSpPr>
          <p:cNvPr id="16" name="Shape 14"/>
          <p:cNvSpPr/>
          <p:nvPr/>
        </p:nvSpPr>
        <p:spPr>
          <a:xfrm>
            <a:off x="548640" y="5760720"/>
            <a:ext cx="11064240" cy="731520"/>
          </a:xfrm>
          <a:prstGeom prst="rect">
            <a:avLst/>
          </a:prstGeom>
          <a:solidFill>
            <a:srgbClr val="21295C"/>
          </a:solidFill>
          <a:ln w="12700">
            <a:solidFill>
              <a:srgbClr val="21295C"/>
            </a:solidFill>
            <a:prstDash val="solid"/>
          </a:ln>
        </p:spPr>
      </p:sp>
      <p:sp>
        <p:nvSpPr>
          <p:cNvPr id="17" name="Text 15"/>
          <p:cNvSpPr/>
          <p:nvPr/>
        </p:nvSpPr>
        <p:spPr>
          <a:xfrm>
            <a:off x="777240" y="5760720"/>
            <a:ext cx="10607040" cy="731520"/>
          </a:xfrm>
          <a:prstGeom prst="rect">
            <a:avLst/>
          </a:prstGeom>
          <a:noFill/>
          <a:ln/>
        </p:spPr>
        <p:txBody>
          <a:bodyPr wrap="square" rtlCol="0" anchor="ctr"/>
          <a:lstStyle/>
          <a:p>
            <a:pPr indent="0" marL="0">
              <a:buNone/>
            </a:pPr>
            <a:r>
              <a:rPr lang="en-US" sz="1200" b="1" dirty="0">
                <a:solidFill>
                  <a:srgbClr val="F2A341"/>
                </a:solidFill>
                <a:latin typeface="Segoe UI" pitchFamily="34" charset="0"/>
                <a:ea typeface="Segoe UI" pitchFamily="34" charset="-122"/>
                <a:cs typeface="Segoe UI" pitchFamily="34" charset="-120"/>
              </a:rPr>
              <a:t>Caveat: </a:t>
            </a:r>
            <a:pPr indent="0" marL="0">
              <a:buNone/>
            </a:pPr>
            <a:r>
              <a:rPr lang="en-US" sz="1200" dirty="0">
                <a:solidFill>
                  <a:srgbClr val="E8F1F5"/>
                </a:solidFill>
                <a:latin typeface="Segoe UI" pitchFamily="34" charset="0"/>
                <a:ea typeface="Segoe UI" pitchFamily="34" charset="-122"/>
                <a:cs typeface="Segoe UI" pitchFamily="34" charset="-120"/>
              </a:rPr>
              <a:t>data is not in Git. Schema migrations need a forward-fix migration — reverting the code only restores definitions.</a:t>
            </a:r>
            <a:endParaRPr lang="en-US" sz="1200" dirty="0"/>
          </a:p>
        </p:txBody>
      </p:sp>
      <p:sp>
        <p:nvSpPr>
          <p:cNvPr id="19" name="Shape 16"/>
          <p:cNvSpPr/>
          <p:nvPr/>
        </p:nvSpPr>
        <p:spPr>
          <a:xfrm>
            <a:off x="0" y="6537960"/>
            <a:ext cx="12161520" cy="320040"/>
          </a:xfrm>
          <a:prstGeom prst="rect">
            <a:avLst/>
          </a:prstGeom>
          <a:solidFill>
            <a:srgbClr val="21295C"/>
          </a:solidFill>
          <a:ln w="12700">
            <a:solidFill>
              <a:srgbClr val="21295C"/>
            </a:solidFill>
            <a:prstDash val="solid"/>
          </a:ln>
        </p:spPr>
      </p:sp>
      <p:sp>
        <p:nvSpPr>
          <p:cNvPr id="20" name="Text 17"/>
          <p:cNvSpPr/>
          <p:nvPr/>
        </p:nvSpPr>
        <p:spPr>
          <a:xfrm>
            <a:off x="365760" y="6537960"/>
            <a:ext cx="7315200" cy="320040"/>
          </a:xfrm>
          <a:prstGeom prst="rect">
            <a:avLst/>
          </a:prstGeom>
          <a:noFill/>
          <a:ln/>
        </p:spPr>
        <p:txBody>
          <a:bodyPr wrap="square" rtlCol="0" anchor="ctr"/>
          <a:lstStyle/>
          <a:p>
            <a:pPr indent="0" marL="0">
              <a:buNone/>
            </a:pPr>
            <a:r>
              <a:rPr lang="en-US" sz="1000" dirty="0">
                <a:solidFill>
                  <a:srgbClr val="E8F1F5"/>
                </a:solidFill>
                <a:latin typeface="Segoe UI" pitchFamily="34" charset="0"/>
                <a:ea typeface="Segoe UI" pitchFamily="34" charset="-122"/>
                <a:cs typeface="Segoe UI" pitchFamily="34" charset="-120"/>
              </a:rPr>
              <a:t>Fabric CI/CD from GitHub  ·  Prepared for AHSA</a:t>
            </a:r>
            <a:endParaRPr lang="en-US" sz="1000" dirty="0"/>
          </a:p>
        </p:txBody>
      </p:sp>
      <p:sp>
        <p:nvSpPr>
          <p:cNvPr id="21" name="Text 18"/>
          <p:cNvSpPr/>
          <p:nvPr/>
        </p:nvSpPr>
        <p:spPr>
          <a:xfrm>
            <a:off x="11430000" y="6537960"/>
            <a:ext cx="365760" cy="320040"/>
          </a:xfrm>
          <a:prstGeom prst="rect">
            <a:avLst/>
          </a:prstGeom>
          <a:noFill/>
          <a:ln/>
        </p:spPr>
        <p:txBody>
          <a:bodyPr wrap="square" rtlCol="0" anchor="ctr"/>
          <a:lstStyle/>
          <a:p>
            <a:pPr algn="r" indent="0" marL="0">
              <a:buNone/>
            </a:pPr>
            <a:r>
              <a:rPr lang="en-US" sz="1000" dirty="0">
                <a:solidFill>
                  <a:srgbClr val="E8F1F5"/>
                </a:solidFill>
                <a:latin typeface="Segoe UI" pitchFamily="34" charset="0"/>
                <a:ea typeface="Segoe UI" pitchFamily="34" charset="-122"/>
                <a:cs typeface="Segoe U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537960"/>
          </a:xfrm>
          <a:prstGeom prst="rect">
            <a:avLst/>
          </a:prstGeom>
          <a:solidFill>
            <a:srgbClr val="F2A341"/>
          </a:solidFill>
          <a:ln w="12700">
            <a:solidFill>
              <a:srgbClr val="F2A341"/>
            </a:solidFill>
            <a:prstDash val="solid"/>
          </a:ln>
        </p:spPr>
      </p:sp>
      <p:sp>
        <p:nvSpPr>
          <p:cNvPr id="3" name="Text 1"/>
          <p:cNvSpPr/>
          <p:nvPr/>
        </p:nvSpPr>
        <p:spPr>
          <a:xfrm>
            <a:off x="548640" y="411480"/>
            <a:ext cx="10972800" cy="320040"/>
          </a:xfrm>
          <a:prstGeom prst="rect">
            <a:avLst/>
          </a:prstGeom>
          <a:noFill/>
          <a:ln/>
        </p:spPr>
        <p:txBody>
          <a:bodyPr wrap="square" rtlCol="0" anchor="ctr"/>
          <a:lstStyle/>
          <a:p>
            <a:pPr indent="0" marL="0">
              <a:buNone/>
            </a:pPr>
            <a:r>
              <a:rPr lang="en-US" sz="1100" b="1" spc="400" kern="0" dirty="0">
                <a:solidFill>
                  <a:srgbClr val="1C7293"/>
                </a:solidFill>
                <a:latin typeface="Segoe UI" pitchFamily="34" charset="0"/>
                <a:ea typeface="Segoe UI" pitchFamily="34" charset="-122"/>
                <a:cs typeface="Segoe UI" pitchFamily="34" charset="-120"/>
              </a:rPr>
              <a:t>AHSA TAKEAWAY</a:t>
            </a:r>
            <a:endParaRPr lang="en-US" sz="1100" dirty="0"/>
          </a:p>
        </p:txBody>
      </p:sp>
      <p:sp>
        <p:nvSpPr>
          <p:cNvPr id="4" name="Text 2"/>
          <p:cNvSpPr/>
          <p:nvPr/>
        </p:nvSpPr>
        <p:spPr>
          <a:xfrm>
            <a:off x="548640" y="731520"/>
            <a:ext cx="10972800" cy="822960"/>
          </a:xfrm>
          <a:prstGeom prst="rect">
            <a:avLst/>
          </a:prstGeom>
          <a:noFill/>
          <a:ln/>
        </p:spPr>
        <p:txBody>
          <a:bodyPr wrap="square" rtlCol="0" anchor="ctr"/>
          <a:lstStyle/>
          <a:p>
            <a:pPr indent="0" marL="0">
              <a:buNone/>
            </a:pPr>
            <a:r>
              <a:rPr lang="en-US" sz="3200" b="1" dirty="0">
                <a:solidFill>
                  <a:srgbClr val="21295C"/>
                </a:solidFill>
                <a:latin typeface="Segoe UI" pitchFamily="34" charset="0"/>
                <a:ea typeface="Segoe UI" pitchFamily="34" charset="-122"/>
                <a:cs typeface="Segoe UI" pitchFamily="34" charset="-120"/>
              </a:rPr>
              <a:t>Best-practice checklist</a:t>
            </a:r>
            <a:endParaRPr lang="en-US" sz="3200" dirty="0"/>
          </a:p>
        </p:txBody>
      </p:sp>
      <p:sp>
        <p:nvSpPr>
          <p:cNvPr id="5" name="Shape 3"/>
          <p:cNvSpPr/>
          <p:nvPr/>
        </p:nvSpPr>
        <p:spPr>
          <a:xfrm>
            <a:off x="548640" y="1600200"/>
            <a:ext cx="1097280" cy="0"/>
          </a:xfrm>
          <a:prstGeom prst="line">
            <a:avLst/>
          </a:prstGeom>
          <a:noFill/>
          <a:ln w="38100">
            <a:solidFill>
              <a:srgbClr val="F2A341"/>
            </a:solidFill>
            <a:prstDash val="solid"/>
          </a:ln>
        </p:spPr>
      </p:sp>
      <p:sp>
        <p:nvSpPr>
          <p:cNvPr id="6" name="Shape 4"/>
          <p:cNvSpPr/>
          <p:nvPr/>
        </p:nvSpPr>
        <p:spPr>
          <a:xfrm>
            <a:off x="548640" y="2121408"/>
            <a:ext cx="411480" cy="411480"/>
          </a:xfrm>
          <a:prstGeom prst="ellipse">
            <a:avLst/>
          </a:prstGeom>
          <a:solidFill>
            <a:srgbClr val="065A82"/>
          </a:solidFill>
          <a:ln w="12700">
            <a:solidFill>
              <a:srgbClr val="065A82"/>
            </a:solidFill>
            <a:prstDash val="solid"/>
          </a:ln>
        </p:spPr>
      </p:sp>
      <p:sp>
        <p:nvSpPr>
          <p:cNvPr id="7" name="Text 5"/>
          <p:cNvSpPr/>
          <p:nvPr/>
        </p:nvSpPr>
        <p:spPr>
          <a:xfrm>
            <a:off x="548640" y="2121408"/>
            <a:ext cx="411480" cy="411480"/>
          </a:xfrm>
          <a:prstGeom prst="rect">
            <a:avLst/>
          </a:prstGeom>
          <a:noFill/>
          <a:ln/>
        </p:spPr>
        <p:txBody>
          <a:bodyPr wrap="square"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01</a:t>
            </a:r>
            <a:endParaRPr lang="en-US" sz="1100" dirty="0"/>
          </a:p>
        </p:txBody>
      </p:sp>
      <p:sp>
        <p:nvSpPr>
          <p:cNvPr id="8" name="Text 6"/>
          <p:cNvSpPr/>
          <p:nvPr/>
        </p:nvSpPr>
        <p:spPr>
          <a:xfrm>
            <a:off x="1097280" y="2084832"/>
            <a:ext cx="4892040" cy="594360"/>
          </a:xfrm>
          <a:prstGeom prst="rect">
            <a:avLst/>
          </a:prstGeom>
          <a:noFill/>
          <a:ln/>
        </p:spPr>
        <p:txBody>
          <a:bodyPr wrap="square" rtlCol="0" anchor="ctr"/>
          <a:lstStyle/>
          <a:p>
            <a:pPr indent="0" marL="0">
              <a:buNone/>
            </a:pPr>
            <a:r>
              <a:rPr lang="en-US" sz="1250" dirty="0">
                <a:solidFill>
                  <a:srgbClr val="1A1A2E"/>
                </a:solidFill>
                <a:latin typeface="Segoe UI" pitchFamily="34" charset="0"/>
                <a:ea typeface="Segoe UI" pitchFamily="34" charset="-122"/>
                <a:cs typeface="Segoe UI" pitchFamily="34" charset="-120"/>
              </a:rPr>
              <a:t>Only Dev workspace is Git-connected; Test/Prod via fabric-cicd</a:t>
            </a:r>
            <a:endParaRPr lang="en-US" sz="1250" dirty="0"/>
          </a:p>
        </p:txBody>
      </p:sp>
      <p:sp>
        <p:nvSpPr>
          <p:cNvPr id="9" name="Shape 7"/>
          <p:cNvSpPr/>
          <p:nvPr/>
        </p:nvSpPr>
        <p:spPr>
          <a:xfrm>
            <a:off x="548640" y="2807208"/>
            <a:ext cx="411480" cy="411480"/>
          </a:xfrm>
          <a:prstGeom prst="ellipse">
            <a:avLst/>
          </a:prstGeom>
          <a:solidFill>
            <a:srgbClr val="065A82"/>
          </a:solidFill>
          <a:ln w="12700">
            <a:solidFill>
              <a:srgbClr val="065A82"/>
            </a:solidFill>
            <a:prstDash val="solid"/>
          </a:ln>
        </p:spPr>
      </p:sp>
      <p:sp>
        <p:nvSpPr>
          <p:cNvPr id="10" name="Text 8"/>
          <p:cNvSpPr/>
          <p:nvPr/>
        </p:nvSpPr>
        <p:spPr>
          <a:xfrm>
            <a:off x="548640" y="2807208"/>
            <a:ext cx="411480" cy="411480"/>
          </a:xfrm>
          <a:prstGeom prst="rect">
            <a:avLst/>
          </a:prstGeom>
          <a:noFill/>
          <a:ln/>
        </p:spPr>
        <p:txBody>
          <a:bodyPr wrap="square"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02</a:t>
            </a:r>
            <a:endParaRPr lang="en-US" sz="1100" dirty="0"/>
          </a:p>
        </p:txBody>
      </p:sp>
      <p:sp>
        <p:nvSpPr>
          <p:cNvPr id="11" name="Text 9"/>
          <p:cNvSpPr/>
          <p:nvPr/>
        </p:nvSpPr>
        <p:spPr>
          <a:xfrm>
            <a:off x="1097280" y="2770632"/>
            <a:ext cx="4892040" cy="594360"/>
          </a:xfrm>
          <a:prstGeom prst="rect">
            <a:avLst/>
          </a:prstGeom>
          <a:noFill/>
          <a:ln/>
        </p:spPr>
        <p:txBody>
          <a:bodyPr wrap="square" rtlCol="0" anchor="ctr"/>
          <a:lstStyle/>
          <a:p>
            <a:pPr indent="0" marL="0">
              <a:buNone/>
            </a:pPr>
            <a:r>
              <a:rPr lang="en-US" sz="1250" dirty="0">
                <a:solidFill>
                  <a:srgbClr val="1A1A2E"/>
                </a:solidFill>
                <a:latin typeface="Segoe UI" pitchFamily="34" charset="0"/>
                <a:ea typeface="Segoe UI" pitchFamily="34" charset="-122"/>
                <a:cs typeface="Segoe UI" pitchFamily="34" charset="-120"/>
              </a:rPr>
              <a:t>Trunk-based branches: feature → dev → test → main</a:t>
            </a:r>
            <a:endParaRPr lang="en-US" sz="1250" dirty="0"/>
          </a:p>
        </p:txBody>
      </p:sp>
      <p:sp>
        <p:nvSpPr>
          <p:cNvPr id="12" name="Shape 10"/>
          <p:cNvSpPr/>
          <p:nvPr/>
        </p:nvSpPr>
        <p:spPr>
          <a:xfrm>
            <a:off x="548640" y="3493008"/>
            <a:ext cx="411480" cy="411480"/>
          </a:xfrm>
          <a:prstGeom prst="ellipse">
            <a:avLst/>
          </a:prstGeom>
          <a:solidFill>
            <a:srgbClr val="065A82"/>
          </a:solidFill>
          <a:ln w="12700">
            <a:solidFill>
              <a:srgbClr val="065A82"/>
            </a:solidFill>
            <a:prstDash val="solid"/>
          </a:ln>
        </p:spPr>
      </p:sp>
      <p:sp>
        <p:nvSpPr>
          <p:cNvPr id="13" name="Text 11"/>
          <p:cNvSpPr/>
          <p:nvPr/>
        </p:nvSpPr>
        <p:spPr>
          <a:xfrm>
            <a:off x="548640" y="3493008"/>
            <a:ext cx="411480" cy="411480"/>
          </a:xfrm>
          <a:prstGeom prst="rect">
            <a:avLst/>
          </a:prstGeom>
          <a:noFill/>
          <a:ln/>
        </p:spPr>
        <p:txBody>
          <a:bodyPr wrap="square"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03</a:t>
            </a:r>
            <a:endParaRPr lang="en-US" sz="1100" dirty="0"/>
          </a:p>
        </p:txBody>
      </p:sp>
      <p:sp>
        <p:nvSpPr>
          <p:cNvPr id="14" name="Text 12"/>
          <p:cNvSpPr/>
          <p:nvPr/>
        </p:nvSpPr>
        <p:spPr>
          <a:xfrm>
            <a:off x="1097280" y="3456432"/>
            <a:ext cx="4892040" cy="594360"/>
          </a:xfrm>
          <a:prstGeom prst="rect">
            <a:avLst/>
          </a:prstGeom>
          <a:noFill/>
          <a:ln/>
        </p:spPr>
        <p:txBody>
          <a:bodyPr wrap="square" rtlCol="0" anchor="ctr"/>
          <a:lstStyle/>
          <a:p>
            <a:pPr indent="0" marL="0">
              <a:buNone/>
            </a:pPr>
            <a:r>
              <a:rPr lang="en-US" sz="1250" dirty="0">
                <a:solidFill>
                  <a:srgbClr val="1A1A2E"/>
                </a:solidFill>
                <a:latin typeface="Segoe UI" pitchFamily="34" charset="0"/>
                <a:ea typeface="Segoe UI" pitchFamily="34" charset="-122"/>
                <a:cs typeface="Segoe UI" pitchFamily="34" charset="-120"/>
              </a:rPr>
              <a:t>Branch protection + CODEOWNERS → enforced 4-eyes review</a:t>
            </a:r>
            <a:endParaRPr lang="en-US" sz="1250" dirty="0"/>
          </a:p>
        </p:txBody>
      </p:sp>
      <p:sp>
        <p:nvSpPr>
          <p:cNvPr id="15" name="Shape 13"/>
          <p:cNvSpPr/>
          <p:nvPr/>
        </p:nvSpPr>
        <p:spPr>
          <a:xfrm>
            <a:off x="548640" y="4178808"/>
            <a:ext cx="411480" cy="411480"/>
          </a:xfrm>
          <a:prstGeom prst="ellipse">
            <a:avLst/>
          </a:prstGeom>
          <a:solidFill>
            <a:srgbClr val="065A82"/>
          </a:solidFill>
          <a:ln w="12700">
            <a:solidFill>
              <a:srgbClr val="065A82"/>
            </a:solidFill>
            <a:prstDash val="solid"/>
          </a:ln>
        </p:spPr>
      </p:sp>
      <p:sp>
        <p:nvSpPr>
          <p:cNvPr id="16" name="Text 14"/>
          <p:cNvSpPr/>
          <p:nvPr/>
        </p:nvSpPr>
        <p:spPr>
          <a:xfrm>
            <a:off x="548640" y="4178808"/>
            <a:ext cx="411480" cy="411480"/>
          </a:xfrm>
          <a:prstGeom prst="rect">
            <a:avLst/>
          </a:prstGeom>
          <a:noFill/>
          <a:ln/>
        </p:spPr>
        <p:txBody>
          <a:bodyPr wrap="square"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04</a:t>
            </a:r>
            <a:endParaRPr lang="en-US" sz="1100" dirty="0"/>
          </a:p>
        </p:txBody>
      </p:sp>
      <p:sp>
        <p:nvSpPr>
          <p:cNvPr id="17" name="Text 15"/>
          <p:cNvSpPr/>
          <p:nvPr/>
        </p:nvSpPr>
        <p:spPr>
          <a:xfrm>
            <a:off x="1097280" y="4142232"/>
            <a:ext cx="4892040" cy="594360"/>
          </a:xfrm>
          <a:prstGeom prst="rect">
            <a:avLst/>
          </a:prstGeom>
          <a:noFill/>
          <a:ln/>
        </p:spPr>
        <p:txBody>
          <a:bodyPr wrap="square" rtlCol="0" anchor="ctr"/>
          <a:lstStyle/>
          <a:p>
            <a:pPr indent="0" marL="0">
              <a:buNone/>
            </a:pPr>
            <a:r>
              <a:rPr lang="en-US" sz="1250" dirty="0">
                <a:solidFill>
                  <a:srgbClr val="1A1A2E"/>
                </a:solidFill>
                <a:latin typeface="Segoe UI" pitchFamily="34" charset="0"/>
                <a:ea typeface="Segoe UI" pitchFamily="34" charset="-122"/>
                <a:cs typeface="Segoe UI" pitchFamily="34" charset="-120"/>
              </a:rPr>
              <a:t>GitHub Environments with required reviewers + history</a:t>
            </a:r>
            <a:endParaRPr lang="en-US" sz="1250" dirty="0"/>
          </a:p>
        </p:txBody>
      </p:sp>
      <p:sp>
        <p:nvSpPr>
          <p:cNvPr id="18" name="Shape 16"/>
          <p:cNvSpPr/>
          <p:nvPr/>
        </p:nvSpPr>
        <p:spPr>
          <a:xfrm>
            <a:off x="548640" y="4864608"/>
            <a:ext cx="411480" cy="411480"/>
          </a:xfrm>
          <a:prstGeom prst="ellipse">
            <a:avLst/>
          </a:prstGeom>
          <a:solidFill>
            <a:srgbClr val="065A82"/>
          </a:solidFill>
          <a:ln w="12700">
            <a:solidFill>
              <a:srgbClr val="065A82"/>
            </a:solidFill>
            <a:prstDash val="solid"/>
          </a:ln>
        </p:spPr>
      </p:sp>
      <p:sp>
        <p:nvSpPr>
          <p:cNvPr id="19" name="Text 17"/>
          <p:cNvSpPr/>
          <p:nvPr/>
        </p:nvSpPr>
        <p:spPr>
          <a:xfrm>
            <a:off x="548640" y="4864608"/>
            <a:ext cx="411480" cy="411480"/>
          </a:xfrm>
          <a:prstGeom prst="rect">
            <a:avLst/>
          </a:prstGeom>
          <a:noFill/>
          <a:ln/>
        </p:spPr>
        <p:txBody>
          <a:bodyPr wrap="square"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05</a:t>
            </a:r>
            <a:endParaRPr lang="en-US" sz="1100" dirty="0"/>
          </a:p>
        </p:txBody>
      </p:sp>
      <p:sp>
        <p:nvSpPr>
          <p:cNvPr id="20" name="Text 18"/>
          <p:cNvSpPr/>
          <p:nvPr/>
        </p:nvSpPr>
        <p:spPr>
          <a:xfrm>
            <a:off x="1097280" y="4828032"/>
            <a:ext cx="4892040" cy="594360"/>
          </a:xfrm>
          <a:prstGeom prst="rect">
            <a:avLst/>
          </a:prstGeom>
          <a:noFill/>
          <a:ln/>
        </p:spPr>
        <p:txBody>
          <a:bodyPr wrap="square" rtlCol="0" anchor="ctr"/>
          <a:lstStyle/>
          <a:p>
            <a:pPr indent="0" marL="0">
              <a:buNone/>
            </a:pPr>
            <a:r>
              <a:rPr lang="en-US" sz="1250" dirty="0">
                <a:solidFill>
                  <a:srgbClr val="1A1A2E"/>
                </a:solidFill>
                <a:latin typeface="Segoe UI" pitchFamily="34" charset="0"/>
                <a:ea typeface="Segoe UI" pitchFamily="34" charset="-122"/>
                <a:cs typeface="Segoe UI" pitchFamily="34" charset="-120"/>
              </a:rPr>
              <a:t>Workload identity (OIDC federated credential), no secrets</a:t>
            </a:r>
            <a:endParaRPr lang="en-US" sz="1250" dirty="0"/>
          </a:p>
        </p:txBody>
      </p:sp>
      <p:sp>
        <p:nvSpPr>
          <p:cNvPr id="21" name="Shape 19"/>
          <p:cNvSpPr/>
          <p:nvPr/>
        </p:nvSpPr>
        <p:spPr>
          <a:xfrm>
            <a:off x="548640" y="5550408"/>
            <a:ext cx="411480" cy="411480"/>
          </a:xfrm>
          <a:prstGeom prst="ellipse">
            <a:avLst/>
          </a:prstGeom>
          <a:solidFill>
            <a:srgbClr val="065A82"/>
          </a:solidFill>
          <a:ln w="12700">
            <a:solidFill>
              <a:srgbClr val="065A82"/>
            </a:solidFill>
            <a:prstDash val="solid"/>
          </a:ln>
        </p:spPr>
      </p:sp>
      <p:sp>
        <p:nvSpPr>
          <p:cNvPr id="22" name="Text 20"/>
          <p:cNvSpPr/>
          <p:nvPr/>
        </p:nvSpPr>
        <p:spPr>
          <a:xfrm>
            <a:off x="548640" y="5550408"/>
            <a:ext cx="411480" cy="411480"/>
          </a:xfrm>
          <a:prstGeom prst="rect">
            <a:avLst/>
          </a:prstGeom>
          <a:noFill/>
          <a:ln/>
        </p:spPr>
        <p:txBody>
          <a:bodyPr wrap="square"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06</a:t>
            </a:r>
            <a:endParaRPr lang="en-US" sz="1100" dirty="0"/>
          </a:p>
        </p:txBody>
      </p:sp>
      <p:sp>
        <p:nvSpPr>
          <p:cNvPr id="23" name="Text 21"/>
          <p:cNvSpPr/>
          <p:nvPr/>
        </p:nvSpPr>
        <p:spPr>
          <a:xfrm>
            <a:off x="1097280" y="5513832"/>
            <a:ext cx="4892040" cy="594360"/>
          </a:xfrm>
          <a:prstGeom prst="rect">
            <a:avLst/>
          </a:prstGeom>
          <a:noFill/>
          <a:ln/>
        </p:spPr>
        <p:txBody>
          <a:bodyPr wrap="square" rtlCol="0" anchor="ctr"/>
          <a:lstStyle/>
          <a:p>
            <a:pPr indent="0" marL="0">
              <a:buNone/>
            </a:pPr>
            <a:r>
              <a:rPr lang="en-US" sz="1250" dirty="0">
                <a:solidFill>
                  <a:srgbClr val="1A1A2E"/>
                </a:solidFill>
                <a:latin typeface="Segoe UI" pitchFamily="34" charset="0"/>
                <a:ea typeface="Segoe UI" pitchFamily="34" charset="-122"/>
                <a:cs typeface="Segoe UI" pitchFamily="34" charset="-120"/>
              </a:rPr>
              <a:t>SP is Workspace Admin on Test/Prod; tenant SP setting on</a:t>
            </a:r>
            <a:endParaRPr lang="en-US" sz="1250" dirty="0"/>
          </a:p>
        </p:txBody>
      </p:sp>
      <p:sp>
        <p:nvSpPr>
          <p:cNvPr id="24" name="Shape 22"/>
          <p:cNvSpPr/>
          <p:nvPr/>
        </p:nvSpPr>
        <p:spPr>
          <a:xfrm>
            <a:off x="6172200" y="2121408"/>
            <a:ext cx="411480" cy="411480"/>
          </a:xfrm>
          <a:prstGeom prst="ellipse">
            <a:avLst/>
          </a:prstGeom>
          <a:solidFill>
            <a:srgbClr val="065A82"/>
          </a:solidFill>
          <a:ln w="12700">
            <a:solidFill>
              <a:srgbClr val="065A82"/>
            </a:solidFill>
            <a:prstDash val="solid"/>
          </a:ln>
        </p:spPr>
      </p:sp>
      <p:sp>
        <p:nvSpPr>
          <p:cNvPr id="25" name="Text 23"/>
          <p:cNvSpPr/>
          <p:nvPr/>
        </p:nvSpPr>
        <p:spPr>
          <a:xfrm>
            <a:off x="6172200" y="2121408"/>
            <a:ext cx="411480" cy="411480"/>
          </a:xfrm>
          <a:prstGeom prst="rect">
            <a:avLst/>
          </a:prstGeom>
          <a:noFill/>
          <a:ln/>
        </p:spPr>
        <p:txBody>
          <a:bodyPr wrap="square"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07</a:t>
            </a:r>
            <a:endParaRPr lang="en-US" sz="1100" dirty="0"/>
          </a:p>
        </p:txBody>
      </p:sp>
      <p:sp>
        <p:nvSpPr>
          <p:cNvPr id="26" name="Text 24"/>
          <p:cNvSpPr/>
          <p:nvPr/>
        </p:nvSpPr>
        <p:spPr>
          <a:xfrm>
            <a:off x="6720840" y="2084832"/>
            <a:ext cx="4892040" cy="594360"/>
          </a:xfrm>
          <a:prstGeom prst="rect">
            <a:avLst/>
          </a:prstGeom>
          <a:noFill/>
          <a:ln/>
        </p:spPr>
        <p:txBody>
          <a:bodyPr wrap="square" rtlCol="0" anchor="ctr"/>
          <a:lstStyle/>
          <a:p>
            <a:pPr indent="0" marL="0">
              <a:buNone/>
            </a:pPr>
            <a:r>
              <a:rPr lang="en-US" sz="1250" dirty="0">
                <a:solidFill>
                  <a:srgbClr val="1A1A2E"/>
                </a:solidFill>
                <a:latin typeface="Segoe UI" pitchFamily="34" charset="0"/>
                <a:ea typeface="Segoe UI" pitchFamily="34" charset="-122"/>
                <a:cs typeface="Segoe UI" pitchFamily="34" charset="-120"/>
              </a:rPr>
              <a:t>Parameterize env-specific values in parameter.yml</a:t>
            </a:r>
            <a:endParaRPr lang="en-US" sz="1250" dirty="0"/>
          </a:p>
        </p:txBody>
      </p:sp>
      <p:sp>
        <p:nvSpPr>
          <p:cNvPr id="27" name="Shape 25"/>
          <p:cNvSpPr/>
          <p:nvPr/>
        </p:nvSpPr>
        <p:spPr>
          <a:xfrm>
            <a:off x="6172200" y="2807208"/>
            <a:ext cx="411480" cy="411480"/>
          </a:xfrm>
          <a:prstGeom prst="ellipse">
            <a:avLst/>
          </a:prstGeom>
          <a:solidFill>
            <a:srgbClr val="065A82"/>
          </a:solidFill>
          <a:ln w="12700">
            <a:solidFill>
              <a:srgbClr val="065A82"/>
            </a:solidFill>
            <a:prstDash val="solid"/>
          </a:ln>
        </p:spPr>
      </p:sp>
      <p:sp>
        <p:nvSpPr>
          <p:cNvPr id="28" name="Text 26"/>
          <p:cNvSpPr/>
          <p:nvPr/>
        </p:nvSpPr>
        <p:spPr>
          <a:xfrm>
            <a:off x="6172200" y="2807208"/>
            <a:ext cx="411480" cy="411480"/>
          </a:xfrm>
          <a:prstGeom prst="rect">
            <a:avLst/>
          </a:prstGeom>
          <a:noFill/>
          <a:ln/>
        </p:spPr>
        <p:txBody>
          <a:bodyPr wrap="square"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08</a:t>
            </a:r>
            <a:endParaRPr lang="en-US" sz="1100" dirty="0"/>
          </a:p>
        </p:txBody>
      </p:sp>
      <p:sp>
        <p:nvSpPr>
          <p:cNvPr id="29" name="Text 27"/>
          <p:cNvSpPr/>
          <p:nvPr/>
        </p:nvSpPr>
        <p:spPr>
          <a:xfrm>
            <a:off x="6720840" y="2770632"/>
            <a:ext cx="4892040" cy="594360"/>
          </a:xfrm>
          <a:prstGeom prst="rect">
            <a:avLst/>
          </a:prstGeom>
          <a:noFill/>
          <a:ln/>
        </p:spPr>
        <p:txBody>
          <a:bodyPr wrap="square" rtlCol="0" anchor="ctr"/>
          <a:lstStyle/>
          <a:p>
            <a:pPr indent="0" marL="0">
              <a:buNone/>
            </a:pPr>
            <a:r>
              <a:rPr lang="en-US" sz="1250" dirty="0">
                <a:solidFill>
                  <a:srgbClr val="1A1A2E"/>
                </a:solidFill>
                <a:latin typeface="Segoe UI" pitchFamily="34" charset="0"/>
                <a:ea typeface="Segoe UI" pitchFamily="34" charset="-122"/>
                <a:cs typeface="Segoe UI" pitchFamily="34" charset="-120"/>
              </a:rPr>
              <a:t>fabric-cicd unpublish_orphaned_items=True prevents drift</a:t>
            </a:r>
            <a:endParaRPr lang="en-US" sz="1250" dirty="0"/>
          </a:p>
        </p:txBody>
      </p:sp>
      <p:sp>
        <p:nvSpPr>
          <p:cNvPr id="30" name="Shape 28"/>
          <p:cNvSpPr/>
          <p:nvPr/>
        </p:nvSpPr>
        <p:spPr>
          <a:xfrm>
            <a:off x="6172200" y="3493008"/>
            <a:ext cx="411480" cy="411480"/>
          </a:xfrm>
          <a:prstGeom prst="ellipse">
            <a:avLst/>
          </a:prstGeom>
          <a:solidFill>
            <a:srgbClr val="065A82"/>
          </a:solidFill>
          <a:ln w="12700">
            <a:solidFill>
              <a:srgbClr val="065A82"/>
            </a:solidFill>
            <a:prstDash val="solid"/>
          </a:ln>
        </p:spPr>
      </p:sp>
      <p:sp>
        <p:nvSpPr>
          <p:cNvPr id="31" name="Text 29"/>
          <p:cNvSpPr/>
          <p:nvPr/>
        </p:nvSpPr>
        <p:spPr>
          <a:xfrm>
            <a:off x="6172200" y="3493008"/>
            <a:ext cx="411480" cy="411480"/>
          </a:xfrm>
          <a:prstGeom prst="rect">
            <a:avLst/>
          </a:prstGeom>
          <a:noFill/>
          <a:ln/>
        </p:spPr>
        <p:txBody>
          <a:bodyPr wrap="square"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09</a:t>
            </a:r>
            <a:endParaRPr lang="en-US" sz="1100" dirty="0"/>
          </a:p>
        </p:txBody>
      </p:sp>
      <p:sp>
        <p:nvSpPr>
          <p:cNvPr id="32" name="Text 30"/>
          <p:cNvSpPr/>
          <p:nvPr/>
        </p:nvSpPr>
        <p:spPr>
          <a:xfrm>
            <a:off x="6720840" y="3456432"/>
            <a:ext cx="4892040" cy="594360"/>
          </a:xfrm>
          <a:prstGeom prst="rect">
            <a:avLst/>
          </a:prstGeom>
          <a:noFill/>
          <a:ln/>
        </p:spPr>
        <p:txBody>
          <a:bodyPr wrap="square" rtlCol="0" anchor="ctr"/>
          <a:lstStyle/>
          <a:p>
            <a:pPr indent="0" marL="0">
              <a:buNone/>
            </a:pPr>
            <a:r>
              <a:rPr lang="en-US" sz="1250" dirty="0">
                <a:solidFill>
                  <a:srgbClr val="1A1A2E"/>
                </a:solidFill>
                <a:latin typeface="Segoe UI" pitchFamily="34" charset="0"/>
                <a:ea typeface="Segoe UI" pitchFamily="34" charset="-122"/>
                <a:cs typeface="Segoe UI" pitchFamily="34" charset="-120"/>
              </a:rPr>
              <a:t>Code &amp; schema in Git; data is not in Git</a:t>
            </a:r>
            <a:endParaRPr lang="en-US" sz="1250" dirty="0"/>
          </a:p>
        </p:txBody>
      </p:sp>
      <p:sp>
        <p:nvSpPr>
          <p:cNvPr id="33" name="Shape 31"/>
          <p:cNvSpPr/>
          <p:nvPr/>
        </p:nvSpPr>
        <p:spPr>
          <a:xfrm>
            <a:off x="6172200" y="4178808"/>
            <a:ext cx="411480" cy="411480"/>
          </a:xfrm>
          <a:prstGeom prst="ellipse">
            <a:avLst/>
          </a:prstGeom>
          <a:solidFill>
            <a:srgbClr val="065A82"/>
          </a:solidFill>
          <a:ln w="12700">
            <a:solidFill>
              <a:srgbClr val="065A82"/>
            </a:solidFill>
            <a:prstDash val="solid"/>
          </a:ln>
        </p:spPr>
      </p:sp>
      <p:sp>
        <p:nvSpPr>
          <p:cNvPr id="34" name="Text 32"/>
          <p:cNvSpPr/>
          <p:nvPr/>
        </p:nvSpPr>
        <p:spPr>
          <a:xfrm>
            <a:off x="6172200" y="4178808"/>
            <a:ext cx="411480" cy="411480"/>
          </a:xfrm>
          <a:prstGeom prst="rect">
            <a:avLst/>
          </a:prstGeom>
          <a:noFill/>
          <a:ln/>
        </p:spPr>
        <p:txBody>
          <a:bodyPr wrap="square"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10</a:t>
            </a:r>
            <a:endParaRPr lang="en-US" sz="1100" dirty="0"/>
          </a:p>
        </p:txBody>
      </p:sp>
      <p:sp>
        <p:nvSpPr>
          <p:cNvPr id="35" name="Text 33"/>
          <p:cNvSpPr/>
          <p:nvPr/>
        </p:nvSpPr>
        <p:spPr>
          <a:xfrm>
            <a:off x="6720840" y="4142232"/>
            <a:ext cx="4892040" cy="594360"/>
          </a:xfrm>
          <a:prstGeom prst="rect">
            <a:avLst/>
          </a:prstGeom>
          <a:noFill/>
          <a:ln/>
        </p:spPr>
        <p:txBody>
          <a:bodyPr wrap="square" rtlCol="0" anchor="ctr"/>
          <a:lstStyle/>
          <a:p>
            <a:pPr indent="0" marL="0">
              <a:buNone/>
            </a:pPr>
            <a:r>
              <a:rPr lang="en-US" sz="1250" dirty="0">
                <a:solidFill>
                  <a:srgbClr val="1A1A2E"/>
                </a:solidFill>
                <a:latin typeface="Segoe UI" pitchFamily="34" charset="0"/>
                <a:ea typeface="Segoe UI" pitchFamily="34" charset="-122"/>
                <a:cs typeface="Segoe UI" pitchFamily="34" charset="-120"/>
              </a:rPr>
              <a:t>Pin fabric-cicd version; Dependabot for upgrades</a:t>
            </a:r>
            <a:endParaRPr lang="en-US" sz="1250" dirty="0"/>
          </a:p>
        </p:txBody>
      </p:sp>
      <p:sp>
        <p:nvSpPr>
          <p:cNvPr id="36" name="Shape 34"/>
          <p:cNvSpPr/>
          <p:nvPr/>
        </p:nvSpPr>
        <p:spPr>
          <a:xfrm>
            <a:off x="6172200" y="4864608"/>
            <a:ext cx="411480" cy="411480"/>
          </a:xfrm>
          <a:prstGeom prst="ellipse">
            <a:avLst/>
          </a:prstGeom>
          <a:solidFill>
            <a:srgbClr val="065A82"/>
          </a:solidFill>
          <a:ln w="12700">
            <a:solidFill>
              <a:srgbClr val="065A82"/>
            </a:solidFill>
            <a:prstDash val="solid"/>
          </a:ln>
        </p:spPr>
      </p:sp>
      <p:sp>
        <p:nvSpPr>
          <p:cNvPr id="37" name="Text 35"/>
          <p:cNvSpPr/>
          <p:nvPr/>
        </p:nvSpPr>
        <p:spPr>
          <a:xfrm>
            <a:off x="6172200" y="4864608"/>
            <a:ext cx="411480" cy="411480"/>
          </a:xfrm>
          <a:prstGeom prst="rect">
            <a:avLst/>
          </a:prstGeom>
          <a:noFill/>
          <a:ln/>
        </p:spPr>
        <p:txBody>
          <a:bodyPr wrap="square"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11</a:t>
            </a:r>
            <a:endParaRPr lang="en-US" sz="1100" dirty="0"/>
          </a:p>
        </p:txBody>
      </p:sp>
      <p:sp>
        <p:nvSpPr>
          <p:cNvPr id="38" name="Text 36"/>
          <p:cNvSpPr/>
          <p:nvPr/>
        </p:nvSpPr>
        <p:spPr>
          <a:xfrm>
            <a:off x="6720840" y="4828032"/>
            <a:ext cx="4892040" cy="594360"/>
          </a:xfrm>
          <a:prstGeom prst="rect">
            <a:avLst/>
          </a:prstGeom>
          <a:noFill/>
          <a:ln/>
        </p:spPr>
        <p:txBody>
          <a:bodyPr wrap="square" rtlCol="0" anchor="ctr"/>
          <a:lstStyle/>
          <a:p>
            <a:pPr indent="0" marL="0">
              <a:buNone/>
            </a:pPr>
            <a:r>
              <a:rPr lang="en-US" sz="1250" dirty="0">
                <a:solidFill>
                  <a:srgbClr val="1A1A2E"/>
                </a:solidFill>
                <a:latin typeface="Segoe UI" pitchFamily="34" charset="0"/>
                <a:ea typeface="Segoe UI" pitchFamily="34" charset="-122"/>
                <a:cs typeface="Segoe UI" pitchFamily="34" charset="-120"/>
              </a:rPr>
              <a:t>Post-deploy smoke test via Fabric REST</a:t>
            </a:r>
            <a:endParaRPr lang="en-US" sz="1250" dirty="0"/>
          </a:p>
        </p:txBody>
      </p:sp>
      <p:sp>
        <p:nvSpPr>
          <p:cNvPr id="39" name="Shape 37"/>
          <p:cNvSpPr/>
          <p:nvPr/>
        </p:nvSpPr>
        <p:spPr>
          <a:xfrm>
            <a:off x="6172200" y="5550408"/>
            <a:ext cx="411480" cy="411480"/>
          </a:xfrm>
          <a:prstGeom prst="ellipse">
            <a:avLst/>
          </a:prstGeom>
          <a:solidFill>
            <a:srgbClr val="065A82"/>
          </a:solidFill>
          <a:ln w="12700">
            <a:solidFill>
              <a:srgbClr val="065A82"/>
            </a:solidFill>
            <a:prstDash val="solid"/>
          </a:ln>
        </p:spPr>
      </p:sp>
      <p:sp>
        <p:nvSpPr>
          <p:cNvPr id="40" name="Text 38"/>
          <p:cNvSpPr/>
          <p:nvPr/>
        </p:nvSpPr>
        <p:spPr>
          <a:xfrm>
            <a:off x="6172200" y="5550408"/>
            <a:ext cx="411480" cy="411480"/>
          </a:xfrm>
          <a:prstGeom prst="rect">
            <a:avLst/>
          </a:prstGeom>
          <a:noFill/>
          <a:ln/>
        </p:spPr>
        <p:txBody>
          <a:bodyPr wrap="square" rtlCol="0" anchor="ctr"/>
          <a:lstStyle/>
          <a:p>
            <a:pPr algn="ctr" indent="0" marL="0">
              <a:buNone/>
            </a:pPr>
            <a:r>
              <a:rPr lang="en-US" sz="1100" b="1" dirty="0">
                <a:solidFill>
                  <a:srgbClr val="FFFFFF"/>
                </a:solidFill>
                <a:latin typeface="Segoe UI" pitchFamily="34" charset="0"/>
                <a:ea typeface="Segoe UI" pitchFamily="34" charset="-122"/>
                <a:cs typeface="Segoe UI" pitchFamily="34" charset="-120"/>
              </a:rPr>
              <a:t>12</a:t>
            </a:r>
            <a:endParaRPr lang="en-US" sz="1100" dirty="0"/>
          </a:p>
        </p:txBody>
      </p:sp>
      <p:sp>
        <p:nvSpPr>
          <p:cNvPr id="41" name="Text 39"/>
          <p:cNvSpPr/>
          <p:nvPr/>
        </p:nvSpPr>
        <p:spPr>
          <a:xfrm>
            <a:off x="6720840" y="5513832"/>
            <a:ext cx="4892040" cy="594360"/>
          </a:xfrm>
          <a:prstGeom prst="rect">
            <a:avLst/>
          </a:prstGeom>
          <a:noFill/>
          <a:ln/>
        </p:spPr>
        <p:txBody>
          <a:bodyPr wrap="square" rtlCol="0" anchor="ctr"/>
          <a:lstStyle/>
          <a:p>
            <a:pPr indent="0" marL="0">
              <a:buNone/>
            </a:pPr>
            <a:r>
              <a:rPr lang="en-US" sz="1250" dirty="0">
                <a:solidFill>
                  <a:srgbClr val="1A1A2E"/>
                </a:solidFill>
                <a:latin typeface="Segoe UI" pitchFamily="34" charset="0"/>
                <a:ea typeface="Segoe UI" pitchFamily="34" charset="-122"/>
                <a:cs typeface="Segoe UI" pitchFamily="34" charset="-120"/>
              </a:rPr>
              <a:t>Rollback = revert merge on main → pipeline restores state</a:t>
            </a:r>
            <a:endParaRPr lang="en-US" sz="1250" dirty="0"/>
          </a:p>
        </p:txBody>
      </p:sp>
      <p:sp>
        <p:nvSpPr>
          <p:cNvPr id="43" name="Shape 40"/>
          <p:cNvSpPr/>
          <p:nvPr/>
        </p:nvSpPr>
        <p:spPr>
          <a:xfrm>
            <a:off x="0" y="6537960"/>
            <a:ext cx="12161520" cy="320040"/>
          </a:xfrm>
          <a:prstGeom prst="rect">
            <a:avLst/>
          </a:prstGeom>
          <a:solidFill>
            <a:srgbClr val="21295C"/>
          </a:solidFill>
          <a:ln w="12700">
            <a:solidFill>
              <a:srgbClr val="21295C"/>
            </a:solidFill>
            <a:prstDash val="solid"/>
          </a:ln>
        </p:spPr>
      </p:sp>
      <p:sp>
        <p:nvSpPr>
          <p:cNvPr id="44" name="Text 41"/>
          <p:cNvSpPr/>
          <p:nvPr/>
        </p:nvSpPr>
        <p:spPr>
          <a:xfrm>
            <a:off x="365760" y="6537960"/>
            <a:ext cx="7315200" cy="320040"/>
          </a:xfrm>
          <a:prstGeom prst="rect">
            <a:avLst/>
          </a:prstGeom>
          <a:noFill/>
          <a:ln/>
        </p:spPr>
        <p:txBody>
          <a:bodyPr wrap="square" rtlCol="0" anchor="ctr"/>
          <a:lstStyle/>
          <a:p>
            <a:pPr indent="0" marL="0">
              <a:buNone/>
            </a:pPr>
            <a:r>
              <a:rPr lang="en-US" sz="1000" dirty="0">
                <a:solidFill>
                  <a:srgbClr val="E8F1F5"/>
                </a:solidFill>
                <a:latin typeface="Segoe UI" pitchFamily="34" charset="0"/>
                <a:ea typeface="Segoe UI" pitchFamily="34" charset="-122"/>
                <a:cs typeface="Segoe UI" pitchFamily="34" charset="-120"/>
              </a:rPr>
              <a:t>Fabric CI/CD from GitHub  ·  Prepared for AHSA</a:t>
            </a:r>
            <a:endParaRPr lang="en-US" sz="1000" dirty="0"/>
          </a:p>
        </p:txBody>
      </p:sp>
      <p:sp>
        <p:nvSpPr>
          <p:cNvPr id="45" name="Text 42"/>
          <p:cNvSpPr/>
          <p:nvPr/>
        </p:nvSpPr>
        <p:spPr>
          <a:xfrm>
            <a:off x="11430000" y="6537960"/>
            <a:ext cx="365760" cy="320040"/>
          </a:xfrm>
          <a:prstGeom prst="rect">
            <a:avLst/>
          </a:prstGeom>
          <a:noFill/>
          <a:ln/>
        </p:spPr>
        <p:txBody>
          <a:bodyPr wrap="square" rtlCol="0" anchor="ctr"/>
          <a:lstStyle/>
          <a:p>
            <a:pPr algn="r" indent="0" marL="0">
              <a:buNone/>
            </a:pPr>
            <a:r>
              <a:rPr lang="en-US" sz="1000" dirty="0">
                <a:solidFill>
                  <a:srgbClr val="E8F1F5"/>
                </a:solidFill>
                <a:latin typeface="Segoe UI" pitchFamily="34" charset="0"/>
                <a:ea typeface="Segoe UI" pitchFamily="34" charset="-122"/>
                <a:cs typeface="Segoe U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0"/>
            <a:ext cx="12161520" cy="548640"/>
          </a:xfrm>
          <a:prstGeom prst="rect">
            <a:avLst/>
          </a:prstGeom>
          <a:solidFill>
            <a:srgbClr val="065A82"/>
          </a:solidFill>
          <a:ln w="12700">
            <a:solidFill>
              <a:srgbClr val="065A82"/>
            </a:solidFill>
            <a:prstDash val="solid"/>
          </a:ln>
        </p:spPr>
      </p:sp>
      <p:sp>
        <p:nvSpPr>
          <p:cNvPr id="3" name="Shape 1"/>
          <p:cNvSpPr/>
          <p:nvPr/>
        </p:nvSpPr>
        <p:spPr>
          <a:xfrm>
            <a:off x="0" y="6309360"/>
            <a:ext cx="12161520" cy="548640"/>
          </a:xfrm>
          <a:prstGeom prst="rect">
            <a:avLst/>
          </a:prstGeom>
          <a:solidFill>
            <a:srgbClr val="065A82"/>
          </a:solidFill>
          <a:ln w="12700">
            <a:solidFill>
              <a:srgbClr val="065A82"/>
            </a:solidFill>
            <a:prstDash val="solid"/>
          </a:ln>
        </p:spPr>
      </p:sp>
      <p:sp>
        <p:nvSpPr>
          <p:cNvPr id="4" name="Shape 2"/>
          <p:cNvSpPr/>
          <p:nvPr/>
        </p:nvSpPr>
        <p:spPr>
          <a:xfrm>
            <a:off x="548640" y="2286000"/>
            <a:ext cx="1371600" cy="73152"/>
          </a:xfrm>
          <a:prstGeom prst="rect">
            <a:avLst/>
          </a:prstGeom>
          <a:solidFill>
            <a:srgbClr val="F2A341"/>
          </a:solidFill>
          <a:ln w="12700">
            <a:solidFill>
              <a:srgbClr val="F2A341"/>
            </a:solidFill>
            <a:prstDash val="solid"/>
          </a:ln>
        </p:spPr>
      </p:sp>
      <p:sp>
        <p:nvSpPr>
          <p:cNvPr id="5" name="Text 3"/>
          <p:cNvSpPr/>
          <p:nvPr/>
        </p:nvSpPr>
        <p:spPr>
          <a:xfrm>
            <a:off x="548640" y="2468880"/>
            <a:ext cx="10972800" cy="640080"/>
          </a:xfrm>
          <a:prstGeom prst="rect">
            <a:avLst/>
          </a:prstGeom>
          <a:noFill/>
          <a:ln/>
        </p:spPr>
        <p:txBody>
          <a:bodyPr wrap="square" rtlCol="0" anchor="ctr"/>
          <a:lstStyle/>
          <a:p>
            <a:pPr indent="0" marL="0">
              <a:buNone/>
            </a:pPr>
            <a:r>
              <a:rPr lang="en-US" sz="1600" b="1" spc="600" kern="0" dirty="0">
                <a:solidFill>
                  <a:srgbClr val="F2A341"/>
                </a:solidFill>
                <a:latin typeface="Segoe UI" pitchFamily="34" charset="0"/>
                <a:ea typeface="Segoe UI" pitchFamily="34" charset="-122"/>
                <a:cs typeface="Segoe UI" pitchFamily="34" charset="-120"/>
              </a:rPr>
              <a:t>THANK YOU, AHSA</a:t>
            </a:r>
            <a:endParaRPr lang="en-US" sz="1600" dirty="0"/>
          </a:p>
        </p:txBody>
      </p:sp>
      <p:sp>
        <p:nvSpPr>
          <p:cNvPr id="6" name="Text 4"/>
          <p:cNvSpPr/>
          <p:nvPr/>
        </p:nvSpPr>
        <p:spPr>
          <a:xfrm>
            <a:off x="548640" y="3108960"/>
            <a:ext cx="10972800" cy="1280160"/>
          </a:xfrm>
          <a:prstGeom prst="rect">
            <a:avLst/>
          </a:prstGeom>
          <a:noFill/>
          <a:ln/>
        </p:spPr>
        <p:txBody>
          <a:bodyPr wrap="square" rtlCol="0" anchor="ctr"/>
          <a:lstStyle/>
          <a:p>
            <a:pPr indent="0" marL="0">
              <a:buNone/>
            </a:pPr>
            <a:r>
              <a:rPr lang="en-US" sz="6400" b="1" dirty="0">
                <a:solidFill>
                  <a:srgbClr val="FFFFFF"/>
                </a:solidFill>
                <a:latin typeface="Segoe UI" pitchFamily="34" charset="0"/>
                <a:ea typeface="Segoe UI" pitchFamily="34" charset="-122"/>
                <a:cs typeface="Segoe UI" pitchFamily="34" charset="-120"/>
              </a:rPr>
              <a:t>Questions?</a:t>
            </a:r>
            <a:endParaRPr lang="en-US" sz="6400" dirty="0"/>
          </a:p>
        </p:txBody>
      </p:sp>
      <p:sp>
        <p:nvSpPr>
          <p:cNvPr id="7" name="Text 5"/>
          <p:cNvSpPr/>
          <p:nvPr/>
        </p:nvSpPr>
        <p:spPr>
          <a:xfrm>
            <a:off x="548640" y="4754880"/>
            <a:ext cx="10972800" cy="457200"/>
          </a:xfrm>
          <a:prstGeom prst="rect">
            <a:avLst/>
          </a:prstGeom>
          <a:noFill/>
          <a:ln/>
        </p:spPr>
        <p:txBody>
          <a:bodyPr wrap="square" rtlCol="0" anchor="ctr"/>
          <a:lstStyle/>
          <a:p>
            <a:pPr indent="0" marL="0">
              <a:buNone/>
            </a:pPr>
            <a:r>
              <a:rPr lang="en-US" sz="1400" dirty="0">
                <a:solidFill>
                  <a:srgbClr val="E8F1F5"/>
                </a:solidFill>
                <a:latin typeface="Consolas" pitchFamily="34" charset="0"/>
                <a:ea typeface="Consolas" pitchFamily="34" charset="-122"/>
                <a:cs typeface="Consolas" pitchFamily="34" charset="-120"/>
              </a:rPr>
              <a:t>Reference repo: github.com/sundarambalasubramaniam/cicd-github-fabric-workspace-demo</a:t>
            </a:r>
            <a:endParaRPr lang="en-US" sz="1400" dirty="0"/>
          </a:p>
        </p:txBody>
      </p:sp>
      <p:sp>
        <p:nvSpPr>
          <p:cNvPr id="8" name="Text 6"/>
          <p:cNvSpPr/>
          <p:nvPr/>
        </p:nvSpPr>
        <p:spPr>
          <a:xfrm>
            <a:off x="548640" y="5303520"/>
            <a:ext cx="10972800" cy="457200"/>
          </a:xfrm>
          <a:prstGeom prst="rect">
            <a:avLst/>
          </a:prstGeom>
          <a:noFill/>
          <a:ln/>
        </p:spPr>
        <p:txBody>
          <a:bodyPr wrap="square" rtlCol="0" anchor="ctr"/>
          <a:lstStyle/>
          <a:p>
            <a:pPr indent="0" marL="0">
              <a:buNone/>
            </a:pPr>
            <a:r>
              <a:rPr lang="en-US" sz="1400" i="1" dirty="0">
                <a:solidFill>
                  <a:srgbClr val="E8F1F5"/>
                </a:solidFill>
                <a:latin typeface="Segoe UI" pitchFamily="34" charset="0"/>
                <a:ea typeface="Segoe UI" pitchFamily="34" charset="-122"/>
                <a:cs typeface="Segoe UI" pitchFamily="34" charset="-120"/>
              </a:rPr>
              <a:t>microsoft.github.io/fabric-cicd  ·  GitHub OIDC  ·  Microsoft Fabric Git integration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Prepared for AHSA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Fabric CI/CD from GitHub — for AHSA</dc:title>
  <dc:subject>Microsoft Fabric CI/CD walkthrough — AHSA engineering team</dc:subject>
  <dc:creator>Prepared for AHSA</dc:creator>
  <cp:lastModifiedBy>Prepared for AHSA</cp:lastModifiedBy>
  <cp:revision>1</cp:revision>
  <dcterms:created xsi:type="dcterms:W3CDTF">2026-06-03T00:02:39Z</dcterms:created>
  <dcterms:modified xsi:type="dcterms:W3CDTF">2026-06-03T00:02:39Z</dcterms:modified>
</cp:coreProperties>
</file>